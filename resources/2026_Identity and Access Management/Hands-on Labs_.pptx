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3"/>
  </p:notesMasterIdLst>
  <p:sldIdLst>
    <p:sldId id="256" r:id="rId2"/>
    <p:sldId id="266" r:id="rId3"/>
    <p:sldId id="257" r:id="rId4"/>
    <p:sldId id="258" r:id="rId5"/>
    <p:sldId id="259" r:id="rId6"/>
    <p:sldId id="260" r:id="rId7"/>
    <p:sldId id="261" r:id="rId8"/>
    <p:sldId id="267" r:id="rId9"/>
    <p:sldId id="262" r:id="rId10"/>
    <p:sldId id="263" r:id="rId11"/>
    <p:sldId id="264" r:id="rId12"/>
    <p:sldId id="265" r:id="rId13"/>
    <p:sldId id="269" r:id="rId14"/>
    <p:sldId id="270" r:id="rId15"/>
    <p:sldId id="272" r:id="rId16"/>
    <p:sldId id="271" r:id="rId17"/>
    <p:sldId id="273" r:id="rId18"/>
    <p:sldId id="274" r:id="rId19"/>
    <p:sldId id="275" r:id="rId20"/>
    <p:sldId id="277" r:id="rId21"/>
    <p:sldId id="276"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4" r:id="rId48"/>
    <p:sldId id="305" r:id="rId49"/>
    <p:sldId id="306" r:id="rId50"/>
    <p:sldId id="303" r:id="rId51"/>
    <p:sldId id="307" r:id="rId52"/>
    <p:sldId id="308" r:id="rId53"/>
    <p:sldId id="310" r:id="rId54"/>
    <p:sldId id="309" r:id="rId55"/>
    <p:sldId id="311" r:id="rId56"/>
    <p:sldId id="312" r:id="rId57"/>
    <p:sldId id="313" r:id="rId58"/>
    <p:sldId id="314" r:id="rId59"/>
    <p:sldId id="315" r:id="rId60"/>
    <p:sldId id="316" r:id="rId61"/>
    <p:sldId id="317" r:id="rId62"/>
    <p:sldId id="318" r:id="rId63"/>
    <p:sldId id="319" r:id="rId64"/>
    <p:sldId id="320" r:id="rId65"/>
    <p:sldId id="321" r:id="rId66"/>
    <p:sldId id="324" r:id="rId67"/>
    <p:sldId id="322" r:id="rId68"/>
    <p:sldId id="325" r:id="rId69"/>
    <p:sldId id="326" r:id="rId70"/>
    <p:sldId id="327" r:id="rId71"/>
    <p:sldId id="328" r:id="rId72"/>
    <p:sldId id="339" r:id="rId73"/>
    <p:sldId id="340" r:id="rId74"/>
    <p:sldId id="341" r:id="rId75"/>
    <p:sldId id="342" r:id="rId76"/>
    <p:sldId id="343" r:id="rId77"/>
    <p:sldId id="344" r:id="rId78"/>
    <p:sldId id="345" r:id="rId79"/>
    <p:sldId id="346" r:id="rId80"/>
    <p:sldId id="347" r:id="rId81"/>
    <p:sldId id="338" r:id="rId82"/>
    <p:sldId id="335" r:id="rId83"/>
    <p:sldId id="336" r:id="rId84"/>
    <p:sldId id="337" r:id="rId85"/>
    <p:sldId id="334" r:id="rId86"/>
    <p:sldId id="323" r:id="rId87"/>
    <p:sldId id="329" r:id="rId88"/>
    <p:sldId id="330" r:id="rId89"/>
    <p:sldId id="331" r:id="rId90"/>
    <p:sldId id="332" r:id="rId91"/>
    <p:sldId id="333" r:id="rId9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3" autoAdjust="0"/>
    <p:restoredTop sz="94660"/>
  </p:normalViewPr>
  <p:slideViewPr>
    <p:cSldViewPr snapToGrid="0">
      <p:cViewPr varScale="1">
        <p:scale>
          <a:sx n="89" d="100"/>
          <a:sy n="89" d="100"/>
        </p:scale>
        <p:origin x="68"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3BFDB2-7381-4CB3-8D99-818221D08977}" type="datetimeFigureOut">
              <a:rPr lang="fr-FR" smtClean="0"/>
              <a:t>16/03/2026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29B20-4FC4-492D-B082-E155E81B7DE0}" type="slidenum">
              <a:rPr lang="fr-FR" smtClean="0"/>
              <a:t>‹#›</a:t>
            </a:fld>
            <a:endParaRPr lang="fr-FR"/>
          </a:p>
        </p:txBody>
      </p:sp>
    </p:spTree>
    <p:extLst>
      <p:ext uri="{BB962C8B-B14F-4D97-AF65-F5344CB8AC3E}">
        <p14:creationId xmlns:p14="http://schemas.microsoft.com/office/powerpoint/2010/main" val="34946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0EB29B20-4FC4-492D-B082-E155E81B7DE0}" type="slidenum">
              <a:rPr lang="fr-FR" smtClean="0"/>
              <a:t>88</a:t>
            </a:fld>
            <a:endParaRPr lang="fr-FR"/>
          </a:p>
        </p:txBody>
      </p:sp>
    </p:spTree>
    <p:extLst>
      <p:ext uri="{BB962C8B-B14F-4D97-AF65-F5344CB8AC3E}">
        <p14:creationId xmlns:p14="http://schemas.microsoft.com/office/powerpoint/2010/main" val="449185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0EB29B20-4FC4-492D-B082-E155E81B7DE0}" type="slidenum">
              <a:rPr lang="fr-FR" smtClean="0"/>
              <a:t>89</a:t>
            </a:fld>
            <a:endParaRPr lang="fr-FR"/>
          </a:p>
        </p:txBody>
      </p:sp>
    </p:spTree>
    <p:extLst>
      <p:ext uri="{BB962C8B-B14F-4D97-AF65-F5344CB8AC3E}">
        <p14:creationId xmlns:p14="http://schemas.microsoft.com/office/powerpoint/2010/main" val="4018099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F3B8-B966-D576-7008-F8A11AA2B7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42CF774F-5C8A-B41F-4BA6-B8E695E811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3A6BA1E5-6DE2-E602-8BF6-2E17CB344E37}"/>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5" name="Footer Placeholder 4">
            <a:extLst>
              <a:ext uri="{FF2B5EF4-FFF2-40B4-BE49-F238E27FC236}">
                <a16:creationId xmlns:a16="http://schemas.microsoft.com/office/drawing/2014/main" id="{45FF92A1-1307-AEAF-5C95-835EA6BBB7D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588E111A-60B3-8596-6A0B-85B06DB6B644}"/>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898385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A068D-901A-170C-2554-316B3C402B32}"/>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520DC5B7-F0BC-3C85-A2D4-FA7E19EC4C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C933DFF-F01A-ED77-BD22-99C4F1AC632E}"/>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5" name="Footer Placeholder 4">
            <a:extLst>
              <a:ext uri="{FF2B5EF4-FFF2-40B4-BE49-F238E27FC236}">
                <a16:creationId xmlns:a16="http://schemas.microsoft.com/office/drawing/2014/main" id="{7274B7D5-B036-40FF-C92E-9C26F754E91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B1D4DAF-5A6D-5939-6B33-22DC3393B326}"/>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1337704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E1641-F4FE-C757-FF93-A3DFB4A6DE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376B2028-FFF0-CC29-2178-63A7F81D68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DADFC3-FB42-CE61-4A33-B927F6465BBB}"/>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5" name="Footer Placeholder 4">
            <a:extLst>
              <a:ext uri="{FF2B5EF4-FFF2-40B4-BE49-F238E27FC236}">
                <a16:creationId xmlns:a16="http://schemas.microsoft.com/office/drawing/2014/main" id="{8FECB068-199A-7179-D370-B33978E5DAD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D39E73B-6257-0C18-C5CC-195E6A5CDC5E}"/>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4017135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C8470-D0E8-38E1-5004-2543AEF2169C}"/>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B68118B0-73DC-8C53-10D0-A1BA6809C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20C51225-57A1-B195-295A-6AFFE6389C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1C36BBF5-1ADD-AF14-D1E1-BDA011B47ED9}"/>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6" name="Footer Placeholder 5">
            <a:extLst>
              <a:ext uri="{FF2B5EF4-FFF2-40B4-BE49-F238E27FC236}">
                <a16:creationId xmlns:a16="http://schemas.microsoft.com/office/drawing/2014/main" id="{2F196C33-DEFC-601B-4CF2-79F9C39C8E8D}"/>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799AEDD5-1A6B-8996-D21F-70BE313999A8}"/>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3713253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614C-22B2-1C8A-E0D4-F52BD3EE074D}"/>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8ACB6BEB-9CEB-5D22-0235-1474E2FAE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06BB0-3D38-666C-ABB4-C9449905B3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F5C62D6A-F973-F3CB-B0A3-A1EF5BDA6D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73FA1F-864C-126D-5C94-490EFD7B08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0AE48144-A192-E78A-656E-0E0B7BE0C65C}"/>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8" name="Footer Placeholder 7">
            <a:extLst>
              <a:ext uri="{FF2B5EF4-FFF2-40B4-BE49-F238E27FC236}">
                <a16:creationId xmlns:a16="http://schemas.microsoft.com/office/drawing/2014/main" id="{4789F4CB-E9D7-2E59-227E-749B02E425E1}"/>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57B4615F-DB53-49FD-D179-8EB23CB42274}"/>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2164674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5CC32-5BA8-218A-5118-58D2B9D31495}"/>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20F94530-4917-4DC5-3E0A-AFB1E804DACF}"/>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4" name="Footer Placeholder 3">
            <a:extLst>
              <a:ext uri="{FF2B5EF4-FFF2-40B4-BE49-F238E27FC236}">
                <a16:creationId xmlns:a16="http://schemas.microsoft.com/office/drawing/2014/main" id="{C312B5D8-F1AA-9EAE-A905-A82C97AA3A4D}"/>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F68F6308-F364-73D7-15C2-3BF53834B3E3}"/>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1951942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AEDF0F-FA71-AD5C-FA73-B3C9BBF37DA7}"/>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3" name="Footer Placeholder 2">
            <a:extLst>
              <a:ext uri="{FF2B5EF4-FFF2-40B4-BE49-F238E27FC236}">
                <a16:creationId xmlns:a16="http://schemas.microsoft.com/office/drawing/2014/main" id="{262AE86D-FF62-1BEB-FAFF-4BC838697F73}"/>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56B787AB-9768-A629-BAE0-AD4415190E97}"/>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3422286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158DB-777E-A651-A7AF-62ECEA8427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F6E40D07-3915-687B-8FC9-92FB16374B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DA61A456-1CE2-2074-3826-A53EB3398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AD99BA-5767-3BF3-28BF-6FF605700F89}"/>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6" name="Footer Placeholder 5">
            <a:extLst>
              <a:ext uri="{FF2B5EF4-FFF2-40B4-BE49-F238E27FC236}">
                <a16:creationId xmlns:a16="http://schemas.microsoft.com/office/drawing/2014/main" id="{452E3C49-85FE-5FC2-0D99-30CB163DF3D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9155468C-BF77-6CBC-155D-B551E187D2E6}"/>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1054017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B4F3F-7F89-1320-05AA-C6BD023B67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21E70577-8054-D2FE-8F63-1020E46267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9CA7EDFD-D033-D5CE-34D3-1997A44BC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0C265C-EB9F-C51B-01C7-E253450D9A02}"/>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6" name="Footer Placeholder 5">
            <a:extLst>
              <a:ext uri="{FF2B5EF4-FFF2-40B4-BE49-F238E27FC236}">
                <a16:creationId xmlns:a16="http://schemas.microsoft.com/office/drawing/2014/main" id="{5B104A27-F51A-4080-7F1B-25A6527F216E}"/>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B87BA7DA-10CB-8674-B599-F7C61EAD88B5}"/>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3860456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11E22-7EF5-0B0B-2F82-35194D01CA2F}"/>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58DBA423-DDDC-B2EE-34AD-C4535F783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5BF8160-7408-6688-D297-CA97EFA4E4FC}"/>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5" name="Footer Placeholder 4">
            <a:extLst>
              <a:ext uri="{FF2B5EF4-FFF2-40B4-BE49-F238E27FC236}">
                <a16:creationId xmlns:a16="http://schemas.microsoft.com/office/drawing/2014/main" id="{5AC11D13-5375-10AB-974B-261CE3E64C3E}"/>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EBC46050-AF07-A7F2-46D4-29D14C36617D}"/>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4220171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B0A1CF-F61D-669B-250A-69B08EE64E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4310D11C-F41B-FFAC-2E4E-C45E4963CC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AC485358-A559-E186-DBA0-768F9B32C3B2}"/>
              </a:ext>
            </a:extLst>
          </p:cNvPr>
          <p:cNvSpPr>
            <a:spLocks noGrp="1"/>
          </p:cNvSpPr>
          <p:nvPr>
            <p:ph type="dt" sz="half" idx="10"/>
          </p:nvPr>
        </p:nvSpPr>
        <p:spPr/>
        <p:txBody>
          <a:bodyPr/>
          <a:lstStyle/>
          <a:p>
            <a:fld id="{8657C157-7CC1-4832-B80D-4950D55D89E5}" type="datetimeFigureOut">
              <a:rPr lang="fr-FR" smtClean="0"/>
              <a:t>16/03/2026</a:t>
            </a:fld>
            <a:endParaRPr lang="fr-FR"/>
          </a:p>
        </p:txBody>
      </p:sp>
      <p:sp>
        <p:nvSpPr>
          <p:cNvPr id="5" name="Footer Placeholder 4">
            <a:extLst>
              <a:ext uri="{FF2B5EF4-FFF2-40B4-BE49-F238E27FC236}">
                <a16:creationId xmlns:a16="http://schemas.microsoft.com/office/drawing/2014/main" id="{FB46A5FD-9939-5FE9-10B1-4B34DC5FFB53}"/>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CF629348-558E-0358-D119-C52F7800AC01}"/>
              </a:ext>
            </a:extLst>
          </p:cNvPr>
          <p:cNvSpPr>
            <a:spLocks noGrp="1"/>
          </p:cNvSpPr>
          <p:nvPr>
            <p:ph type="sldNum" sz="quarter" idx="12"/>
          </p:nvPr>
        </p:nvSpPr>
        <p:spPr/>
        <p:txBody>
          <a:bodyPr/>
          <a:lstStyle/>
          <a:p>
            <a:fld id="{390A4479-390E-4BE4-A752-077021EF9A8F}" type="slidenum">
              <a:rPr lang="fr-FR" smtClean="0"/>
              <a:t>‹#›</a:t>
            </a:fld>
            <a:endParaRPr lang="fr-FR"/>
          </a:p>
        </p:txBody>
      </p:sp>
    </p:spTree>
    <p:extLst>
      <p:ext uri="{BB962C8B-B14F-4D97-AF65-F5344CB8AC3E}">
        <p14:creationId xmlns:p14="http://schemas.microsoft.com/office/powerpoint/2010/main" val="1258138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E4AD4F-50EB-CE67-ABAB-B45ECBC8B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3C8B66E9-6A28-22A6-B466-928E188EA7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415B3AA9-DE98-F1F7-D4EA-163675BFD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57C157-7CC1-4832-B80D-4950D55D89E5}" type="datetimeFigureOut">
              <a:rPr lang="fr-FR" smtClean="0"/>
              <a:t>16/03/2026</a:t>
            </a:fld>
            <a:endParaRPr lang="fr-FR"/>
          </a:p>
        </p:txBody>
      </p:sp>
      <p:sp>
        <p:nvSpPr>
          <p:cNvPr id="5" name="Footer Placeholder 4">
            <a:extLst>
              <a:ext uri="{FF2B5EF4-FFF2-40B4-BE49-F238E27FC236}">
                <a16:creationId xmlns:a16="http://schemas.microsoft.com/office/drawing/2014/main" id="{A59C1847-6EDF-056D-439D-98D9CA7A66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9BC700D0-4221-80ED-A995-35D1A12E4C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A4479-390E-4BE4-A752-077021EF9A8F}" type="slidenum">
              <a:rPr lang="fr-FR" smtClean="0"/>
              <a:t>‹#›</a:t>
            </a:fld>
            <a:endParaRPr lang="fr-FR"/>
          </a:p>
        </p:txBody>
      </p:sp>
    </p:spTree>
    <p:extLst>
      <p:ext uri="{BB962C8B-B14F-4D97-AF65-F5344CB8AC3E}">
        <p14:creationId xmlns:p14="http://schemas.microsoft.com/office/powerpoint/2010/main" val="1283738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api.pwnedpasswords.com/range/21BD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hyperlink" Target="https://www.cs.montana.edu/courses/spring2004/409/topics/nat/dmz.html" TargetMode="External"/><Relationship Id="rId2" Type="http://schemas.openxmlformats.org/officeDocument/2006/relationships/hyperlink" Target="https://www.cs.montana.edu/courses/spring2004/409/topics/nat/firewall.html" TargetMode="External"/><Relationship Id="rId1" Type="http://schemas.openxmlformats.org/officeDocument/2006/relationships/slideLayout" Target="../slideLayouts/slideLayout2.xml"/><Relationship Id="rId4" Type="http://schemas.openxmlformats.org/officeDocument/2006/relationships/hyperlink" Target="https://www.cyberciti.biz/tips/wp-content/uploads/2006/06/fw.proxy.txt"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62EC9-9F45-6E8A-FAF1-2162E22D02B1}"/>
              </a:ext>
            </a:extLst>
          </p:cNvPr>
          <p:cNvSpPr>
            <a:spLocks noGrp="1"/>
          </p:cNvSpPr>
          <p:nvPr>
            <p:ph type="ctrTitle"/>
          </p:nvPr>
        </p:nvSpPr>
        <p:spPr/>
        <p:txBody>
          <a:bodyPr/>
          <a:lstStyle/>
          <a:p>
            <a:r>
              <a:rPr lang="en-US" dirty="0"/>
              <a:t>Hands on Labs</a:t>
            </a:r>
            <a:endParaRPr lang="fr-FR" dirty="0"/>
          </a:p>
        </p:txBody>
      </p:sp>
      <p:sp>
        <p:nvSpPr>
          <p:cNvPr id="3" name="Subtitle 2">
            <a:extLst>
              <a:ext uri="{FF2B5EF4-FFF2-40B4-BE49-F238E27FC236}">
                <a16:creationId xmlns:a16="http://schemas.microsoft.com/office/drawing/2014/main" id="{0782C87D-B169-0F53-0CE4-4C1091223E42}"/>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873253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1</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186819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8AF0-6F98-BEB0-5226-1D272B1FDCCB}"/>
              </a:ext>
            </a:extLst>
          </p:cNvPr>
          <p:cNvSpPr>
            <a:spLocks noGrp="1"/>
          </p:cNvSpPr>
          <p:nvPr>
            <p:ph type="title"/>
          </p:nvPr>
        </p:nvSpPr>
        <p:spPr/>
        <p:txBody>
          <a:bodyPr/>
          <a:lstStyle/>
          <a:p>
            <a:r>
              <a:rPr lang="en-US" b="1" dirty="0"/>
              <a:t>Hands-on lab for assigning limited </a:t>
            </a:r>
            <a:r>
              <a:rPr lang="en-US" b="1" dirty="0" err="1"/>
              <a:t>sudo</a:t>
            </a:r>
            <a:r>
              <a:rPr lang="en-US" b="1" dirty="0"/>
              <a:t> privileges</a:t>
            </a:r>
            <a:endParaRPr lang="fr-FR" b="1" dirty="0"/>
          </a:p>
        </p:txBody>
      </p:sp>
      <p:sp>
        <p:nvSpPr>
          <p:cNvPr id="3" name="Content Placeholder 2">
            <a:extLst>
              <a:ext uri="{FF2B5EF4-FFF2-40B4-BE49-F238E27FC236}">
                <a16:creationId xmlns:a16="http://schemas.microsoft.com/office/drawing/2014/main" id="{D5F76B96-CBC3-85D9-84A5-01B64D701059}"/>
              </a:ext>
            </a:extLst>
          </p:cNvPr>
          <p:cNvSpPr>
            <a:spLocks noGrp="1"/>
          </p:cNvSpPr>
          <p:nvPr>
            <p:ph idx="1"/>
          </p:nvPr>
        </p:nvSpPr>
        <p:spPr/>
        <p:txBody>
          <a:bodyPr>
            <a:normAutofit fontScale="92500" lnSpcReduction="10000"/>
          </a:bodyPr>
          <a:lstStyle/>
          <a:p>
            <a:r>
              <a:rPr lang="en-US" dirty="0"/>
              <a:t>Objective: Create some users and assign them different levels of privileges; To use the </a:t>
            </a:r>
            <a:r>
              <a:rPr lang="en-US" dirty="0" err="1"/>
              <a:t>AlmaLinux</a:t>
            </a:r>
            <a:r>
              <a:rPr lang="en-US" dirty="0"/>
              <a:t> 9 virtual machine</a:t>
            </a:r>
          </a:p>
          <a:p>
            <a:pPr marL="514350" indent="-514350">
              <a:buFont typeface="+mj-lt"/>
              <a:buAutoNum type="arabicPeriod"/>
            </a:pPr>
            <a:r>
              <a:rPr lang="en-US" dirty="0"/>
              <a:t>Log in to the </a:t>
            </a:r>
            <a:r>
              <a:rPr lang="en-US" dirty="0" err="1"/>
              <a:t>AlmaLinux</a:t>
            </a:r>
            <a:r>
              <a:rPr lang="en-US" dirty="0"/>
              <a:t> virtual machine and create user accounts for Lionel, Katelyn, and Maggie:</a:t>
            </a:r>
          </a:p>
          <a:p>
            <a:pPr lvl="1"/>
            <a:r>
              <a:rPr lang="fr-FR" dirty="0" err="1"/>
              <a:t>sudo</a:t>
            </a:r>
            <a:r>
              <a:rPr lang="fr-FR" dirty="0"/>
              <a:t> </a:t>
            </a:r>
            <a:r>
              <a:rPr lang="fr-FR" dirty="0" err="1"/>
              <a:t>useradd</a:t>
            </a:r>
            <a:r>
              <a:rPr lang="fr-FR" dirty="0"/>
              <a:t> </a:t>
            </a:r>
            <a:r>
              <a:rPr lang="fr-FR" dirty="0" err="1"/>
              <a:t>lionel</a:t>
            </a:r>
            <a:endParaRPr lang="fr-FR" dirty="0"/>
          </a:p>
          <a:p>
            <a:pPr lvl="1"/>
            <a:r>
              <a:rPr lang="fr-FR" dirty="0" err="1"/>
              <a:t>sudo</a:t>
            </a:r>
            <a:r>
              <a:rPr lang="fr-FR" dirty="0"/>
              <a:t> </a:t>
            </a:r>
            <a:r>
              <a:rPr lang="fr-FR" dirty="0" err="1"/>
              <a:t>useradd</a:t>
            </a:r>
            <a:r>
              <a:rPr lang="fr-FR" dirty="0"/>
              <a:t> </a:t>
            </a:r>
            <a:r>
              <a:rPr lang="fr-FR" dirty="0" err="1"/>
              <a:t>katelyn</a:t>
            </a:r>
            <a:endParaRPr lang="fr-FR" dirty="0"/>
          </a:p>
          <a:p>
            <a:pPr lvl="1"/>
            <a:r>
              <a:rPr lang="fr-FR" dirty="0" err="1"/>
              <a:t>sudo</a:t>
            </a:r>
            <a:r>
              <a:rPr lang="fr-FR" dirty="0"/>
              <a:t> </a:t>
            </a:r>
            <a:r>
              <a:rPr lang="fr-FR" dirty="0" err="1"/>
              <a:t>useradd</a:t>
            </a:r>
            <a:r>
              <a:rPr lang="fr-FR" dirty="0"/>
              <a:t> Maggie</a:t>
            </a:r>
          </a:p>
          <a:p>
            <a:pPr lvl="1"/>
            <a:r>
              <a:rPr lang="fr-FR" dirty="0" err="1"/>
              <a:t>sudo</a:t>
            </a:r>
            <a:r>
              <a:rPr lang="fr-FR" dirty="0"/>
              <a:t> </a:t>
            </a:r>
            <a:r>
              <a:rPr lang="fr-FR" dirty="0" err="1"/>
              <a:t>passwd</a:t>
            </a:r>
            <a:r>
              <a:rPr lang="fr-FR" dirty="0"/>
              <a:t> </a:t>
            </a:r>
            <a:r>
              <a:rPr lang="fr-FR" dirty="0" err="1"/>
              <a:t>lionel</a:t>
            </a:r>
            <a:endParaRPr lang="fr-FR" dirty="0"/>
          </a:p>
          <a:p>
            <a:pPr lvl="1"/>
            <a:r>
              <a:rPr lang="fr-FR" dirty="0" err="1"/>
              <a:t>sudo</a:t>
            </a:r>
            <a:r>
              <a:rPr lang="fr-FR" dirty="0"/>
              <a:t> </a:t>
            </a:r>
            <a:r>
              <a:rPr lang="fr-FR" dirty="0" err="1"/>
              <a:t>passwd</a:t>
            </a:r>
            <a:r>
              <a:rPr lang="fr-FR" dirty="0"/>
              <a:t> </a:t>
            </a:r>
            <a:r>
              <a:rPr lang="fr-FR" dirty="0" err="1"/>
              <a:t>katelyn</a:t>
            </a:r>
            <a:endParaRPr lang="fr-FR" dirty="0"/>
          </a:p>
          <a:p>
            <a:pPr lvl="1"/>
            <a:r>
              <a:rPr lang="fr-FR" dirty="0" err="1"/>
              <a:t>sudo</a:t>
            </a:r>
            <a:r>
              <a:rPr lang="fr-FR" dirty="0"/>
              <a:t> </a:t>
            </a:r>
            <a:r>
              <a:rPr lang="fr-FR" dirty="0" err="1"/>
              <a:t>passwd</a:t>
            </a:r>
            <a:r>
              <a:rPr lang="fr-FR" dirty="0"/>
              <a:t> Maggie</a:t>
            </a:r>
          </a:p>
          <a:p>
            <a:pPr marL="514350" indent="-514350">
              <a:buFont typeface="+mj-lt"/>
              <a:buAutoNum type="arabicPeriod"/>
            </a:pPr>
            <a:r>
              <a:rPr lang="fr-FR" dirty="0"/>
              <a:t>Open </a:t>
            </a:r>
            <a:r>
              <a:rPr lang="fr-FR" dirty="0" err="1"/>
              <a:t>visudo</a:t>
            </a:r>
            <a:r>
              <a:rPr lang="fr-FR" dirty="0"/>
              <a:t>:</a:t>
            </a:r>
          </a:p>
          <a:p>
            <a:pPr lvl="1"/>
            <a:r>
              <a:rPr lang="fr-FR" dirty="0" err="1"/>
              <a:t>sudo</a:t>
            </a:r>
            <a:r>
              <a:rPr lang="fr-FR" dirty="0"/>
              <a:t> </a:t>
            </a:r>
            <a:r>
              <a:rPr lang="fr-FR" dirty="0" err="1"/>
              <a:t>visudo</a:t>
            </a:r>
            <a:endParaRPr lang="fr-FR" dirty="0"/>
          </a:p>
        </p:txBody>
      </p:sp>
    </p:spTree>
    <p:extLst>
      <p:ext uri="{BB962C8B-B14F-4D97-AF65-F5344CB8AC3E}">
        <p14:creationId xmlns:p14="http://schemas.microsoft.com/office/powerpoint/2010/main" val="2877210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8AF0-6F98-BEB0-5226-1D272B1FDCCB}"/>
              </a:ext>
            </a:extLst>
          </p:cNvPr>
          <p:cNvSpPr>
            <a:spLocks noGrp="1"/>
          </p:cNvSpPr>
          <p:nvPr>
            <p:ph type="title"/>
          </p:nvPr>
        </p:nvSpPr>
        <p:spPr/>
        <p:txBody>
          <a:bodyPr/>
          <a:lstStyle/>
          <a:p>
            <a:r>
              <a:rPr lang="en-US" b="1" dirty="0"/>
              <a:t>Hands-on lab for assigning limited </a:t>
            </a:r>
            <a:r>
              <a:rPr lang="en-US" b="1" dirty="0" err="1"/>
              <a:t>sudo</a:t>
            </a:r>
            <a:r>
              <a:rPr lang="en-US" b="1" dirty="0"/>
              <a:t> privileges</a:t>
            </a:r>
            <a:endParaRPr lang="fr-FR" b="1" dirty="0"/>
          </a:p>
        </p:txBody>
      </p:sp>
      <p:sp>
        <p:nvSpPr>
          <p:cNvPr id="3" name="Content Placeholder 2">
            <a:extLst>
              <a:ext uri="{FF2B5EF4-FFF2-40B4-BE49-F238E27FC236}">
                <a16:creationId xmlns:a16="http://schemas.microsoft.com/office/drawing/2014/main" id="{D5F76B96-CBC3-85D9-84A5-01B64D701059}"/>
              </a:ext>
            </a:extLst>
          </p:cNvPr>
          <p:cNvSpPr>
            <a:spLocks noGrp="1"/>
          </p:cNvSpPr>
          <p:nvPr>
            <p:ph idx="1"/>
          </p:nvPr>
        </p:nvSpPr>
        <p:spPr/>
        <p:txBody>
          <a:bodyPr>
            <a:normAutofit/>
          </a:bodyPr>
          <a:lstStyle/>
          <a:p>
            <a:r>
              <a:rPr lang="en-US" dirty="0"/>
              <a:t>Objective: Create some users and assign them different levels of privileges; To use the </a:t>
            </a:r>
            <a:r>
              <a:rPr lang="en-US" dirty="0" err="1"/>
              <a:t>AlmaLinux</a:t>
            </a:r>
            <a:r>
              <a:rPr lang="en-US" dirty="0"/>
              <a:t> 9 virtual machine</a:t>
            </a:r>
          </a:p>
          <a:p>
            <a:pPr marL="0" indent="0" algn="just">
              <a:buNone/>
            </a:pPr>
            <a:r>
              <a:rPr lang="en-US" dirty="0"/>
              <a:t>3. Find the STORAGE command alias and remove the comment symbol from in front of it.</a:t>
            </a:r>
          </a:p>
          <a:p>
            <a:pPr marL="0" indent="0" algn="just">
              <a:buNone/>
            </a:pPr>
            <a:r>
              <a:rPr lang="en-US" dirty="0"/>
              <a:t>4. Add the following lines to the end of the file, using tabs to separate the columns:</a:t>
            </a:r>
          </a:p>
          <a:p>
            <a:pPr marL="0" indent="0" algn="l">
              <a:buNone/>
            </a:pPr>
            <a:r>
              <a:rPr lang="fr-FR" sz="1800" b="0" i="0" u="none" strike="noStrike" baseline="0" dirty="0">
                <a:solidFill>
                  <a:srgbClr val="383A42"/>
                </a:solidFill>
                <a:latin typeface="Consolas" panose="020B0609020204030204" pitchFamily="49" charset="0"/>
              </a:rPr>
              <a:t>		</a:t>
            </a:r>
            <a:r>
              <a:rPr lang="fr-FR" sz="1800" b="0" i="0" u="none" strike="noStrike" baseline="0" dirty="0" err="1">
                <a:solidFill>
                  <a:srgbClr val="383A42"/>
                </a:solidFill>
                <a:latin typeface="Consolas" panose="020B0609020204030204" pitchFamily="49" charset="0"/>
              </a:rPr>
              <a:t>lionel</a:t>
            </a:r>
            <a:r>
              <a:rPr lang="fr-FR" sz="1800" b="0" i="0" u="none" strike="noStrike" baseline="0" dirty="0">
                <a:solidFill>
                  <a:srgbClr val="383A42"/>
                </a:solidFill>
                <a:latin typeface="Consolas" panose="020B0609020204030204" pitchFamily="49" charset="0"/>
              </a:rPr>
              <a:t> ALL=(ALL) ALL</a:t>
            </a:r>
          </a:p>
          <a:p>
            <a:pPr marL="0" indent="0" algn="l">
              <a:buNone/>
            </a:pPr>
            <a:r>
              <a:rPr lang="fr-FR" sz="1800" b="0" i="0" u="none" strike="noStrike" baseline="0" dirty="0">
                <a:solidFill>
                  <a:srgbClr val="383A42"/>
                </a:solidFill>
                <a:latin typeface="Consolas" panose="020B0609020204030204" pitchFamily="49" charset="0"/>
              </a:rPr>
              <a:t>		</a:t>
            </a:r>
            <a:r>
              <a:rPr lang="fr-FR" sz="1800" b="0" i="0" u="none" strike="noStrike" baseline="0" dirty="0" err="1">
                <a:solidFill>
                  <a:srgbClr val="383A42"/>
                </a:solidFill>
                <a:latin typeface="Consolas" panose="020B0609020204030204" pitchFamily="49" charset="0"/>
              </a:rPr>
              <a:t>katelyn</a:t>
            </a:r>
            <a:r>
              <a:rPr lang="fr-FR" sz="1800" b="0" i="0" u="none" strike="noStrike" baseline="0" dirty="0">
                <a:solidFill>
                  <a:srgbClr val="383A42"/>
                </a:solidFill>
                <a:latin typeface="Consolas" panose="020B0609020204030204" pitchFamily="49" charset="0"/>
              </a:rPr>
              <a:t> ALL=(ALL) /</a:t>
            </a:r>
            <a:r>
              <a:rPr lang="fr-FR" sz="1800" b="0" i="0" u="none" strike="noStrike" baseline="0" dirty="0" err="1">
                <a:solidFill>
                  <a:srgbClr val="383A42"/>
                </a:solidFill>
                <a:latin typeface="Consolas" panose="020B0609020204030204" pitchFamily="49" charset="0"/>
              </a:rPr>
              <a:t>usr</a:t>
            </a:r>
            <a:r>
              <a:rPr lang="fr-FR" sz="1800" b="0" i="0" u="none" strike="noStrike" baseline="0" dirty="0">
                <a:solidFill>
                  <a:srgbClr val="383A42"/>
                </a:solidFill>
                <a:latin typeface="Consolas" panose="020B0609020204030204" pitchFamily="49" charset="0"/>
              </a:rPr>
              <a:t>/bin/</a:t>
            </a:r>
            <a:r>
              <a:rPr lang="fr-FR" sz="1800" b="0" i="0" u="none" strike="noStrike" baseline="0" dirty="0" err="1">
                <a:solidFill>
                  <a:srgbClr val="383A42"/>
                </a:solidFill>
                <a:latin typeface="Consolas" panose="020B0609020204030204" pitchFamily="49" charset="0"/>
              </a:rPr>
              <a:t>systemctl</a:t>
            </a:r>
            <a:r>
              <a:rPr lang="fr-FR" sz="1800" b="0" i="0" u="none" strike="noStrike" baseline="0" dirty="0">
                <a:solidFill>
                  <a:srgbClr val="383A42"/>
                </a:solidFill>
                <a:latin typeface="Consolas" panose="020B0609020204030204" pitchFamily="49" charset="0"/>
              </a:rPr>
              <a:t> </a:t>
            </a:r>
            <a:r>
              <a:rPr lang="fr-FR" sz="1800" b="0" i="0" u="none" strike="noStrike" baseline="0" dirty="0" err="1">
                <a:solidFill>
                  <a:srgbClr val="383A42"/>
                </a:solidFill>
                <a:latin typeface="Consolas" panose="020B0609020204030204" pitchFamily="49" charset="0"/>
              </a:rPr>
              <a:t>status</a:t>
            </a:r>
            <a:r>
              <a:rPr lang="fr-FR" sz="1800" b="0" i="0" u="none" strike="noStrike" baseline="0" dirty="0">
                <a:solidFill>
                  <a:srgbClr val="383A42"/>
                </a:solidFill>
                <a:latin typeface="Consolas" panose="020B0609020204030204" pitchFamily="49" charset="0"/>
              </a:rPr>
              <a:t> </a:t>
            </a:r>
            <a:r>
              <a:rPr lang="fr-FR" sz="1800" b="0" i="0" u="none" strike="noStrike" baseline="0" dirty="0" err="1">
                <a:solidFill>
                  <a:srgbClr val="383A42"/>
                </a:solidFill>
                <a:latin typeface="Consolas" panose="020B0609020204030204" pitchFamily="49" charset="0"/>
              </a:rPr>
              <a:t>sshd</a:t>
            </a:r>
            <a:endParaRPr lang="fr-FR" sz="1800" b="0" i="0" u="none" strike="noStrike" baseline="0" dirty="0">
              <a:solidFill>
                <a:srgbClr val="383A42"/>
              </a:solidFill>
              <a:latin typeface="Consolas" panose="020B0609020204030204" pitchFamily="49" charset="0"/>
            </a:endParaRPr>
          </a:p>
          <a:p>
            <a:pPr marL="0" indent="0" algn="l">
              <a:buNone/>
            </a:pPr>
            <a:r>
              <a:rPr lang="fr-FR" sz="1800" b="0" i="0" u="none" strike="noStrike" baseline="0" dirty="0">
                <a:solidFill>
                  <a:srgbClr val="383A42"/>
                </a:solidFill>
                <a:latin typeface="Consolas" panose="020B0609020204030204" pitchFamily="49" charset="0"/>
              </a:rPr>
              <a:t>		</a:t>
            </a:r>
            <a:r>
              <a:rPr lang="fr-FR" sz="1800" b="0" i="0" u="none" strike="noStrike" baseline="0" dirty="0" err="1">
                <a:solidFill>
                  <a:srgbClr val="383A42"/>
                </a:solidFill>
                <a:latin typeface="Consolas" panose="020B0609020204030204" pitchFamily="49" charset="0"/>
              </a:rPr>
              <a:t>maggie</a:t>
            </a:r>
            <a:r>
              <a:rPr lang="fr-FR" sz="1800" b="0" i="0" u="none" strike="noStrike" baseline="0" dirty="0">
                <a:solidFill>
                  <a:srgbClr val="383A42"/>
                </a:solidFill>
                <a:latin typeface="Consolas" panose="020B0609020204030204" pitchFamily="49" charset="0"/>
              </a:rPr>
              <a:t> ALL=(ALL) STORAGE</a:t>
            </a:r>
            <a:endParaRPr lang="en-US" sz="1800" b="0" i="0" u="none" strike="noStrike" baseline="0" dirty="0">
              <a:solidFill>
                <a:srgbClr val="383A42"/>
              </a:solidFill>
              <a:latin typeface="Consolas" panose="020B0609020204030204" pitchFamily="49" charset="0"/>
            </a:endParaRPr>
          </a:p>
          <a:p>
            <a:pPr algn="l"/>
            <a:r>
              <a:rPr lang="en-US" dirty="0"/>
              <a:t>Save the file and exit </a:t>
            </a:r>
            <a:r>
              <a:rPr lang="en-US" dirty="0" err="1"/>
              <a:t>visudo</a:t>
            </a:r>
            <a:r>
              <a:rPr lang="en-US" dirty="0"/>
              <a:t>.</a:t>
            </a:r>
            <a:endParaRPr lang="fr-FR" dirty="0"/>
          </a:p>
        </p:txBody>
      </p:sp>
    </p:spTree>
    <p:extLst>
      <p:ext uri="{BB962C8B-B14F-4D97-AF65-F5344CB8AC3E}">
        <p14:creationId xmlns:p14="http://schemas.microsoft.com/office/powerpoint/2010/main" val="3299741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8AF0-6F98-BEB0-5226-1D272B1FDCCB}"/>
              </a:ext>
            </a:extLst>
          </p:cNvPr>
          <p:cNvSpPr>
            <a:spLocks noGrp="1"/>
          </p:cNvSpPr>
          <p:nvPr>
            <p:ph type="title"/>
          </p:nvPr>
        </p:nvSpPr>
        <p:spPr/>
        <p:txBody>
          <a:bodyPr/>
          <a:lstStyle/>
          <a:p>
            <a:r>
              <a:rPr lang="en-US" b="1" dirty="0"/>
              <a:t>Hands-on lab for assigning limited </a:t>
            </a:r>
            <a:r>
              <a:rPr lang="en-US" b="1" dirty="0" err="1"/>
              <a:t>sudo</a:t>
            </a:r>
            <a:r>
              <a:rPr lang="en-US" b="1" dirty="0"/>
              <a:t> privileges</a:t>
            </a:r>
            <a:endParaRPr lang="fr-FR" b="1" dirty="0"/>
          </a:p>
        </p:txBody>
      </p:sp>
      <p:sp>
        <p:nvSpPr>
          <p:cNvPr id="3" name="Content Placeholder 2">
            <a:extLst>
              <a:ext uri="{FF2B5EF4-FFF2-40B4-BE49-F238E27FC236}">
                <a16:creationId xmlns:a16="http://schemas.microsoft.com/office/drawing/2014/main" id="{D5F76B96-CBC3-85D9-84A5-01B64D701059}"/>
              </a:ext>
            </a:extLst>
          </p:cNvPr>
          <p:cNvSpPr>
            <a:spLocks noGrp="1"/>
          </p:cNvSpPr>
          <p:nvPr>
            <p:ph idx="1"/>
          </p:nvPr>
        </p:nvSpPr>
        <p:spPr/>
        <p:txBody>
          <a:bodyPr>
            <a:normAutofit fontScale="92500" lnSpcReduction="20000"/>
          </a:bodyPr>
          <a:lstStyle/>
          <a:p>
            <a:r>
              <a:rPr lang="en-US" dirty="0"/>
              <a:t>Objective: Create some users and assign them different levels of privileges; To use the </a:t>
            </a:r>
            <a:r>
              <a:rPr lang="en-US" dirty="0" err="1"/>
              <a:t>AlmaLinux</a:t>
            </a:r>
            <a:r>
              <a:rPr lang="en-US" dirty="0"/>
              <a:t> 9 virtual machine</a:t>
            </a:r>
          </a:p>
          <a:p>
            <a:pPr marL="0" indent="0" algn="just">
              <a:buNone/>
            </a:pPr>
            <a:r>
              <a:rPr lang="en-US" dirty="0"/>
              <a:t>5. use </a:t>
            </a:r>
            <a:r>
              <a:rPr lang="en-US" b="1" dirty="0" err="1"/>
              <a:t>su</a:t>
            </a:r>
            <a:r>
              <a:rPr lang="en-US" dirty="0"/>
              <a:t> to log in to the different user accounts. First, log in to Lionel’s account and verify that he has full </a:t>
            </a:r>
            <a:r>
              <a:rPr lang="en-US" dirty="0" err="1"/>
              <a:t>sudo</a:t>
            </a:r>
            <a:r>
              <a:rPr lang="en-US" dirty="0"/>
              <a:t> privileges by running several root-level commands: </a:t>
            </a:r>
          </a:p>
          <a:p>
            <a:pPr marL="0" indent="0" algn="just">
              <a:buNone/>
            </a:pPr>
            <a:r>
              <a:rPr lang="en-US" dirty="0"/>
              <a:t>	</a:t>
            </a:r>
            <a:r>
              <a:rPr lang="en-US" dirty="0" err="1"/>
              <a:t>su</a:t>
            </a:r>
            <a:r>
              <a:rPr lang="en-US" dirty="0"/>
              <a:t> – </a:t>
            </a:r>
            <a:r>
              <a:rPr lang="en-US" dirty="0" err="1"/>
              <a:t>lionel</a:t>
            </a:r>
            <a:endParaRPr lang="en-US" dirty="0"/>
          </a:p>
          <a:p>
            <a:pPr marL="0" indent="0" algn="just">
              <a:buNone/>
            </a:pPr>
            <a:r>
              <a:rPr lang="en-US" dirty="0"/>
              <a:t>	</a:t>
            </a:r>
            <a:r>
              <a:rPr lang="en-US" dirty="0" err="1"/>
              <a:t>sudo</a:t>
            </a:r>
            <a:r>
              <a:rPr lang="en-US" dirty="0"/>
              <a:t> </a:t>
            </a:r>
            <a:r>
              <a:rPr lang="en-US" dirty="0" err="1"/>
              <a:t>su</a:t>
            </a:r>
            <a:r>
              <a:rPr lang="en-US" dirty="0"/>
              <a:t> –</a:t>
            </a:r>
          </a:p>
          <a:p>
            <a:pPr marL="0" indent="0" algn="just">
              <a:buNone/>
            </a:pPr>
            <a:r>
              <a:rPr lang="en-US" dirty="0"/>
              <a:t>	exit</a:t>
            </a:r>
          </a:p>
          <a:p>
            <a:pPr marL="0" indent="0" algn="just">
              <a:buNone/>
            </a:pPr>
            <a:r>
              <a:rPr lang="en-US" dirty="0"/>
              <a:t>	</a:t>
            </a:r>
            <a:r>
              <a:rPr lang="en-US" dirty="0" err="1"/>
              <a:t>sudo</a:t>
            </a:r>
            <a:r>
              <a:rPr lang="en-US" dirty="0"/>
              <a:t> </a:t>
            </a:r>
            <a:r>
              <a:rPr lang="en-US" dirty="0" err="1"/>
              <a:t>systemctl</a:t>
            </a:r>
            <a:r>
              <a:rPr lang="en-US" dirty="0"/>
              <a:t> status </a:t>
            </a:r>
            <a:r>
              <a:rPr lang="en-US" dirty="0" err="1"/>
              <a:t>sshd</a:t>
            </a:r>
            <a:endParaRPr lang="en-US" dirty="0"/>
          </a:p>
          <a:p>
            <a:pPr marL="0" indent="0" algn="just">
              <a:buNone/>
            </a:pPr>
            <a:r>
              <a:rPr lang="en-US" dirty="0"/>
              <a:t>	</a:t>
            </a:r>
            <a:r>
              <a:rPr lang="en-US" dirty="0" err="1"/>
              <a:t>sudo</a:t>
            </a:r>
            <a:r>
              <a:rPr lang="en-US" dirty="0"/>
              <a:t> </a:t>
            </a:r>
            <a:r>
              <a:rPr lang="en-US" dirty="0" err="1"/>
              <a:t>fdisk</a:t>
            </a:r>
            <a:r>
              <a:rPr lang="en-US" dirty="0"/>
              <a:t> -l</a:t>
            </a:r>
          </a:p>
          <a:p>
            <a:pPr marL="0" indent="0" algn="just">
              <a:buNone/>
            </a:pPr>
            <a:r>
              <a:rPr lang="en-US" dirty="0"/>
              <a:t>	exit</a:t>
            </a:r>
          </a:p>
        </p:txBody>
      </p:sp>
    </p:spTree>
    <p:extLst>
      <p:ext uri="{BB962C8B-B14F-4D97-AF65-F5344CB8AC3E}">
        <p14:creationId xmlns:p14="http://schemas.microsoft.com/office/powerpoint/2010/main" val="828997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8AF0-6F98-BEB0-5226-1D272B1FDCCB}"/>
              </a:ext>
            </a:extLst>
          </p:cNvPr>
          <p:cNvSpPr>
            <a:spLocks noGrp="1"/>
          </p:cNvSpPr>
          <p:nvPr>
            <p:ph type="title"/>
          </p:nvPr>
        </p:nvSpPr>
        <p:spPr/>
        <p:txBody>
          <a:bodyPr/>
          <a:lstStyle/>
          <a:p>
            <a:r>
              <a:rPr lang="en-US" b="1" dirty="0"/>
              <a:t>Hands-on lab for assigning limited </a:t>
            </a:r>
            <a:r>
              <a:rPr lang="en-US" b="1" dirty="0" err="1"/>
              <a:t>sudo</a:t>
            </a:r>
            <a:r>
              <a:rPr lang="en-US" b="1" dirty="0"/>
              <a:t> privileges</a:t>
            </a:r>
            <a:endParaRPr lang="fr-FR" b="1" dirty="0"/>
          </a:p>
        </p:txBody>
      </p:sp>
      <p:sp>
        <p:nvSpPr>
          <p:cNvPr id="3" name="Content Placeholder 2">
            <a:extLst>
              <a:ext uri="{FF2B5EF4-FFF2-40B4-BE49-F238E27FC236}">
                <a16:creationId xmlns:a16="http://schemas.microsoft.com/office/drawing/2014/main" id="{D5F76B96-CBC3-85D9-84A5-01B64D701059}"/>
              </a:ext>
            </a:extLst>
          </p:cNvPr>
          <p:cNvSpPr>
            <a:spLocks noGrp="1"/>
          </p:cNvSpPr>
          <p:nvPr>
            <p:ph idx="1"/>
          </p:nvPr>
        </p:nvSpPr>
        <p:spPr/>
        <p:txBody>
          <a:bodyPr>
            <a:normAutofit lnSpcReduction="10000"/>
          </a:bodyPr>
          <a:lstStyle/>
          <a:p>
            <a:r>
              <a:rPr lang="en-US" dirty="0"/>
              <a:t>Objective: Create some users and assign them different levels of privileges; To use the </a:t>
            </a:r>
            <a:r>
              <a:rPr lang="en-US" dirty="0" err="1"/>
              <a:t>AlmaLinux</a:t>
            </a:r>
            <a:r>
              <a:rPr lang="en-US" dirty="0"/>
              <a:t> 9 virtual machine</a:t>
            </a:r>
          </a:p>
          <a:p>
            <a:pPr marL="0" indent="0" algn="just">
              <a:buNone/>
            </a:pPr>
            <a:r>
              <a:rPr lang="en-US" dirty="0"/>
              <a:t>6. log in as Katelyn and try to run some root-level commands. </a:t>
            </a:r>
          </a:p>
          <a:p>
            <a:pPr marL="0" indent="0" algn="just">
              <a:buNone/>
            </a:pPr>
            <a:r>
              <a:rPr lang="fr-FR" dirty="0"/>
              <a:t>	su – </a:t>
            </a:r>
            <a:r>
              <a:rPr lang="fr-FR" dirty="0" err="1"/>
              <a:t>katelyn</a:t>
            </a:r>
            <a:endParaRPr lang="fr-FR" dirty="0"/>
          </a:p>
          <a:p>
            <a:pPr marL="0" indent="0" algn="just">
              <a:buNone/>
            </a:pPr>
            <a:r>
              <a:rPr lang="fr-FR" dirty="0"/>
              <a:t>	</a:t>
            </a:r>
            <a:r>
              <a:rPr lang="fr-FR" dirty="0" err="1"/>
              <a:t>sudo</a:t>
            </a:r>
            <a:r>
              <a:rPr lang="fr-FR" dirty="0"/>
              <a:t> su –</a:t>
            </a:r>
          </a:p>
          <a:p>
            <a:pPr marL="0" indent="0" algn="just">
              <a:buNone/>
            </a:pPr>
            <a:r>
              <a:rPr lang="fr-FR" dirty="0"/>
              <a:t>	</a:t>
            </a:r>
            <a:r>
              <a:rPr lang="fr-FR" dirty="0" err="1"/>
              <a:t>sudo</a:t>
            </a:r>
            <a:r>
              <a:rPr lang="fr-FR" dirty="0"/>
              <a:t> </a:t>
            </a:r>
            <a:r>
              <a:rPr lang="fr-FR" dirty="0" err="1"/>
              <a:t>systemctl</a:t>
            </a:r>
            <a:r>
              <a:rPr lang="fr-FR" dirty="0"/>
              <a:t> </a:t>
            </a:r>
            <a:r>
              <a:rPr lang="fr-FR" dirty="0" err="1"/>
              <a:t>status</a:t>
            </a:r>
            <a:r>
              <a:rPr lang="fr-FR" dirty="0"/>
              <a:t> </a:t>
            </a:r>
            <a:r>
              <a:rPr lang="fr-FR" dirty="0" err="1"/>
              <a:t>sshd</a:t>
            </a:r>
            <a:endParaRPr lang="fr-FR" dirty="0"/>
          </a:p>
          <a:p>
            <a:pPr marL="0" indent="0" algn="just">
              <a:buNone/>
            </a:pPr>
            <a:r>
              <a:rPr lang="fr-FR" dirty="0"/>
              <a:t>	</a:t>
            </a:r>
            <a:r>
              <a:rPr lang="fr-FR" dirty="0" err="1"/>
              <a:t>sudo</a:t>
            </a:r>
            <a:r>
              <a:rPr lang="fr-FR" dirty="0"/>
              <a:t> </a:t>
            </a:r>
            <a:r>
              <a:rPr lang="fr-FR" dirty="0" err="1"/>
              <a:t>systemctl</a:t>
            </a:r>
            <a:r>
              <a:rPr lang="fr-FR" dirty="0"/>
              <a:t> restart </a:t>
            </a:r>
            <a:r>
              <a:rPr lang="fr-FR" dirty="0" err="1"/>
              <a:t>sshd</a:t>
            </a:r>
            <a:endParaRPr lang="fr-FR" dirty="0"/>
          </a:p>
          <a:p>
            <a:pPr marL="0" indent="0" algn="just">
              <a:buNone/>
            </a:pPr>
            <a:r>
              <a:rPr lang="fr-FR" dirty="0"/>
              <a:t>	</a:t>
            </a:r>
            <a:r>
              <a:rPr lang="fr-FR" dirty="0" err="1"/>
              <a:t>sudo</a:t>
            </a:r>
            <a:r>
              <a:rPr lang="fr-FR" dirty="0"/>
              <a:t> </a:t>
            </a:r>
            <a:r>
              <a:rPr lang="fr-FR" dirty="0" err="1"/>
              <a:t>fdisk</a:t>
            </a:r>
            <a:r>
              <a:rPr lang="fr-FR" dirty="0"/>
              <a:t> -l</a:t>
            </a:r>
          </a:p>
          <a:p>
            <a:pPr marL="0" indent="0" algn="just">
              <a:buNone/>
            </a:pPr>
            <a:r>
              <a:rPr lang="fr-FR" dirty="0"/>
              <a:t>	exit</a:t>
            </a:r>
          </a:p>
          <a:p>
            <a:pPr marL="0" indent="0">
              <a:buNone/>
            </a:pPr>
            <a:endParaRPr lang="en-US" dirty="0"/>
          </a:p>
        </p:txBody>
      </p:sp>
    </p:spTree>
    <p:extLst>
      <p:ext uri="{BB962C8B-B14F-4D97-AF65-F5344CB8AC3E}">
        <p14:creationId xmlns:p14="http://schemas.microsoft.com/office/powerpoint/2010/main" val="1726451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8AF0-6F98-BEB0-5226-1D272B1FDCCB}"/>
              </a:ext>
            </a:extLst>
          </p:cNvPr>
          <p:cNvSpPr>
            <a:spLocks noGrp="1"/>
          </p:cNvSpPr>
          <p:nvPr>
            <p:ph type="title"/>
          </p:nvPr>
        </p:nvSpPr>
        <p:spPr/>
        <p:txBody>
          <a:bodyPr/>
          <a:lstStyle/>
          <a:p>
            <a:r>
              <a:rPr lang="en-US" b="1" dirty="0"/>
              <a:t>Hands-on lab for assigning limited </a:t>
            </a:r>
            <a:r>
              <a:rPr lang="en-US" b="1" dirty="0" err="1"/>
              <a:t>sudo</a:t>
            </a:r>
            <a:r>
              <a:rPr lang="en-US" b="1" dirty="0"/>
              <a:t> privileges</a:t>
            </a:r>
            <a:endParaRPr lang="fr-FR" b="1" dirty="0"/>
          </a:p>
        </p:txBody>
      </p:sp>
      <p:sp>
        <p:nvSpPr>
          <p:cNvPr id="3" name="Content Placeholder 2">
            <a:extLst>
              <a:ext uri="{FF2B5EF4-FFF2-40B4-BE49-F238E27FC236}">
                <a16:creationId xmlns:a16="http://schemas.microsoft.com/office/drawing/2014/main" id="{D5F76B96-CBC3-85D9-84A5-01B64D701059}"/>
              </a:ext>
            </a:extLst>
          </p:cNvPr>
          <p:cNvSpPr>
            <a:spLocks noGrp="1"/>
          </p:cNvSpPr>
          <p:nvPr>
            <p:ph idx="1"/>
          </p:nvPr>
        </p:nvSpPr>
        <p:spPr/>
        <p:txBody>
          <a:bodyPr>
            <a:normAutofit/>
          </a:bodyPr>
          <a:lstStyle/>
          <a:p>
            <a:r>
              <a:rPr lang="en-US" dirty="0"/>
              <a:t>Objective: Create some users and assign them different levels of privileges; To use the </a:t>
            </a:r>
            <a:r>
              <a:rPr lang="en-US" dirty="0" err="1"/>
              <a:t>AlmaLinux</a:t>
            </a:r>
            <a:r>
              <a:rPr lang="en-US" dirty="0"/>
              <a:t> 9 virtual machine</a:t>
            </a:r>
          </a:p>
          <a:p>
            <a:pPr marL="0" indent="0" algn="just">
              <a:buNone/>
            </a:pPr>
            <a:r>
              <a:rPr lang="en-US" dirty="0"/>
              <a:t>7. Log in as Maggie, and run the same set of commands that you ran for Katelyn.</a:t>
            </a:r>
          </a:p>
          <a:p>
            <a:pPr marL="0" indent="0" algn="just">
              <a:buNone/>
            </a:pPr>
            <a:r>
              <a:rPr lang="en-US" dirty="0"/>
              <a:t>8. You can set more users for this lab by setting them up in user aliases or Linux groups.</a:t>
            </a:r>
            <a:endParaRPr lang="fr-FR" dirty="0"/>
          </a:p>
          <a:p>
            <a:pPr marL="0" indent="0">
              <a:buNone/>
            </a:pPr>
            <a:endParaRPr lang="en-US" dirty="0"/>
          </a:p>
        </p:txBody>
      </p:sp>
    </p:spTree>
    <p:extLst>
      <p:ext uri="{BB962C8B-B14F-4D97-AF65-F5344CB8AC3E}">
        <p14:creationId xmlns:p14="http://schemas.microsoft.com/office/powerpoint/2010/main" val="305565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2</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693397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32A6-4743-0F55-5D1A-834043BAAD32}"/>
              </a:ext>
            </a:extLst>
          </p:cNvPr>
          <p:cNvSpPr>
            <a:spLocks noGrp="1"/>
          </p:cNvSpPr>
          <p:nvPr>
            <p:ph type="title"/>
          </p:nvPr>
        </p:nvSpPr>
        <p:spPr/>
        <p:txBody>
          <a:bodyPr/>
          <a:lstStyle/>
          <a:p>
            <a:r>
              <a:rPr lang="en-US" b="1" dirty="0"/>
              <a:t>Hands-on lab for disabling the </a:t>
            </a:r>
            <a:r>
              <a:rPr lang="en-US" b="1" dirty="0" err="1"/>
              <a:t>sudo</a:t>
            </a:r>
            <a:r>
              <a:rPr lang="en-US" b="1" dirty="0"/>
              <a:t> timer</a:t>
            </a:r>
            <a:endParaRPr lang="fr-FR" b="1" dirty="0"/>
          </a:p>
        </p:txBody>
      </p:sp>
      <p:sp>
        <p:nvSpPr>
          <p:cNvPr id="3" name="Content Placeholder 2">
            <a:extLst>
              <a:ext uri="{FF2B5EF4-FFF2-40B4-BE49-F238E27FC236}">
                <a16:creationId xmlns:a16="http://schemas.microsoft.com/office/drawing/2014/main" id="{9DF263AF-DDFB-8DDC-116B-B60CBDBE1A3B}"/>
              </a:ext>
            </a:extLst>
          </p:cNvPr>
          <p:cNvSpPr>
            <a:spLocks noGrp="1"/>
          </p:cNvSpPr>
          <p:nvPr>
            <p:ph idx="1"/>
          </p:nvPr>
        </p:nvSpPr>
        <p:spPr>
          <a:xfrm>
            <a:off x="838200" y="1825625"/>
            <a:ext cx="10515600" cy="4782344"/>
          </a:xfrm>
        </p:spPr>
        <p:txBody>
          <a:bodyPr/>
          <a:lstStyle/>
          <a:p>
            <a:r>
              <a:rPr lang="en-US" dirty="0"/>
              <a:t>Objective: disable the </a:t>
            </a:r>
            <a:r>
              <a:rPr lang="en-US" dirty="0" err="1"/>
              <a:t>sudo</a:t>
            </a:r>
            <a:r>
              <a:rPr lang="en-US" dirty="0"/>
              <a:t> timer on your </a:t>
            </a:r>
            <a:r>
              <a:rPr lang="en-US" dirty="0" err="1"/>
              <a:t>AlmaLinux</a:t>
            </a:r>
            <a:r>
              <a:rPr lang="en-US" dirty="0"/>
              <a:t> VM</a:t>
            </a:r>
          </a:p>
          <a:p>
            <a:pPr marL="514350" indent="-514350">
              <a:buFont typeface="+mj-lt"/>
              <a:buAutoNum type="arabicPeriod"/>
            </a:pPr>
            <a:r>
              <a:rPr lang="en-US" dirty="0"/>
              <a:t>Log in to the same </a:t>
            </a:r>
            <a:r>
              <a:rPr lang="en-US" dirty="0" err="1"/>
              <a:t>AlmaLinux</a:t>
            </a:r>
            <a:r>
              <a:rPr lang="en-US" dirty="0"/>
              <a:t> virtual machine that you used for the previous lab</a:t>
            </a:r>
          </a:p>
          <a:p>
            <a:pPr marL="514350" indent="-514350">
              <a:buFont typeface="+mj-lt"/>
              <a:buAutoNum type="arabicPeriod"/>
            </a:pPr>
            <a:r>
              <a:rPr lang="en-US" dirty="0"/>
              <a:t>At your own user account command prompt, enter the following commands</a:t>
            </a:r>
          </a:p>
          <a:p>
            <a:pPr marL="0" indent="0">
              <a:buNone/>
            </a:pPr>
            <a:r>
              <a:rPr lang="fr-FR" dirty="0"/>
              <a:t>	</a:t>
            </a:r>
            <a:r>
              <a:rPr lang="fr-FR" dirty="0" err="1"/>
              <a:t>sudo</a:t>
            </a:r>
            <a:r>
              <a:rPr lang="fr-FR" dirty="0"/>
              <a:t> </a:t>
            </a:r>
            <a:r>
              <a:rPr lang="fr-FR" dirty="0" err="1"/>
              <a:t>fdisk</a:t>
            </a:r>
            <a:r>
              <a:rPr lang="fr-FR" dirty="0"/>
              <a:t> -l</a:t>
            </a:r>
          </a:p>
          <a:p>
            <a:pPr marL="0" indent="0">
              <a:buNone/>
            </a:pPr>
            <a:r>
              <a:rPr lang="fr-FR" dirty="0"/>
              <a:t>	</a:t>
            </a:r>
            <a:r>
              <a:rPr lang="fr-FR" dirty="0" err="1"/>
              <a:t>sudo</a:t>
            </a:r>
            <a:r>
              <a:rPr lang="fr-FR" dirty="0"/>
              <a:t> </a:t>
            </a:r>
            <a:r>
              <a:rPr lang="fr-FR" dirty="0" err="1"/>
              <a:t>systemctl</a:t>
            </a:r>
            <a:r>
              <a:rPr lang="fr-FR" dirty="0"/>
              <a:t> </a:t>
            </a:r>
            <a:r>
              <a:rPr lang="fr-FR" dirty="0" err="1"/>
              <a:t>status</a:t>
            </a:r>
            <a:r>
              <a:rPr lang="fr-FR" dirty="0"/>
              <a:t> </a:t>
            </a:r>
            <a:r>
              <a:rPr lang="fr-FR" dirty="0" err="1"/>
              <a:t>sshd</a:t>
            </a:r>
            <a:endParaRPr lang="fr-FR" dirty="0"/>
          </a:p>
          <a:p>
            <a:pPr marL="0" indent="0">
              <a:buNone/>
            </a:pPr>
            <a:r>
              <a:rPr lang="fr-FR" dirty="0"/>
              <a:t>	</a:t>
            </a:r>
            <a:r>
              <a:rPr lang="fr-FR" dirty="0" err="1"/>
              <a:t>sudo</a:t>
            </a:r>
            <a:r>
              <a:rPr lang="fr-FR" dirty="0"/>
              <a:t> </a:t>
            </a:r>
            <a:r>
              <a:rPr lang="fr-FR" dirty="0" err="1"/>
              <a:t>iptables</a:t>
            </a:r>
            <a:r>
              <a:rPr lang="fr-FR" dirty="0"/>
              <a:t> –L</a:t>
            </a:r>
          </a:p>
          <a:p>
            <a:pPr marL="0" indent="0">
              <a:buNone/>
            </a:pPr>
            <a:r>
              <a:rPr lang="fr-FR" dirty="0"/>
              <a:t>3. </a:t>
            </a:r>
            <a:r>
              <a:rPr lang="en-US" dirty="0"/>
              <a:t>At your own user account command prompt, run the following:</a:t>
            </a:r>
            <a:endParaRPr lang="fr-FR" dirty="0"/>
          </a:p>
        </p:txBody>
      </p:sp>
    </p:spTree>
    <p:extLst>
      <p:ext uri="{BB962C8B-B14F-4D97-AF65-F5344CB8AC3E}">
        <p14:creationId xmlns:p14="http://schemas.microsoft.com/office/powerpoint/2010/main" val="195695529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32A6-4743-0F55-5D1A-834043BAAD32}"/>
              </a:ext>
            </a:extLst>
          </p:cNvPr>
          <p:cNvSpPr>
            <a:spLocks noGrp="1"/>
          </p:cNvSpPr>
          <p:nvPr>
            <p:ph type="title"/>
          </p:nvPr>
        </p:nvSpPr>
        <p:spPr/>
        <p:txBody>
          <a:bodyPr/>
          <a:lstStyle/>
          <a:p>
            <a:r>
              <a:rPr lang="en-US" b="1" dirty="0"/>
              <a:t>Hands-on lab for disabling the </a:t>
            </a:r>
            <a:r>
              <a:rPr lang="en-US" b="1" dirty="0" err="1"/>
              <a:t>sudo</a:t>
            </a:r>
            <a:r>
              <a:rPr lang="en-US" b="1" dirty="0"/>
              <a:t> timer</a:t>
            </a:r>
            <a:endParaRPr lang="fr-FR" b="1" dirty="0"/>
          </a:p>
        </p:txBody>
      </p:sp>
      <p:sp>
        <p:nvSpPr>
          <p:cNvPr id="3" name="Content Placeholder 2">
            <a:extLst>
              <a:ext uri="{FF2B5EF4-FFF2-40B4-BE49-F238E27FC236}">
                <a16:creationId xmlns:a16="http://schemas.microsoft.com/office/drawing/2014/main" id="{9DF263AF-DDFB-8DDC-116B-B60CBDBE1A3B}"/>
              </a:ext>
            </a:extLst>
          </p:cNvPr>
          <p:cNvSpPr>
            <a:spLocks noGrp="1"/>
          </p:cNvSpPr>
          <p:nvPr>
            <p:ph idx="1"/>
          </p:nvPr>
        </p:nvSpPr>
        <p:spPr>
          <a:xfrm>
            <a:off x="838200" y="1825625"/>
            <a:ext cx="10515600" cy="4782344"/>
          </a:xfrm>
        </p:spPr>
        <p:txBody>
          <a:bodyPr/>
          <a:lstStyle/>
          <a:p>
            <a:r>
              <a:rPr lang="en-US" dirty="0"/>
              <a:t>Objective: disable the </a:t>
            </a:r>
            <a:r>
              <a:rPr lang="en-US" dirty="0" err="1"/>
              <a:t>sudo</a:t>
            </a:r>
            <a:r>
              <a:rPr lang="en-US" dirty="0"/>
              <a:t> timer on your </a:t>
            </a:r>
            <a:r>
              <a:rPr lang="en-US" dirty="0" err="1"/>
              <a:t>AlmaLinux</a:t>
            </a:r>
            <a:r>
              <a:rPr lang="en-US" dirty="0"/>
              <a:t> VM</a:t>
            </a:r>
          </a:p>
          <a:p>
            <a:pPr marL="0" indent="0">
              <a:buNone/>
            </a:pPr>
            <a:r>
              <a:rPr lang="fr-FR" dirty="0"/>
              <a:t>3. </a:t>
            </a:r>
            <a:r>
              <a:rPr lang="en-US" dirty="0"/>
              <a:t>At your own user account command prompt, run the following:</a:t>
            </a:r>
          </a:p>
          <a:p>
            <a:pPr marL="0" indent="0">
              <a:buNone/>
            </a:pPr>
            <a:r>
              <a:rPr lang="fr-FR" dirty="0"/>
              <a:t>	</a:t>
            </a:r>
            <a:r>
              <a:rPr lang="fr-FR" dirty="0" err="1"/>
              <a:t>sudo</a:t>
            </a:r>
            <a:r>
              <a:rPr lang="fr-FR" dirty="0"/>
              <a:t> </a:t>
            </a:r>
            <a:r>
              <a:rPr lang="fr-FR" dirty="0" err="1"/>
              <a:t>fdisk</a:t>
            </a:r>
            <a:r>
              <a:rPr lang="fr-FR" dirty="0"/>
              <a:t> -l</a:t>
            </a:r>
          </a:p>
          <a:p>
            <a:pPr marL="0" indent="0">
              <a:buNone/>
            </a:pPr>
            <a:r>
              <a:rPr lang="fr-FR" dirty="0"/>
              <a:t>	</a:t>
            </a:r>
            <a:r>
              <a:rPr lang="fr-FR" dirty="0" err="1"/>
              <a:t>sudo</a:t>
            </a:r>
            <a:r>
              <a:rPr lang="fr-FR" dirty="0"/>
              <a:t> -k</a:t>
            </a:r>
          </a:p>
          <a:p>
            <a:pPr marL="0" indent="0">
              <a:buNone/>
            </a:pPr>
            <a:r>
              <a:rPr lang="fr-FR" dirty="0"/>
              <a:t>	</a:t>
            </a:r>
            <a:r>
              <a:rPr lang="fr-FR" dirty="0" err="1"/>
              <a:t>sudo</a:t>
            </a:r>
            <a:r>
              <a:rPr lang="fr-FR" dirty="0"/>
              <a:t> </a:t>
            </a:r>
            <a:r>
              <a:rPr lang="fr-FR" dirty="0" err="1"/>
              <a:t>fdisk</a:t>
            </a:r>
            <a:r>
              <a:rPr lang="fr-FR" dirty="0"/>
              <a:t> –l</a:t>
            </a:r>
          </a:p>
          <a:p>
            <a:pPr marL="0" indent="0" algn="just">
              <a:buNone/>
            </a:pPr>
            <a:r>
              <a:rPr lang="fr-FR" dirty="0"/>
              <a:t>4. </a:t>
            </a:r>
            <a:r>
              <a:rPr lang="en-US" dirty="0"/>
              <a:t>Note how the </a:t>
            </a:r>
            <a:r>
              <a:rPr lang="en-US" b="1" dirty="0" err="1"/>
              <a:t>sudo</a:t>
            </a:r>
            <a:r>
              <a:rPr lang="en-US" b="1" dirty="0"/>
              <a:t> -k</a:t>
            </a:r>
            <a:r>
              <a:rPr lang="en-US" dirty="0"/>
              <a:t> command resets your timer, so you will have to enter your password again. Open </a:t>
            </a:r>
            <a:r>
              <a:rPr lang="en-US" dirty="0" err="1"/>
              <a:t>visudo</a:t>
            </a:r>
            <a:r>
              <a:rPr lang="en-US" dirty="0"/>
              <a:t> with the following command:</a:t>
            </a:r>
          </a:p>
          <a:p>
            <a:pPr marL="0" indent="0" algn="l">
              <a:buNone/>
            </a:pPr>
            <a:r>
              <a:rPr lang="en-US" dirty="0"/>
              <a:t>	</a:t>
            </a:r>
            <a:r>
              <a:rPr lang="en-US" dirty="0" err="1"/>
              <a:t>sudo</a:t>
            </a:r>
            <a:r>
              <a:rPr lang="en-US" dirty="0"/>
              <a:t> </a:t>
            </a:r>
            <a:r>
              <a:rPr lang="en-US" dirty="0" err="1"/>
              <a:t>visudo</a:t>
            </a:r>
            <a:endParaRPr lang="fr-FR" dirty="0"/>
          </a:p>
        </p:txBody>
      </p:sp>
    </p:spTree>
    <p:extLst>
      <p:ext uri="{BB962C8B-B14F-4D97-AF65-F5344CB8AC3E}">
        <p14:creationId xmlns:p14="http://schemas.microsoft.com/office/powerpoint/2010/main" val="288417032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32A6-4743-0F55-5D1A-834043BAAD32}"/>
              </a:ext>
            </a:extLst>
          </p:cNvPr>
          <p:cNvSpPr>
            <a:spLocks noGrp="1"/>
          </p:cNvSpPr>
          <p:nvPr>
            <p:ph type="title"/>
          </p:nvPr>
        </p:nvSpPr>
        <p:spPr/>
        <p:txBody>
          <a:bodyPr/>
          <a:lstStyle/>
          <a:p>
            <a:r>
              <a:rPr lang="en-US" b="1" dirty="0"/>
              <a:t>Hands-on lab for disabling the </a:t>
            </a:r>
            <a:r>
              <a:rPr lang="en-US" b="1" dirty="0" err="1"/>
              <a:t>sudo</a:t>
            </a:r>
            <a:r>
              <a:rPr lang="en-US" b="1" dirty="0"/>
              <a:t> timer</a:t>
            </a:r>
            <a:endParaRPr lang="fr-FR" b="1" dirty="0"/>
          </a:p>
        </p:txBody>
      </p:sp>
      <p:sp>
        <p:nvSpPr>
          <p:cNvPr id="3" name="Content Placeholder 2">
            <a:extLst>
              <a:ext uri="{FF2B5EF4-FFF2-40B4-BE49-F238E27FC236}">
                <a16:creationId xmlns:a16="http://schemas.microsoft.com/office/drawing/2014/main" id="{9DF263AF-DDFB-8DDC-116B-B60CBDBE1A3B}"/>
              </a:ext>
            </a:extLst>
          </p:cNvPr>
          <p:cNvSpPr>
            <a:spLocks noGrp="1"/>
          </p:cNvSpPr>
          <p:nvPr>
            <p:ph idx="1"/>
          </p:nvPr>
        </p:nvSpPr>
        <p:spPr>
          <a:xfrm>
            <a:off x="838200" y="1825625"/>
            <a:ext cx="10515600" cy="4782344"/>
          </a:xfrm>
        </p:spPr>
        <p:txBody>
          <a:bodyPr>
            <a:normAutofit/>
          </a:bodyPr>
          <a:lstStyle/>
          <a:p>
            <a:r>
              <a:rPr lang="en-US" dirty="0"/>
              <a:t>Objective: disable the </a:t>
            </a:r>
            <a:r>
              <a:rPr lang="en-US" dirty="0" err="1"/>
              <a:t>sudo</a:t>
            </a:r>
            <a:r>
              <a:rPr lang="en-US" dirty="0"/>
              <a:t> timer on your </a:t>
            </a:r>
            <a:r>
              <a:rPr lang="en-US" dirty="0" err="1"/>
              <a:t>AlmaLinux</a:t>
            </a:r>
            <a:r>
              <a:rPr lang="en-US" dirty="0"/>
              <a:t> VM</a:t>
            </a:r>
          </a:p>
          <a:p>
            <a:pPr marL="0" indent="0">
              <a:buNone/>
            </a:pPr>
            <a:r>
              <a:rPr lang="fr-FR" dirty="0"/>
              <a:t>5. </a:t>
            </a:r>
            <a:r>
              <a:rPr lang="en-US" dirty="0"/>
              <a:t>In the Defaults specification section of the file, add the following line:</a:t>
            </a:r>
          </a:p>
          <a:p>
            <a:pPr marL="0" indent="0">
              <a:buNone/>
            </a:pPr>
            <a:r>
              <a:rPr lang="fr-FR" dirty="0"/>
              <a:t>	Defaults </a:t>
            </a:r>
            <a:r>
              <a:rPr lang="fr-FR" dirty="0" err="1"/>
              <a:t>timestamp_timeout</a:t>
            </a:r>
            <a:r>
              <a:rPr lang="fr-FR" dirty="0"/>
              <a:t> = 0</a:t>
            </a:r>
          </a:p>
          <a:p>
            <a:pPr marL="0" indent="0">
              <a:buNone/>
            </a:pPr>
            <a:r>
              <a:rPr lang="en-US" dirty="0"/>
              <a:t>Save the file and exit </a:t>
            </a:r>
            <a:r>
              <a:rPr lang="en-US" dirty="0" err="1"/>
              <a:t>visudo</a:t>
            </a:r>
            <a:r>
              <a:rPr lang="en-US" dirty="0"/>
              <a:t>.</a:t>
            </a:r>
          </a:p>
          <a:p>
            <a:pPr marL="0" indent="0">
              <a:buNone/>
            </a:pPr>
            <a:r>
              <a:rPr lang="en-US" dirty="0"/>
              <a:t>6. Perform the commands that you performed in step 2. This time, you should see that you have to enter a password every time.</a:t>
            </a:r>
          </a:p>
          <a:p>
            <a:pPr marL="0" indent="0">
              <a:buNone/>
            </a:pPr>
            <a:r>
              <a:rPr lang="en-US" dirty="0"/>
              <a:t>7. Open </a:t>
            </a:r>
            <a:r>
              <a:rPr lang="en-US" dirty="0" err="1"/>
              <a:t>visudo</a:t>
            </a:r>
            <a:r>
              <a:rPr lang="en-US" dirty="0"/>
              <a:t> and modify the line that you added so that it looks like this, Save the file and exit </a:t>
            </a:r>
            <a:r>
              <a:rPr lang="en-US" dirty="0" err="1"/>
              <a:t>visudo</a:t>
            </a:r>
            <a:r>
              <a:rPr lang="en-US" dirty="0"/>
              <a:t>:</a:t>
            </a:r>
          </a:p>
          <a:p>
            <a:pPr marL="0" indent="0">
              <a:buNone/>
            </a:pPr>
            <a:r>
              <a:rPr lang="fr-FR" dirty="0"/>
              <a:t>		</a:t>
            </a:r>
            <a:r>
              <a:rPr lang="fr-FR" dirty="0" err="1"/>
              <a:t>Defaults:lionel</a:t>
            </a:r>
            <a:r>
              <a:rPr lang="fr-FR" dirty="0"/>
              <a:t> </a:t>
            </a:r>
            <a:r>
              <a:rPr lang="fr-FR" dirty="0" err="1"/>
              <a:t>timestamp_timeout</a:t>
            </a:r>
            <a:r>
              <a:rPr lang="fr-FR" dirty="0"/>
              <a:t> = 0</a:t>
            </a:r>
          </a:p>
          <a:p>
            <a:pPr marL="0" indent="0">
              <a:buNone/>
            </a:pPr>
            <a:endParaRPr lang="fr-FR" dirty="0"/>
          </a:p>
        </p:txBody>
      </p:sp>
    </p:spTree>
    <p:extLst>
      <p:ext uri="{BB962C8B-B14F-4D97-AF65-F5344CB8AC3E}">
        <p14:creationId xmlns:p14="http://schemas.microsoft.com/office/powerpoint/2010/main" val="72410854"/>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32A6-4743-0F55-5D1A-834043BAAD32}"/>
              </a:ext>
            </a:extLst>
          </p:cNvPr>
          <p:cNvSpPr>
            <a:spLocks noGrp="1"/>
          </p:cNvSpPr>
          <p:nvPr>
            <p:ph type="title"/>
          </p:nvPr>
        </p:nvSpPr>
        <p:spPr/>
        <p:txBody>
          <a:bodyPr/>
          <a:lstStyle/>
          <a:p>
            <a:r>
              <a:rPr lang="en-US" b="1" dirty="0"/>
              <a:t>Hands-on lab for disabling the </a:t>
            </a:r>
            <a:r>
              <a:rPr lang="en-US" b="1" dirty="0" err="1"/>
              <a:t>sudo</a:t>
            </a:r>
            <a:r>
              <a:rPr lang="en-US" b="1" dirty="0"/>
              <a:t> timer</a:t>
            </a:r>
            <a:endParaRPr lang="fr-FR" b="1" dirty="0"/>
          </a:p>
        </p:txBody>
      </p:sp>
      <p:sp>
        <p:nvSpPr>
          <p:cNvPr id="3" name="Content Placeholder 2">
            <a:extLst>
              <a:ext uri="{FF2B5EF4-FFF2-40B4-BE49-F238E27FC236}">
                <a16:creationId xmlns:a16="http://schemas.microsoft.com/office/drawing/2014/main" id="{9DF263AF-DDFB-8DDC-116B-B60CBDBE1A3B}"/>
              </a:ext>
            </a:extLst>
          </p:cNvPr>
          <p:cNvSpPr>
            <a:spLocks noGrp="1"/>
          </p:cNvSpPr>
          <p:nvPr>
            <p:ph idx="1"/>
          </p:nvPr>
        </p:nvSpPr>
        <p:spPr>
          <a:xfrm>
            <a:off x="838200" y="1825625"/>
            <a:ext cx="10515600" cy="4782344"/>
          </a:xfrm>
        </p:spPr>
        <p:txBody>
          <a:bodyPr/>
          <a:lstStyle/>
          <a:p>
            <a:r>
              <a:rPr lang="en-US" dirty="0"/>
              <a:t>Objective: disable the </a:t>
            </a:r>
            <a:r>
              <a:rPr lang="en-US" dirty="0" err="1"/>
              <a:t>sudo</a:t>
            </a:r>
            <a:r>
              <a:rPr lang="en-US" dirty="0"/>
              <a:t> timer on your </a:t>
            </a:r>
            <a:r>
              <a:rPr lang="en-US" dirty="0" err="1"/>
              <a:t>AlmaLinux</a:t>
            </a:r>
            <a:r>
              <a:rPr lang="en-US" dirty="0"/>
              <a:t> VM</a:t>
            </a:r>
          </a:p>
          <a:p>
            <a:pPr marL="0" indent="0">
              <a:buNone/>
            </a:pPr>
            <a:r>
              <a:rPr lang="en-US" dirty="0"/>
              <a:t>6. From your own account shell, repeat the commands that you performed in step 2. Then, log</a:t>
            </a:r>
          </a:p>
          <a:p>
            <a:pPr marL="0" indent="0">
              <a:buNone/>
            </a:pPr>
            <a:r>
              <a:rPr lang="en-US" dirty="0"/>
              <a:t>in as Lionel and perform the commands again.</a:t>
            </a:r>
          </a:p>
          <a:p>
            <a:pPr marL="0" indent="0">
              <a:buNone/>
            </a:pPr>
            <a:r>
              <a:rPr lang="en-US" dirty="0"/>
              <a:t>7. View your own </a:t>
            </a:r>
            <a:r>
              <a:rPr lang="en-US" dirty="0" err="1"/>
              <a:t>sudo</a:t>
            </a:r>
            <a:r>
              <a:rPr lang="en-US" dirty="0"/>
              <a:t> privileges by running the following:</a:t>
            </a:r>
          </a:p>
          <a:p>
            <a:pPr marL="0" indent="0">
              <a:buNone/>
            </a:pPr>
            <a:r>
              <a:rPr lang="fr-FR" dirty="0"/>
              <a:t>			</a:t>
            </a:r>
            <a:r>
              <a:rPr lang="fr-FR" dirty="0" err="1"/>
              <a:t>sudo</a:t>
            </a:r>
            <a:r>
              <a:rPr lang="fr-FR" dirty="0"/>
              <a:t> -l</a:t>
            </a:r>
          </a:p>
        </p:txBody>
      </p:sp>
    </p:spTree>
    <p:extLst>
      <p:ext uri="{BB962C8B-B14F-4D97-AF65-F5344CB8AC3E}">
        <p14:creationId xmlns:p14="http://schemas.microsoft.com/office/powerpoint/2010/main" val="2460463510"/>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3</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896006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A8912-B570-DADC-F1B3-6C7A4289486F}"/>
              </a:ext>
            </a:extLst>
          </p:cNvPr>
          <p:cNvSpPr>
            <a:spLocks noGrp="1"/>
          </p:cNvSpPr>
          <p:nvPr>
            <p:ph type="title"/>
          </p:nvPr>
        </p:nvSpPr>
        <p:spPr/>
        <p:txBody>
          <a:bodyPr/>
          <a:lstStyle/>
          <a:p>
            <a:r>
              <a:rPr lang="en-US" b="1" dirty="0"/>
              <a:t>Hands-on lab for creating an encrypted home directory with </a:t>
            </a:r>
            <a:r>
              <a:rPr lang="en-US" b="1" dirty="0" err="1"/>
              <a:t>adduser</a:t>
            </a:r>
            <a:endParaRPr lang="fr-FR" b="1" dirty="0"/>
          </a:p>
        </p:txBody>
      </p:sp>
      <p:sp>
        <p:nvSpPr>
          <p:cNvPr id="5" name="Content Placeholder 4">
            <a:extLst>
              <a:ext uri="{FF2B5EF4-FFF2-40B4-BE49-F238E27FC236}">
                <a16:creationId xmlns:a16="http://schemas.microsoft.com/office/drawing/2014/main" id="{F210C137-73ED-4A16-0268-B0078FAFD3F2}"/>
              </a:ext>
            </a:extLst>
          </p:cNvPr>
          <p:cNvSpPr>
            <a:spLocks noGrp="1"/>
          </p:cNvSpPr>
          <p:nvPr>
            <p:ph idx="1"/>
          </p:nvPr>
        </p:nvSpPr>
        <p:spPr>
          <a:xfrm>
            <a:off x="838200" y="1825624"/>
            <a:ext cx="10515600" cy="4918075"/>
          </a:xfrm>
        </p:spPr>
        <p:txBody>
          <a:bodyPr>
            <a:normAutofit fontScale="92500" lnSpcReduction="20000"/>
          </a:bodyPr>
          <a:lstStyle/>
          <a:p>
            <a:r>
              <a:rPr lang="fr-FR" b="1" dirty="0"/>
              <a:t>Ubuntu 22.04 VM</a:t>
            </a:r>
            <a:r>
              <a:rPr lang="fr-FR" dirty="0"/>
              <a:t>:</a:t>
            </a:r>
          </a:p>
          <a:p>
            <a:endParaRPr lang="fr-FR" dirty="0"/>
          </a:p>
          <a:p>
            <a:r>
              <a:rPr lang="fr-FR" dirty="0"/>
              <a:t>Install the </a:t>
            </a:r>
            <a:r>
              <a:rPr lang="fr-FR" dirty="0" err="1"/>
              <a:t>ecryptfs-utils</a:t>
            </a:r>
            <a:r>
              <a:rPr lang="fr-FR" dirty="0"/>
              <a:t> package</a:t>
            </a:r>
          </a:p>
          <a:p>
            <a:pPr lvl="1"/>
            <a:r>
              <a:rPr lang="fr-FR" dirty="0" err="1"/>
              <a:t>sudo</a:t>
            </a:r>
            <a:r>
              <a:rPr lang="fr-FR" dirty="0"/>
              <a:t> </a:t>
            </a:r>
            <a:r>
              <a:rPr lang="fr-FR" dirty="0" err="1"/>
              <a:t>apt</a:t>
            </a:r>
            <a:r>
              <a:rPr lang="fr-FR" dirty="0"/>
              <a:t> </a:t>
            </a:r>
            <a:r>
              <a:rPr lang="fr-FR" dirty="0" err="1"/>
              <a:t>install</a:t>
            </a:r>
            <a:r>
              <a:rPr lang="fr-FR" dirty="0"/>
              <a:t> </a:t>
            </a:r>
            <a:r>
              <a:rPr lang="fr-FR" dirty="0" err="1"/>
              <a:t>ecryptfs-utils</a:t>
            </a:r>
            <a:endParaRPr lang="fr-FR" dirty="0"/>
          </a:p>
          <a:p>
            <a:pPr lvl="1"/>
            <a:endParaRPr lang="fr-FR" dirty="0"/>
          </a:p>
          <a:p>
            <a:r>
              <a:rPr lang="en-US" dirty="0"/>
              <a:t>Create a user account with an encrypted home directory for Cleopatra and then view the results:</a:t>
            </a:r>
          </a:p>
          <a:p>
            <a:pPr lvl="1"/>
            <a:r>
              <a:rPr lang="en-US" dirty="0" err="1"/>
              <a:t>sudo</a:t>
            </a:r>
            <a:r>
              <a:rPr lang="en-US" dirty="0"/>
              <a:t> </a:t>
            </a:r>
            <a:r>
              <a:rPr lang="en-US" dirty="0" err="1"/>
              <a:t>adduser</a:t>
            </a:r>
            <a:r>
              <a:rPr lang="en-US" dirty="0"/>
              <a:t> --encrypt-home cleopatra</a:t>
            </a:r>
          </a:p>
          <a:p>
            <a:pPr lvl="1"/>
            <a:r>
              <a:rPr lang="en-US" dirty="0"/>
              <a:t>ls -l /home</a:t>
            </a:r>
          </a:p>
          <a:p>
            <a:pPr lvl="1"/>
            <a:endParaRPr lang="en-US" dirty="0"/>
          </a:p>
          <a:p>
            <a:r>
              <a:rPr lang="en-US" dirty="0"/>
              <a:t>Log in as Cleopatra and run the </a:t>
            </a:r>
            <a:r>
              <a:rPr lang="en-US" dirty="0" err="1"/>
              <a:t>ecryptfs</a:t>
            </a:r>
            <a:r>
              <a:rPr lang="en-US" dirty="0"/>
              <a:t>-unwrap-passphrase command:</a:t>
            </a:r>
          </a:p>
          <a:p>
            <a:pPr lvl="1"/>
            <a:r>
              <a:rPr lang="fr-FR" dirty="0"/>
              <a:t>su - </a:t>
            </a:r>
            <a:r>
              <a:rPr lang="fr-FR" dirty="0" err="1"/>
              <a:t>cleopatra</a:t>
            </a:r>
            <a:endParaRPr lang="fr-FR" dirty="0"/>
          </a:p>
          <a:p>
            <a:pPr lvl="1"/>
            <a:r>
              <a:rPr lang="fr-FR" dirty="0" err="1"/>
              <a:t>ecryptfs-unwrap-passphrase</a:t>
            </a:r>
            <a:endParaRPr lang="fr-FR" dirty="0"/>
          </a:p>
          <a:p>
            <a:pPr lvl="1"/>
            <a:r>
              <a:rPr lang="fr-FR" dirty="0"/>
              <a:t>exit</a:t>
            </a:r>
          </a:p>
        </p:txBody>
      </p:sp>
    </p:spTree>
    <p:extLst>
      <p:ext uri="{BB962C8B-B14F-4D97-AF65-F5344CB8AC3E}">
        <p14:creationId xmlns:p14="http://schemas.microsoft.com/office/powerpoint/2010/main" val="1643786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4</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295943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1639D-2BB1-A8AC-6295-5F84E383FEBD}"/>
              </a:ext>
            </a:extLst>
          </p:cNvPr>
          <p:cNvSpPr>
            <a:spLocks noGrp="1"/>
          </p:cNvSpPr>
          <p:nvPr>
            <p:ph type="title"/>
          </p:nvPr>
        </p:nvSpPr>
        <p:spPr/>
        <p:txBody>
          <a:bodyPr/>
          <a:lstStyle/>
          <a:p>
            <a:r>
              <a:rPr lang="en-US" b="1" dirty="0"/>
              <a:t>Hands-on lab for setting password complexity criteria</a:t>
            </a:r>
            <a:endParaRPr lang="fr-FR" b="1" dirty="0"/>
          </a:p>
        </p:txBody>
      </p:sp>
      <p:sp>
        <p:nvSpPr>
          <p:cNvPr id="3" name="Content Placeholder 2">
            <a:extLst>
              <a:ext uri="{FF2B5EF4-FFF2-40B4-BE49-F238E27FC236}">
                <a16:creationId xmlns:a16="http://schemas.microsoft.com/office/drawing/2014/main" id="{FB0E6B0C-5922-DB4D-4A57-431CDC992F05}"/>
              </a:ext>
            </a:extLst>
          </p:cNvPr>
          <p:cNvSpPr>
            <a:spLocks noGrp="1"/>
          </p:cNvSpPr>
          <p:nvPr>
            <p:ph idx="1"/>
          </p:nvPr>
        </p:nvSpPr>
        <p:spPr>
          <a:xfrm>
            <a:off x="838200" y="1825624"/>
            <a:ext cx="10515600" cy="4803776"/>
          </a:xfrm>
        </p:spPr>
        <p:txBody>
          <a:bodyPr>
            <a:normAutofit fontScale="70000" lnSpcReduction="20000"/>
          </a:bodyPr>
          <a:lstStyle/>
          <a:p>
            <a:r>
              <a:rPr lang="fr-FR" dirty="0"/>
              <a:t>CentOS, </a:t>
            </a:r>
            <a:r>
              <a:rPr lang="fr-FR" dirty="0" err="1"/>
              <a:t>AlmaLinux</a:t>
            </a:r>
            <a:r>
              <a:rPr lang="fr-FR" dirty="0"/>
              <a:t>, or Ubuntu </a:t>
            </a:r>
            <a:r>
              <a:rPr lang="fr-FR" dirty="0" err="1"/>
              <a:t>virtual</a:t>
            </a:r>
            <a:r>
              <a:rPr lang="fr-FR" dirty="0"/>
              <a:t> machine</a:t>
            </a:r>
          </a:p>
          <a:p>
            <a:pPr marL="514350" indent="-514350">
              <a:buFont typeface="+mj-lt"/>
              <a:buAutoNum type="arabicPeriod"/>
            </a:pPr>
            <a:r>
              <a:rPr lang="en-US" dirty="0"/>
              <a:t>For Ubuntu only, install the </a:t>
            </a:r>
            <a:r>
              <a:rPr lang="en-US" dirty="0" err="1"/>
              <a:t>libpam-pwquality</a:t>
            </a:r>
            <a:r>
              <a:rPr lang="en-US" dirty="0"/>
              <a:t> package:</a:t>
            </a:r>
          </a:p>
          <a:p>
            <a:pPr lvl="1"/>
            <a:r>
              <a:rPr lang="fr-FR" dirty="0" err="1"/>
              <a:t>sudo</a:t>
            </a:r>
            <a:r>
              <a:rPr lang="fr-FR" dirty="0"/>
              <a:t> </a:t>
            </a:r>
            <a:r>
              <a:rPr lang="fr-FR" dirty="0" err="1"/>
              <a:t>apt</a:t>
            </a:r>
            <a:r>
              <a:rPr lang="fr-FR" dirty="0"/>
              <a:t> </a:t>
            </a:r>
            <a:r>
              <a:rPr lang="fr-FR" dirty="0" err="1"/>
              <a:t>install</a:t>
            </a:r>
            <a:r>
              <a:rPr lang="fr-FR" dirty="0"/>
              <a:t> </a:t>
            </a:r>
            <a:r>
              <a:rPr lang="fr-FR" dirty="0" err="1"/>
              <a:t>libpam-pwquality</a:t>
            </a:r>
            <a:endParaRPr lang="fr-FR" dirty="0"/>
          </a:p>
          <a:p>
            <a:pPr marL="514350" indent="-514350" algn="just">
              <a:buFont typeface="+mj-lt"/>
              <a:buAutoNum type="arabicPeriod"/>
            </a:pPr>
            <a:r>
              <a:rPr lang="en-US" dirty="0"/>
              <a:t>Open the /</a:t>
            </a:r>
            <a:r>
              <a:rPr lang="en-US" dirty="0" err="1"/>
              <a:t>etc</a:t>
            </a:r>
            <a:r>
              <a:rPr lang="en-US" dirty="0"/>
              <a:t>/security/</a:t>
            </a:r>
            <a:r>
              <a:rPr lang="en-US" dirty="0" err="1"/>
              <a:t>pwquality.conf</a:t>
            </a:r>
            <a:r>
              <a:rPr lang="en-US" dirty="0"/>
              <a:t> file in your preferred text editor. Remove the comment symbol from in front of the </a:t>
            </a:r>
            <a:r>
              <a:rPr lang="en-US" dirty="0" err="1"/>
              <a:t>minlen</a:t>
            </a:r>
            <a:r>
              <a:rPr lang="en-US" dirty="0"/>
              <a:t> line and change the value to 19. It should now look like this:</a:t>
            </a:r>
          </a:p>
          <a:p>
            <a:pPr lvl="1"/>
            <a:r>
              <a:rPr lang="en-US" dirty="0" err="1"/>
              <a:t>minlen</a:t>
            </a:r>
            <a:r>
              <a:rPr lang="en-US" dirty="0"/>
              <a:t> = 19</a:t>
            </a:r>
          </a:p>
          <a:p>
            <a:pPr marL="514350" indent="-514350">
              <a:buFont typeface="+mj-lt"/>
              <a:buAutoNum type="arabicPeriod"/>
            </a:pPr>
            <a:r>
              <a:rPr lang="en-US" dirty="0"/>
              <a:t>Save the file and exit the editor.</a:t>
            </a:r>
          </a:p>
          <a:p>
            <a:pPr marL="514350" indent="-514350" algn="just">
              <a:buFont typeface="+mj-lt"/>
              <a:buAutoNum type="arabicPeriod"/>
            </a:pPr>
            <a:r>
              <a:rPr lang="en-US" dirty="0"/>
              <a:t>Create a user account for Goldie and attempt to assign her the passwords </a:t>
            </a:r>
            <a:r>
              <a:rPr lang="en-US" dirty="0" err="1"/>
              <a:t>turkeylips</a:t>
            </a:r>
            <a:r>
              <a:rPr lang="en-US" dirty="0"/>
              <a:t>, </a:t>
            </a:r>
            <a:r>
              <a:rPr lang="en-US" dirty="0" err="1"/>
              <a:t>TurkeyLips</a:t>
            </a:r>
            <a:r>
              <a:rPr lang="en-US" dirty="0"/>
              <a:t>, and Turkey93Lips. Note the change in each warning message.</a:t>
            </a:r>
          </a:p>
          <a:p>
            <a:pPr marL="514350" indent="-514350" algn="just">
              <a:buFont typeface="+mj-lt"/>
              <a:buAutoNum type="arabicPeriod"/>
            </a:pPr>
            <a:r>
              <a:rPr lang="en-US" dirty="0"/>
              <a:t>In the </a:t>
            </a:r>
            <a:r>
              <a:rPr lang="en-US" dirty="0" err="1"/>
              <a:t>pwquality.conf</a:t>
            </a:r>
            <a:r>
              <a:rPr lang="en-US" dirty="0"/>
              <a:t> file, comment out the </a:t>
            </a:r>
            <a:r>
              <a:rPr lang="en-US" dirty="0" err="1"/>
              <a:t>minlen</a:t>
            </a:r>
            <a:r>
              <a:rPr lang="en-US" dirty="0"/>
              <a:t> line. Uncomment the </a:t>
            </a:r>
            <a:r>
              <a:rPr lang="en-US" dirty="0" err="1"/>
              <a:t>minclass</a:t>
            </a:r>
            <a:r>
              <a:rPr lang="en-US" dirty="0"/>
              <a:t> line and the </a:t>
            </a:r>
            <a:r>
              <a:rPr lang="en-US" dirty="0" err="1"/>
              <a:t>maxclassrepeat</a:t>
            </a:r>
            <a:r>
              <a:rPr lang="en-US" dirty="0"/>
              <a:t> line. Change the </a:t>
            </a:r>
            <a:r>
              <a:rPr lang="en-US" dirty="0" err="1"/>
              <a:t>maxclassrepeat</a:t>
            </a:r>
            <a:r>
              <a:rPr lang="en-US" dirty="0"/>
              <a:t> value to 5. The lines should now look like this:</a:t>
            </a:r>
          </a:p>
          <a:p>
            <a:pPr lvl="1" algn="just"/>
            <a:r>
              <a:rPr lang="fr-FR" dirty="0" err="1"/>
              <a:t>minclass</a:t>
            </a:r>
            <a:r>
              <a:rPr lang="fr-FR" dirty="0"/>
              <a:t> = 3</a:t>
            </a:r>
          </a:p>
          <a:p>
            <a:pPr lvl="1" algn="just"/>
            <a:r>
              <a:rPr lang="fr-FR" dirty="0" err="1"/>
              <a:t>maxclassrepeat</a:t>
            </a:r>
            <a:r>
              <a:rPr lang="fr-FR" dirty="0"/>
              <a:t> = 5</a:t>
            </a:r>
          </a:p>
          <a:p>
            <a:pPr marL="514350" indent="-514350" algn="just">
              <a:buFont typeface="+mj-lt"/>
              <a:buAutoNum type="arabicPeriod"/>
            </a:pPr>
            <a:r>
              <a:rPr lang="en-US" dirty="0"/>
              <a:t>Save the file and exit the text editor.</a:t>
            </a:r>
          </a:p>
          <a:p>
            <a:pPr marL="514350" indent="-514350" algn="just">
              <a:buFont typeface="+mj-lt"/>
              <a:buAutoNum type="arabicPeriod"/>
            </a:pPr>
            <a:r>
              <a:rPr lang="en-US" dirty="0"/>
              <a:t>Try assigning various passwords that do not meet the complexity criteria that you’ve set to Goldie’s account and view the results.</a:t>
            </a:r>
            <a:endParaRPr lang="fr-FR" dirty="0"/>
          </a:p>
        </p:txBody>
      </p:sp>
    </p:spTree>
    <p:extLst>
      <p:ext uri="{BB962C8B-B14F-4D97-AF65-F5344CB8AC3E}">
        <p14:creationId xmlns:p14="http://schemas.microsoft.com/office/powerpoint/2010/main" val="2456481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5</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4236547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4E141A-A6A6-44C9-D439-1DE20AAE90FC}"/>
              </a:ext>
            </a:extLst>
          </p:cNvPr>
          <p:cNvSpPr>
            <a:spLocks noGrp="1"/>
          </p:cNvSpPr>
          <p:nvPr>
            <p:ph type="title"/>
          </p:nvPr>
        </p:nvSpPr>
        <p:spPr/>
        <p:txBody>
          <a:bodyPr/>
          <a:lstStyle/>
          <a:p>
            <a:r>
              <a:rPr lang="en-US" b="1" dirty="0"/>
              <a:t>Hands-on lab for setting account and password expiry data</a:t>
            </a:r>
            <a:endParaRPr lang="fr-FR" b="1" dirty="0"/>
          </a:p>
        </p:txBody>
      </p:sp>
      <p:sp>
        <p:nvSpPr>
          <p:cNvPr id="5" name="Content Placeholder 4">
            <a:extLst>
              <a:ext uri="{FF2B5EF4-FFF2-40B4-BE49-F238E27FC236}">
                <a16:creationId xmlns:a16="http://schemas.microsoft.com/office/drawing/2014/main" id="{5DD98EDD-2E6A-FBC3-3A63-23BEC59E20E7}"/>
              </a:ext>
            </a:extLst>
          </p:cNvPr>
          <p:cNvSpPr>
            <a:spLocks noGrp="1"/>
          </p:cNvSpPr>
          <p:nvPr>
            <p:ph idx="1"/>
          </p:nvPr>
        </p:nvSpPr>
        <p:spPr>
          <a:xfrm>
            <a:off x="838200" y="1825625"/>
            <a:ext cx="10515600" cy="4868070"/>
          </a:xfrm>
        </p:spPr>
        <p:txBody>
          <a:bodyPr>
            <a:normAutofit fontScale="77500" lnSpcReduction="20000"/>
          </a:bodyPr>
          <a:lstStyle/>
          <a:p>
            <a:pPr marL="514350" indent="-514350">
              <a:buFont typeface="+mj-lt"/>
              <a:buAutoNum type="arabicPeriod"/>
            </a:pPr>
            <a:r>
              <a:rPr lang="en-US" dirty="0"/>
              <a:t>On your CentOS or </a:t>
            </a:r>
            <a:r>
              <a:rPr lang="en-US" dirty="0" err="1"/>
              <a:t>AlmaLinux</a:t>
            </a:r>
            <a:r>
              <a:rPr lang="en-US" dirty="0"/>
              <a:t> VM, create a user account for Samson with the expiration date of June 30, 2025, and view the results:</a:t>
            </a:r>
          </a:p>
          <a:p>
            <a:pPr lvl="1"/>
            <a:r>
              <a:rPr lang="fr-FR" dirty="0" err="1"/>
              <a:t>sudo</a:t>
            </a:r>
            <a:r>
              <a:rPr lang="fr-FR" dirty="0"/>
              <a:t> </a:t>
            </a:r>
            <a:r>
              <a:rPr lang="fr-FR" dirty="0" err="1"/>
              <a:t>useradd</a:t>
            </a:r>
            <a:r>
              <a:rPr lang="fr-FR" dirty="0"/>
              <a:t> -e 2025-06-30 </a:t>
            </a:r>
            <a:r>
              <a:rPr lang="fr-FR" dirty="0" err="1"/>
              <a:t>samson</a:t>
            </a:r>
            <a:endParaRPr lang="fr-FR" dirty="0"/>
          </a:p>
          <a:p>
            <a:pPr lvl="1"/>
            <a:r>
              <a:rPr lang="fr-FR" dirty="0" err="1"/>
              <a:t>sudo</a:t>
            </a:r>
            <a:r>
              <a:rPr lang="fr-FR" dirty="0"/>
              <a:t> </a:t>
            </a:r>
            <a:r>
              <a:rPr lang="fr-FR" dirty="0" err="1"/>
              <a:t>chage</a:t>
            </a:r>
            <a:r>
              <a:rPr lang="fr-FR" dirty="0"/>
              <a:t> -l </a:t>
            </a:r>
            <a:r>
              <a:rPr lang="fr-FR" dirty="0" err="1"/>
              <a:t>samson</a:t>
            </a:r>
            <a:endParaRPr lang="fr-FR" dirty="0"/>
          </a:p>
          <a:p>
            <a:pPr marL="514350" indent="-514350">
              <a:buFont typeface="+mj-lt"/>
              <a:buAutoNum type="arabicPeriod"/>
            </a:pPr>
            <a:r>
              <a:rPr lang="en-US" dirty="0"/>
              <a:t>For Ubuntu, run these commands:</a:t>
            </a:r>
          </a:p>
          <a:p>
            <a:pPr lvl="1"/>
            <a:r>
              <a:rPr lang="fr-FR" dirty="0" err="1"/>
              <a:t>sudo</a:t>
            </a:r>
            <a:r>
              <a:rPr lang="fr-FR" dirty="0"/>
              <a:t> </a:t>
            </a:r>
            <a:r>
              <a:rPr lang="fr-FR" dirty="0" err="1"/>
              <a:t>useradd</a:t>
            </a:r>
            <a:r>
              <a:rPr lang="fr-FR" dirty="0"/>
              <a:t> -m -d /home/</a:t>
            </a:r>
            <a:r>
              <a:rPr lang="fr-FR" dirty="0" err="1"/>
              <a:t>samson</a:t>
            </a:r>
            <a:r>
              <a:rPr lang="fr-FR" dirty="0"/>
              <a:t> -s /bin/</a:t>
            </a:r>
            <a:r>
              <a:rPr lang="fr-FR" dirty="0" err="1"/>
              <a:t>bash</a:t>
            </a:r>
            <a:r>
              <a:rPr lang="fr-FR" dirty="0"/>
              <a:t> -e 2025-06-30 </a:t>
            </a:r>
            <a:r>
              <a:rPr lang="fr-FR" dirty="0" err="1"/>
              <a:t>samson</a:t>
            </a:r>
            <a:endParaRPr lang="fr-FR" dirty="0"/>
          </a:p>
          <a:p>
            <a:pPr lvl="1"/>
            <a:r>
              <a:rPr lang="fr-FR" dirty="0" err="1"/>
              <a:t>sudo</a:t>
            </a:r>
            <a:r>
              <a:rPr lang="fr-FR" dirty="0"/>
              <a:t> </a:t>
            </a:r>
            <a:r>
              <a:rPr lang="fr-FR" dirty="0" err="1"/>
              <a:t>chage</a:t>
            </a:r>
            <a:r>
              <a:rPr lang="fr-FR" dirty="0"/>
              <a:t> -l </a:t>
            </a:r>
            <a:r>
              <a:rPr lang="fr-FR" dirty="0" err="1"/>
              <a:t>samson</a:t>
            </a:r>
            <a:endParaRPr lang="fr-FR" dirty="0"/>
          </a:p>
          <a:p>
            <a:pPr marL="514350" indent="-514350">
              <a:buFont typeface="+mj-lt"/>
              <a:buAutoNum type="arabicPeriod"/>
            </a:pPr>
            <a:r>
              <a:rPr lang="en-US" dirty="0"/>
              <a:t>Use </a:t>
            </a:r>
            <a:r>
              <a:rPr lang="en-US" dirty="0" err="1"/>
              <a:t>usermod</a:t>
            </a:r>
            <a:r>
              <a:rPr lang="en-US" dirty="0"/>
              <a:t> to change Samson’s account expiration date to July 31, 2025:</a:t>
            </a:r>
          </a:p>
          <a:p>
            <a:pPr lvl="1"/>
            <a:r>
              <a:rPr lang="da-DK" dirty="0"/>
              <a:t>sudo usermod -e 2025-07-31 samson</a:t>
            </a:r>
          </a:p>
          <a:p>
            <a:pPr lvl="1"/>
            <a:r>
              <a:rPr lang="da-DK" dirty="0"/>
              <a:t>sudo chage -l samson</a:t>
            </a:r>
          </a:p>
          <a:p>
            <a:pPr marL="514350" indent="-514350">
              <a:buFont typeface="+mj-lt"/>
              <a:buAutoNum type="arabicPeriod"/>
            </a:pPr>
            <a:r>
              <a:rPr lang="en-US" dirty="0"/>
              <a:t>Assign a password to Samson’s account, then force him to change his password on his first login. Log in as Samson, change his password, then log in to your own account:</a:t>
            </a:r>
          </a:p>
          <a:p>
            <a:pPr lvl="1"/>
            <a:r>
              <a:rPr lang="fr-FR" dirty="0" err="1"/>
              <a:t>sudo</a:t>
            </a:r>
            <a:r>
              <a:rPr lang="fr-FR" dirty="0"/>
              <a:t> </a:t>
            </a:r>
            <a:r>
              <a:rPr lang="fr-FR" dirty="0" err="1"/>
              <a:t>passwd</a:t>
            </a:r>
            <a:r>
              <a:rPr lang="fr-FR" dirty="0"/>
              <a:t> </a:t>
            </a:r>
            <a:r>
              <a:rPr lang="fr-FR" dirty="0" err="1"/>
              <a:t>samson</a:t>
            </a:r>
            <a:endParaRPr lang="fr-FR" dirty="0"/>
          </a:p>
          <a:p>
            <a:pPr lvl="1"/>
            <a:r>
              <a:rPr lang="fr-FR" dirty="0" err="1"/>
              <a:t>sudo</a:t>
            </a:r>
            <a:r>
              <a:rPr lang="fr-FR" dirty="0"/>
              <a:t> </a:t>
            </a:r>
            <a:r>
              <a:rPr lang="fr-FR" dirty="0" err="1"/>
              <a:t>passwd</a:t>
            </a:r>
            <a:r>
              <a:rPr lang="fr-FR" dirty="0"/>
              <a:t> -e </a:t>
            </a:r>
            <a:r>
              <a:rPr lang="fr-FR" dirty="0" err="1"/>
              <a:t>samson</a:t>
            </a:r>
            <a:endParaRPr lang="fr-FR" dirty="0"/>
          </a:p>
          <a:p>
            <a:pPr lvl="1"/>
            <a:r>
              <a:rPr lang="fr-FR" dirty="0" err="1"/>
              <a:t>sudo</a:t>
            </a:r>
            <a:r>
              <a:rPr lang="fr-FR" dirty="0"/>
              <a:t> </a:t>
            </a:r>
            <a:r>
              <a:rPr lang="fr-FR" dirty="0" err="1"/>
              <a:t>chage</a:t>
            </a:r>
            <a:r>
              <a:rPr lang="fr-FR" dirty="0"/>
              <a:t> -l </a:t>
            </a:r>
            <a:r>
              <a:rPr lang="fr-FR" dirty="0" err="1"/>
              <a:t>samson</a:t>
            </a:r>
            <a:endParaRPr lang="fr-FR" dirty="0"/>
          </a:p>
          <a:p>
            <a:pPr lvl="1"/>
            <a:r>
              <a:rPr lang="fr-FR" dirty="0"/>
              <a:t>su - </a:t>
            </a:r>
            <a:r>
              <a:rPr lang="fr-FR" dirty="0" err="1"/>
              <a:t>samson</a:t>
            </a:r>
            <a:endParaRPr lang="fr-FR" dirty="0"/>
          </a:p>
          <a:p>
            <a:pPr lvl="1"/>
            <a:r>
              <a:rPr lang="fr-FR" dirty="0"/>
              <a:t>exit</a:t>
            </a:r>
          </a:p>
        </p:txBody>
      </p:sp>
    </p:spTree>
    <p:extLst>
      <p:ext uri="{BB962C8B-B14F-4D97-AF65-F5344CB8AC3E}">
        <p14:creationId xmlns:p14="http://schemas.microsoft.com/office/powerpoint/2010/main" val="2635015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4E141A-A6A6-44C9-D439-1DE20AAE90FC}"/>
              </a:ext>
            </a:extLst>
          </p:cNvPr>
          <p:cNvSpPr>
            <a:spLocks noGrp="1"/>
          </p:cNvSpPr>
          <p:nvPr>
            <p:ph type="title"/>
          </p:nvPr>
        </p:nvSpPr>
        <p:spPr/>
        <p:txBody>
          <a:bodyPr/>
          <a:lstStyle/>
          <a:p>
            <a:r>
              <a:rPr lang="en-US" b="1" dirty="0"/>
              <a:t>Hands-on lab for setting account and password expiry data</a:t>
            </a:r>
            <a:endParaRPr lang="fr-FR" b="1" dirty="0"/>
          </a:p>
        </p:txBody>
      </p:sp>
      <p:sp>
        <p:nvSpPr>
          <p:cNvPr id="5" name="Content Placeholder 4">
            <a:extLst>
              <a:ext uri="{FF2B5EF4-FFF2-40B4-BE49-F238E27FC236}">
                <a16:creationId xmlns:a16="http://schemas.microsoft.com/office/drawing/2014/main" id="{5DD98EDD-2E6A-FBC3-3A63-23BEC59E20E7}"/>
              </a:ext>
            </a:extLst>
          </p:cNvPr>
          <p:cNvSpPr>
            <a:spLocks noGrp="1"/>
          </p:cNvSpPr>
          <p:nvPr>
            <p:ph idx="1"/>
          </p:nvPr>
        </p:nvSpPr>
        <p:spPr>
          <a:xfrm>
            <a:off x="838200" y="1825625"/>
            <a:ext cx="10515600" cy="4868070"/>
          </a:xfrm>
        </p:spPr>
        <p:txBody>
          <a:bodyPr>
            <a:normAutofit/>
          </a:bodyPr>
          <a:lstStyle/>
          <a:p>
            <a:pPr marL="0" indent="0">
              <a:buNone/>
            </a:pPr>
            <a:r>
              <a:rPr lang="en-US" dirty="0"/>
              <a:t>5. Use </a:t>
            </a:r>
            <a:r>
              <a:rPr lang="en-US" dirty="0" err="1"/>
              <a:t>chage</a:t>
            </a:r>
            <a:r>
              <a:rPr lang="en-US" dirty="0"/>
              <a:t> to set a five-day waiting period for changing passwords, a password expiration period of 90 days, an inactivity period of two days, and a warning period of five days:</a:t>
            </a:r>
          </a:p>
          <a:p>
            <a:pPr lvl="1"/>
            <a:r>
              <a:rPr lang="en-US" dirty="0" err="1"/>
              <a:t>sudo</a:t>
            </a:r>
            <a:r>
              <a:rPr lang="en-US" dirty="0"/>
              <a:t> </a:t>
            </a:r>
            <a:r>
              <a:rPr lang="en-US" dirty="0" err="1"/>
              <a:t>chage</a:t>
            </a:r>
            <a:r>
              <a:rPr lang="en-US" dirty="0"/>
              <a:t> -m 5 -M 90 -I 2 -W 5 samson</a:t>
            </a:r>
          </a:p>
          <a:p>
            <a:pPr lvl="1"/>
            <a:r>
              <a:rPr lang="en-US" dirty="0" err="1"/>
              <a:t>sudo</a:t>
            </a:r>
            <a:r>
              <a:rPr lang="en-US" dirty="0"/>
              <a:t> </a:t>
            </a:r>
            <a:r>
              <a:rPr lang="en-US" dirty="0" err="1"/>
              <a:t>chage</a:t>
            </a:r>
            <a:r>
              <a:rPr lang="en-US" dirty="0"/>
              <a:t> -l samson</a:t>
            </a:r>
          </a:p>
          <a:p>
            <a:pPr marL="971550" lvl="1" indent="-514350">
              <a:buFont typeface="+mj-lt"/>
              <a:buAutoNum type="arabicPeriod"/>
            </a:pPr>
            <a:endParaRPr lang="fr-FR" dirty="0"/>
          </a:p>
        </p:txBody>
      </p:sp>
    </p:spTree>
    <p:extLst>
      <p:ext uri="{BB962C8B-B14F-4D97-AF65-F5344CB8AC3E}">
        <p14:creationId xmlns:p14="http://schemas.microsoft.com/office/powerpoint/2010/main" val="991947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6</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608214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2D17-77F2-500A-F87D-E05036C1DBA6}"/>
              </a:ext>
            </a:extLst>
          </p:cNvPr>
          <p:cNvSpPr>
            <a:spLocks noGrp="1"/>
          </p:cNvSpPr>
          <p:nvPr>
            <p:ph type="title"/>
          </p:nvPr>
        </p:nvSpPr>
        <p:spPr/>
        <p:txBody>
          <a:bodyPr/>
          <a:lstStyle/>
          <a:p>
            <a:r>
              <a:rPr lang="en-US" b="1" dirty="0"/>
              <a:t>Hands-on lab for detecting compromised passwords</a:t>
            </a:r>
            <a:endParaRPr lang="fr-FR" b="1" dirty="0"/>
          </a:p>
        </p:txBody>
      </p:sp>
      <p:sp>
        <p:nvSpPr>
          <p:cNvPr id="3" name="Content Placeholder 2">
            <a:extLst>
              <a:ext uri="{FF2B5EF4-FFF2-40B4-BE49-F238E27FC236}">
                <a16:creationId xmlns:a16="http://schemas.microsoft.com/office/drawing/2014/main" id="{09D43ED8-3B5A-A240-87DB-BF9F165084E6}"/>
              </a:ext>
            </a:extLst>
          </p:cNvPr>
          <p:cNvSpPr>
            <a:spLocks noGrp="1"/>
          </p:cNvSpPr>
          <p:nvPr>
            <p:ph idx="1"/>
          </p:nvPr>
        </p:nvSpPr>
        <p:spPr/>
        <p:txBody>
          <a:bodyPr>
            <a:normAutofit fontScale="85000" lnSpcReduction="20000"/>
          </a:bodyPr>
          <a:lstStyle/>
          <a:p>
            <a:r>
              <a:rPr lang="en-US" dirty="0"/>
              <a:t>In this lab, you’ll use the </a:t>
            </a:r>
            <a:r>
              <a:rPr lang="en-US" dirty="0" err="1"/>
              <a:t>pwnedpasswords</a:t>
            </a:r>
            <a:r>
              <a:rPr lang="en-US" dirty="0"/>
              <a:t> API in order to check your own passwords.</a:t>
            </a:r>
          </a:p>
          <a:p>
            <a:pPr marL="514350" indent="-514350" algn="just">
              <a:buFont typeface="+mj-lt"/>
              <a:buAutoNum type="arabicPeriod"/>
            </a:pPr>
            <a:r>
              <a:rPr lang="en-US" dirty="0"/>
              <a:t>Use curl to see how many passwords there are with the 21BD1 string in their password hashes:</a:t>
            </a:r>
          </a:p>
          <a:p>
            <a:pPr marL="0" indent="0" algn="just">
              <a:buNone/>
            </a:pPr>
            <a:r>
              <a:rPr lang="en-US" dirty="0"/>
              <a:t>	curl </a:t>
            </a:r>
            <a:r>
              <a:rPr lang="en-US" dirty="0">
                <a:hlinkClick r:id="rId2"/>
              </a:rPr>
              <a:t>https://api.pwnedpasswords.com/range/21BD1</a:t>
            </a:r>
            <a:endParaRPr lang="en-US" dirty="0"/>
          </a:p>
          <a:p>
            <a:pPr marL="0" indent="0" algn="just">
              <a:buNone/>
            </a:pPr>
            <a:r>
              <a:rPr lang="en-US" dirty="0"/>
              <a:t>2. In the home directory of any of your Linux virtual machines, paste the pwnpassword.sh script provided by the lecturer</a:t>
            </a:r>
          </a:p>
          <a:p>
            <a:pPr marL="0" indent="0" algn="just">
              <a:buNone/>
            </a:pPr>
            <a:r>
              <a:rPr lang="en-US" dirty="0"/>
              <a:t>3. Add the executable permission to the script:</a:t>
            </a:r>
          </a:p>
          <a:p>
            <a:pPr marL="0" indent="0" algn="ctr">
              <a:buNone/>
            </a:pPr>
            <a:r>
              <a:rPr lang="fr-FR" dirty="0"/>
              <a:t>chmod </a:t>
            </a:r>
            <a:r>
              <a:rPr lang="fr-FR" dirty="0" err="1"/>
              <a:t>u+x</a:t>
            </a:r>
            <a:r>
              <a:rPr lang="fr-FR" dirty="0"/>
              <a:t> pwnedpasswords.sh</a:t>
            </a:r>
          </a:p>
          <a:p>
            <a:pPr marL="0" indent="0" algn="just">
              <a:buNone/>
            </a:pPr>
            <a:r>
              <a:rPr lang="fr-FR" dirty="0"/>
              <a:t>4. Run the script, </a:t>
            </a:r>
            <a:r>
              <a:rPr lang="fr-FR" dirty="0" err="1"/>
              <a:t>specifying</a:t>
            </a:r>
            <a:r>
              <a:rPr lang="fr-FR" dirty="0"/>
              <a:t> </a:t>
            </a:r>
            <a:r>
              <a:rPr lang="fr-FR" dirty="0" err="1"/>
              <a:t>TurkeyLips</a:t>
            </a:r>
            <a:r>
              <a:rPr lang="fr-FR" dirty="0"/>
              <a:t> as a </a:t>
            </a:r>
            <a:r>
              <a:rPr lang="fr-FR" dirty="0" err="1"/>
              <a:t>password</a:t>
            </a:r>
            <a:r>
              <a:rPr lang="fr-FR" dirty="0"/>
              <a:t>:</a:t>
            </a:r>
          </a:p>
          <a:p>
            <a:pPr marL="0" indent="0" algn="ctr">
              <a:buNone/>
            </a:pPr>
            <a:r>
              <a:rPr lang="fr-FR" dirty="0"/>
              <a:t>./pwnedpasswords.sh </a:t>
            </a:r>
            <a:r>
              <a:rPr lang="fr-FR" dirty="0" err="1"/>
              <a:t>TurkeyLips</a:t>
            </a:r>
            <a:endParaRPr lang="fr-FR" dirty="0"/>
          </a:p>
          <a:p>
            <a:pPr marL="0" indent="0">
              <a:buNone/>
            </a:pPr>
            <a:r>
              <a:rPr lang="en-US" dirty="0"/>
              <a:t>5. Repeat Step 4 as many times as you like, using a different password each time.</a:t>
            </a:r>
            <a:endParaRPr lang="fr-FR" dirty="0"/>
          </a:p>
        </p:txBody>
      </p:sp>
    </p:spTree>
    <p:extLst>
      <p:ext uri="{BB962C8B-B14F-4D97-AF65-F5344CB8AC3E}">
        <p14:creationId xmlns:p14="http://schemas.microsoft.com/office/powerpoint/2010/main" val="667234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7</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974341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24D32F-853F-72BB-8B6D-C2FFD85D04DC}"/>
              </a:ext>
            </a:extLst>
          </p:cNvPr>
          <p:cNvSpPr>
            <a:spLocks noGrp="1"/>
          </p:cNvSpPr>
          <p:nvPr>
            <p:ph type="title"/>
          </p:nvPr>
        </p:nvSpPr>
        <p:spPr/>
        <p:txBody>
          <a:bodyPr/>
          <a:lstStyle/>
          <a:p>
            <a:r>
              <a:rPr lang="en-US" dirty="0"/>
              <a:t>Hands-on lab for configuring pam_tally2</a:t>
            </a:r>
            <a:endParaRPr lang="fr-FR" dirty="0"/>
          </a:p>
        </p:txBody>
      </p:sp>
      <p:sp>
        <p:nvSpPr>
          <p:cNvPr id="5" name="Content Placeholder 4">
            <a:extLst>
              <a:ext uri="{FF2B5EF4-FFF2-40B4-BE49-F238E27FC236}">
                <a16:creationId xmlns:a16="http://schemas.microsoft.com/office/drawing/2014/main" id="{C2270CCB-F2F7-978F-42C3-15914474DAB0}"/>
              </a:ext>
            </a:extLst>
          </p:cNvPr>
          <p:cNvSpPr>
            <a:spLocks noGrp="1"/>
          </p:cNvSpPr>
          <p:nvPr>
            <p:ph idx="1"/>
          </p:nvPr>
        </p:nvSpPr>
        <p:spPr>
          <a:xfrm>
            <a:off x="838200" y="1825625"/>
            <a:ext cx="10984706" cy="4351338"/>
          </a:xfrm>
        </p:spPr>
        <p:txBody>
          <a:bodyPr>
            <a:normAutofit fontScale="92500" lnSpcReduction="10000"/>
          </a:bodyPr>
          <a:lstStyle/>
          <a:p>
            <a:r>
              <a:rPr lang="en-US" dirty="0"/>
              <a:t>CentOS 7</a:t>
            </a:r>
          </a:p>
          <a:p>
            <a:pPr algn="just"/>
            <a:r>
              <a:rPr lang="en-US" dirty="0"/>
              <a:t>1. Open the /</a:t>
            </a:r>
            <a:r>
              <a:rPr lang="en-US" dirty="0" err="1"/>
              <a:t>etc</a:t>
            </a:r>
            <a:r>
              <a:rPr lang="en-US" dirty="0"/>
              <a:t>/</a:t>
            </a:r>
            <a:r>
              <a:rPr lang="en-US" dirty="0" err="1"/>
              <a:t>pam.d</a:t>
            </a:r>
            <a:r>
              <a:rPr lang="en-US" dirty="0"/>
              <a:t>/login file for editing. Look for the line that invokes the </a:t>
            </a:r>
            <a:r>
              <a:rPr lang="en-US" dirty="0" err="1"/>
              <a:t>pam_securetty</a:t>
            </a:r>
            <a:r>
              <a:rPr lang="en-US" dirty="0"/>
              <a:t> module. (That should be around line 2.) Beneath that line, insert this line:</a:t>
            </a:r>
          </a:p>
          <a:p>
            <a:pPr marL="0" indent="0">
              <a:buNone/>
            </a:pPr>
            <a:r>
              <a:rPr lang="en-US" dirty="0"/>
              <a:t> auth required pam_tally2.so deny=4 </a:t>
            </a:r>
            <a:r>
              <a:rPr lang="en-US" dirty="0" err="1"/>
              <a:t>even_deny_root</a:t>
            </a:r>
            <a:r>
              <a:rPr lang="en-US" dirty="0"/>
              <a:t> </a:t>
            </a:r>
            <a:r>
              <a:rPr lang="en-US" dirty="0" err="1"/>
              <a:t>unlock_time</a:t>
            </a:r>
            <a:r>
              <a:rPr lang="en-US" dirty="0"/>
              <a:t>=1200</a:t>
            </a:r>
          </a:p>
          <a:p>
            <a:r>
              <a:rPr lang="en-US" dirty="0"/>
              <a:t>2. Save the file and exit the editor.</a:t>
            </a:r>
          </a:p>
          <a:p>
            <a:pPr algn="just"/>
            <a:r>
              <a:rPr lang="en-US" dirty="0"/>
              <a:t>3. Place the same line at the top of the /</a:t>
            </a:r>
            <a:r>
              <a:rPr lang="en-US" dirty="0" err="1"/>
              <a:t>etc</a:t>
            </a:r>
            <a:r>
              <a:rPr lang="en-US" dirty="0"/>
              <a:t>/</a:t>
            </a:r>
            <a:r>
              <a:rPr lang="en-US" dirty="0" err="1"/>
              <a:t>pam.d</a:t>
            </a:r>
            <a:r>
              <a:rPr lang="en-US" dirty="0"/>
              <a:t>/</a:t>
            </a:r>
            <a:r>
              <a:rPr lang="en-US" dirty="0" err="1"/>
              <a:t>password.auth</a:t>
            </a:r>
            <a:r>
              <a:rPr lang="en-US" dirty="0"/>
              <a:t> and /</a:t>
            </a:r>
            <a:r>
              <a:rPr lang="en-US" dirty="0" err="1"/>
              <a:t>etc</a:t>
            </a:r>
            <a:r>
              <a:rPr lang="en-US" dirty="0"/>
              <a:t>/</a:t>
            </a:r>
            <a:r>
              <a:rPr lang="en-US" dirty="0" err="1"/>
              <a:t>pam.d</a:t>
            </a:r>
            <a:r>
              <a:rPr lang="en-US" dirty="0"/>
              <a:t>/</a:t>
            </a:r>
            <a:r>
              <a:rPr lang="en-US" dirty="0" err="1"/>
              <a:t>system.auth</a:t>
            </a:r>
            <a:r>
              <a:rPr lang="en-US" dirty="0"/>
              <a:t> files, just above the first auth required line. (The comment at the top of these files says to not hand-edit them because running </a:t>
            </a:r>
            <a:r>
              <a:rPr lang="en-US" dirty="0" err="1"/>
              <a:t>authconfig</a:t>
            </a:r>
            <a:r>
              <a:rPr lang="en-US" dirty="0"/>
              <a:t> will destroy the edits. Unfortunately, you have to hand edit them, because </a:t>
            </a:r>
            <a:r>
              <a:rPr lang="en-US" dirty="0" err="1"/>
              <a:t>authconfig</a:t>
            </a:r>
            <a:r>
              <a:rPr lang="en-US" dirty="0"/>
              <a:t> won’t configure this for you.)</a:t>
            </a:r>
            <a:endParaRPr lang="fr-FR" dirty="0"/>
          </a:p>
        </p:txBody>
      </p:sp>
    </p:spTree>
    <p:extLst>
      <p:ext uri="{BB962C8B-B14F-4D97-AF65-F5344CB8AC3E}">
        <p14:creationId xmlns:p14="http://schemas.microsoft.com/office/powerpoint/2010/main" val="3890079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24D32F-853F-72BB-8B6D-C2FFD85D04DC}"/>
              </a:ext>
            </a:extLst>
          </p:cNvPr>
          <p:cNvSpPr>
            <a:spLocks noGrp="1"/>
          </p:cNvSpPr>
          <p:nvPr>
            <p:ph type="title"/>
          </p:nvPr>
        </p:nvSpPr>
        <p:spPr/>
        <p:txBody>
          <a:bodyPr/>
          <a:lstStyle/>
          <a:p>
            <a:r>
              <a:rPr lang="en-US" dirty="0"/>
              <a:t>Hands-on lab for configuring pam_tally2</a:t>
            </a:r>
            <a:endParaRPr lang="fr-FR" dirty="0"/>
          </a:p>
        </p:txBody>
      </p:sp>
      <p:sp>
        <p:nvSpPr>
          <p:cNvPr id="5" name="Content Placeholder 4">
            <a:extLst>
              <a:ext uri="{FF2B5EF4-FFF2-40B4-BE49-F238E27FC236}">
                <a16:creationId xmlns:a16="http://schemas.microsoft.com/office/drawing/2014/main" id="{C2270CCB-F2F7-978F-42C3-15914474DAB0}"/>
              </a:ext>
            </a:extLst>
          </p:cNvPr>
          <p:cNvSpPr>
            <a:spLocks noGrp="1"/>
          </p:cNvSpPr>
          <p:nvPr>
            <p:ph idx="1"/>
          </p:nvPr>
        </p:nvSpPr>
        <p:spPr>
          <a:xfrm>
            <a:off x="838200" y="1825625"/>
            <a:ext cx="10984706" cy="4351338"/>
          </a:xfrm>
        </p:spPr>
        <p:txBody>
          <a:bodyPr>
            <a:normAutofit fontScale="85000" lnSpcReduction="20000"/>
          </a:bodyPr>
          <a:lstStyle/>
          <a:p>
            <a:pPr algn="just"/>
            <a:r>
              <a:rPr lang="en-US" dirty="0"/>
              <a:t>4. For this step, you’ll need to log out of your own account because pam_tally2 doesn’t work with </a:t>
            </a:r>
            <a:r>
              <a:rPr lang="en-US" dirty="0" err="1"/>
              <a:t>su</a:t>
            </a:r>
            <a:r>
              <a:rPr lang="en-US" dirty="0"/>
              <a:t>. So log out and, while purposely using the wrong password, attempt to log in to the samson account that you created in the previous lab. Keep doing that until you see a message saying that the account is locked. Note that when the deny value is set to 4, it will actually take five failed login attempts to lock Samson out.</a:t>
            </a:r>
          </a:p>
          <a:p>
            <a:pPr algn="just"/>
            <a:r>
              <a:rPr lang="en-US" dirty="0"/>
              <a:t>5. Log back in to your own user account. Run this command and note the output:</a:t>
            </a:r>
          </a:p>
          <a:p>
            <a:pPr marL="0" indent="0" algn="just">
              <a:buNone/>
            </a:pPr>
            <a:r>
              <a:rPr lang="en-US" dirty="0"/>
              <a:t>                                       </a:t>
            </a:r>
            <a:r>
              <a:rPr lang="en-US" dirty="0" err="1"/>
              <a:t>sudo</a:t>
            </a:r>
            <a:r>
              <a:rPr lang="en-US" dirty="0"/>
              <a:t> pam_tally2</a:t>
            </a:r>
          </a:p>
          <a:p>
            <a:pPr algn="just"/>
            <a:r>
              <a:rPr lang="en-US" dirty="0"/>
              <a:t>6. For this step, you’ll simulate that you’re a help desk worker, and Samson has just called to request that you unlock his account. After verifying that you really are talking to the real Samson, enter the following two commands:</a:t>
            </a:r>
          </a:p>
          <a:p>
            <a:pPr marL="0" indent="0" algn="just">
              <a:buNone/>
            </a:pPr>
            <a:r>
              <a:rPr lang="en-US" dirty="0"/>
              <a:t>		</a:t>
            </a:r>
            <a:r>
              <a:rPr lang="en-US" dirty="0" err="1"/>
              <a:t>sudo</a:t>
            </a:r>
            <a:r>
              <a:rPr lang="en-US" dirty="0"/>
              <a:t> pam_tally2 --user=samson --reset</a:t>
            </a:r>
          </a:p>
          <a:p>
            <a:pPr marL="0" indent="0" algn="just">
              <a:buNone/>
            </a:pPr>
            <a:r>
              <a:rPr lang="en-US" dirty="0"/>
              <a:t>		</a:t>
            </a:r>
            <a:r>
              <a:rPr lang="en-US" dirty="0" err="1"/>
              <a:t>sudo</a:t>
            </a:r>
            <a:r>
              <a:rPr lang="en-US" dirty="0"/>
              <a:t> pam_tally2</a:t>
            </a:r>
            <a:endParaRPr lang="fr-FR" dirty="0"/>
          </a:p>
        </p:txBody>
      </p:sp>
    </p:spTree>
    <p:extLst>
      <p:ext uri="{BB962C8B-B14F-4D97-AF65-F5344CB8AC3E}">
        <p14:creationId xmlns:p14="http://schemas.microsoft.com/office/powerpoint/2010/main" val="3082633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24D32F-853F-72BB-8B6D-C2FFD85D04DC}"/>
              </a:ext>
            </a:extLst>
          </p:cNvPr>
          <p:cNvSpPr>
            <a:spLocks noGrp="1"/>
          </p:cNvSpPr>
          <p:nvPr>
            <p:ph type="title"/>
          </p:nvPr>
        </p:nvSpPr>
        <p:spPr/>
        <p:txBody>
          <a:bodyPr/>
          <a:lstStyle/>
          <a:p>
            <a:r>
              <a:rPr lang="en-US" dirty="0"/>
              <a:t>Hands-on lab for configuring pam_tally2</a:t>
            </a:r>
            <a:endParaRPr lang="fr-FR" dirty="0"/>
          </a:p>
        </p:txBody>
      </p:sp>
      <p:sp>
        <p:nvSpPr>
          <p:cNvPr id="5" name="Content Placeholder 4">
            <a:extLst>
              <a:ext uri="{FF2B5EF4-FFF2-40B4-BE49-F238E27FC236}">
                <a16:creationId xmlns:a16="http://schemas.microsoft.com/office/drawing/2014/main" id="{C2270CCB-F2F7-978F-42C3-15914474DAB0}"/>
              </a:ext>
            </a:extLst>
          </p:cNvPr>
          <p:cNvSpPr>
            <a:spLocks noGrp="1"/>
          </p:cNvSpPr>
          <p:nvPr>
            <p:ph idx="1"/>
          </p:nvPr>
        </p:nvSpPr>
        <p:spPr>
          <a:xfrm>
            <a:off x="838200" y="1825625"/>
            <a:ext cx="10984706" cy="4351338"/>
          </a:xfrm>
        </p:spPr>
        <p:txBody>
          <a:bodyPr>
            <a:normAutofit/>
          </a:bodyPr>
          <a:lstStyle/>
          <a:p>
            <a:pPr algn="just"/>
            <a:r>
              <a:rPr lang="en-US" sz="1800" b="0" i="0" u="none" strike="noStrike" baseline="0" dirty="0">
                <a:latin typeface="SourceSerif4-Regular"/>
              </a:rPr>
              <a:t>7. Now that you’ve seen how this works, open the </a:t>
            </a:r>
            <a:r>
              <a:rPr lang="en-US" sz="1800" b="0" i="0" u="none" strike="noStrike" baseline="0" dirty="0">
                <a:latin typeface="Consolas" panose="020B0609020204030204" pitchFamily="49" charset="0"/>
              </a:rPr>
              <a:t>/</a:t>
            </a:r>
            <a:r>
              <a:rPr lang="en-US" sz="1800" b="0" i="0" u="none" strike="noStrike" baseline="0" dirty="0" err="1">
                <a:latin typeface="Consolas" panose="020B0609020204030204" pitchFamily="49" charset="0"/>
              </a:rPr>
              <a:t>etc</a:t>
            </a:r>
            <a:r>
              <a:rPr lang="en-US" sz="1800" b="0" i="0" u="none" strike="noStrike" baseline="0" dirty="0">
                <a:latin typeface="Consolas" panose="020B0609020204030204" pitchFamily="49" charset="0"/>
              </a:rPr>
              <a:t>/</a:t>
            </a:r>
            <a:r>
              <a:rPr lang="en-US" sz="1800" b="0" i="0" u="none" strike="noStrike" baseline="0" dirty="0" err="1">
                <a:latin typeface="Consolas" panose="020B0609020204030204" pitchFamily="49" charset="0"/>
              </a:rPr>
              <a:t>pam.d</a:t>
            </a:r>
            <a:r>
              <a:rPr lang="en-US" sz="1800" b="0" i="0" u="none" strike="noStrike" baseline="0" dirty="0">
                <a:latin typeface="Consolas" panose="020B0609020204030204" pitchFamily="49" charset="0"/>
              </a:rPr>
              <a:t>/login </a:t>
            </a:r>
            <a:r>
              <a:rPr lang="en-US" sz="1800" b="0" i="0" u="none" strike="noStrike" baseline="0" dirty="0">
                <a:latin typeface="SourceSerif4-Regular"/>
              </a:rPr>
              <a:t>file for editing. Change the </a:t>
            </a:r>
            <a:r>
              <a:rPr lang="en-US" sz="1800" b="0" i="0" u="none" strike="noStrike" baseline="0" dirty="0">
                <a:latin typeface="Consolas" panose="020B0609020204030204" pitchFamily="49" charset="0"/>
              </a:rPr>
              <a:t>deny= </a:t>
            </a:r>
            <a:r>
              <a:rPr lang="en-US" sz="1800" b="0" i="0" u="none" strike="noStrike" baseline="0" dirty="0">
                <a:latin typeface="SourceSerif4-Regular"/>
              </a:rPr>
              <a:t>parameter from </a:t>
            </a:r>
            <a:r>
              <a:rPr lang="en-US" sz="1800" b="0" i="0" u="none" strike="noStrike" baseline="0" dirty="0">
                <a:latin typeface="Consolas" panose="020B0609020204030204" pitchFamily="49" charset="0"/>
              </a:rPr>
              <a:t>4 </a:t>
            </a:r>
            <a:r>
              <a:rPr lang="en-US" sz="1800" b="0" i="0" u="none" strike="noStrike" baseline="0" dirty="0">
                <a:latin typeface="SourceSerif4-Regular"/>
              </a:rPr>
              <a:t>to </a:t>
            </a:r>
            <a:r>
              <a:rPr lang="en-US" sz="1800" b="0" i="0" u="none" strike="noStrike" baseline="0" dirty="0">
                <a:latin typeface="Consolas" panose="020B0609020204030204" pitchFamily="49" charset="0"/>
              </a:rPr>
              <a:t>100 </a:t>
            </a:r>
            <a:r>
              <a:rPr lang="en-US" sz="1800" b="0" i="0" u="none" strike="noStrike" baseline="0" dirty="0">
                <a:latin typeface="SourceSerif4-Regular"/>
              </a:rPr>
              <a:t>and save the file. (This will make your configuration a bit more realistic in terms of modern security philosophy.)</a:t>
            </a:r>
            <a:endParaRPr lang="fr-FR" dirty="0"/>
          </a:p>
        </p:txBody>
      </p:sp>
    </p:spTree>
    <p:extLst>
      <p:ext uri="{BB962C8B-B14F-4D97-AF65-F5344CB8AC3E}">
        <p14:creationId xmlns:p14="http://schemas.microsoft.com/office/powerpoint/2010/main" val="2392570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8</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351380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fr-FR" dirty="0"/>
              <a:t>Distributed Identity Management</a:t>
            </a:r>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p:txBody>
          <a:bodyPr/>
          <a:lstStyle/>
          <a:p>
            <a:r>
              <a:rPr lang="fr-FR" dirty="0"/>
              <a:t>Install and configure the </a:t>
            </a:r>
            <a:r>
              <a:rPr lang="fr-FR" dirty="0" err="1"/>
              <a:t>following</a:t>
            </a:r>
            <a:r>
              <a:rPr lang="fr-FR" dirty="0"/>
              <a:t> </a:t>
            </a:r>
            <a:r>
              <a:rPr lang="fr-FR" dirty="0" err="1"/>
              <a:t>tools</a:t>
            </a:r>
            <a:endParaRPr lang="fr-FR" dirty="0"/>
          </a:p>
          <a:p>
            <a:pPr lvl="1"/>
            <a:r>
              <a:rPr lang="fr-FR" dirty="0" err="1"/>
              <a:t>FreeIPA</a:t>
            </a:r>
            <a:endParaRPr lang="fr-FR" dirty="0"/>
          </a:p>
          <a:p>
            <a:pPr lvl="1"/>
            <a:r>
              <a:rPr lang="en-US" dirty="0" err="1"/>
              <a:t>Adsys</a:t>
            </a:r>
            <a:endParaRPr lang="en-US" dirty="0"/>
          </a:p>
          <a:p>
            <a:pPr marL="457200" lvl="1" indent="0">
              <a:buNone/>
            </a:pPr>
            <a:endParaRPr lang="fr-FR" dirty="0"/>
          </a:p>
          <a:p>
            <a:pPr lvl="1"/>
            <a:endParaRPr lang="fr-FR" dirty="0"/>
          </a:p>
        </p:txBody>
      </p:sp>
    </p:spTree>
    <p:extLst>
      <p:ext uri="{BB962C8B-B14F-4D97-AF65-F5344CB8AC3E}">
        <p14:creationId xmlns:p14="http://schemas.microsoft.com/office/powerpoint/2010/main" val="48190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9</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563130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en-US" dirty="0"/>
              <a:t>searching for SUID and SGID files</a:t>
            </a:r>
            <a:endParaRPr lang="fr-FR" dirty="0"/>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a:xfrm>
            <a:off x="838200" y="1607344"/>
            <a:ext cx="10515600" cy="5186361"/>
          </a:xfrm>
        </p:spPr>
        <p:txBody>
          <a:bodyPr>
            <a:normAutofit fontScale="77500" lnSpcReduction="20000"/>
          </a:bodyPr>
          <a:lstStyle/>
          <a:p>
            <a:pPr marL="0" indent="0">
              <a:buNone/>
            </a:pPr>
            <a:r>
              <a:rPr lang="en-US" dirty="0"/>
              <a:t>1. Search through the entire filesystem for all the files that have either SUID or SGID set before saving the output to a text file:</a:t>
            </a:r>
          </a:p>
          <a:p>
            <a:pPr marL="0" indent="0">
              <a:buNone/>
            </a:pPr>
            <a:r>
              <a:rPr lang="en-US" dirty="0" err="1"/>
              <a:t>sudo</a:t>
            </a:r>
            <a:r>
              <a:rPr lang="en-US" dirty="0"/>
              <a:t> find / -type f -perm /6000 -ls &gt; suid_sgid_files.txt</a:t>
            </a:r>
          </a:p>
          <a:p>
            <a:pPr marL="0" indent="0">
              <a:buNone/>
            </a:pPr>
            <a:r>
              <a:rPr lang="en-US" dirty="0"/>
              <a:t>2. Log into any other user account that you have on the system and create a dummy shell script file. Then, set the SUID permission on that file and log back out and back into your own user account:</a:t>
            </a:r>
          </a:p>
          <a:p>
            <a:pPr marL="0" indent="0">
              <a:buNone/>
            </a:pPr>
            <a:r>
              <a:rPr lang="en-US" dirty="0"/>
              <a:t>	</a:t>
            </a:r>
            <a:r>
              <a:rPr lang="en-US" dirty="0" err="1"/>
              <a:t>su</a:t>
            </a:r>
            <a:r>
              <a:rPr lang="en-US" dirty="0"/>
              <a:t> - </a:t>
            </a:r>
            <a:r>
              <a:rPr lang="en-US" dirty="0" err="1"/>
              <a:t>desired_user_account</a:t>
            </a:r>
            <a:endParaRPr lang="en-US" dirty="0"/>
          </a:p>
          <a:p>
            <a:pPr marL="0" indent="0">
              <a:buNone/>
            </a:pPr>
            <a:r>
              <a:rPr lang="en-US" dirty="0"/>
              <a:t>	touch some_shell_script.sh</a:t>
            </a:r>
          </a:p>
          <a:p>
            <a:pPr marL="0" indent="0">
              <a:buNone/>
            </a:pPr>
            <a:r>
              <a:rPr lang="en-US" dirty="0"/>
              <a:t>	</a:t>
            </a:r>
            <a:r>
              <a:rPr lang="en-US" dirty="0" err="1"/>
              <a:t>chmod</a:t>
            </a:r>
            <a:r>
              <a:rPr lang="en-US" dirty="0"/>
              <a:t> 4755 some_shell_script.sh</a:t>
            </a:r>
          </a:p>
          <a:p>
            <a:pPr marL="0" indent="0">
              <a:buNone/>
            </a:pPr>
            <a:r>
              <a:rPr lang="en-US" dirty="0"/>
              <a:t>	ls -l some_shell_script.sh</a:t>
            </a:r>
          </a:p>
          <a:p>
            <a:pPr marL="0" indent="0">
              <a:buNone/>
            </a:pPr>
            <a:r>
              <a:rPr lang="en-US" dirty="0"/>
              <a:t>	exit</a:t>
            </a:r>
          </a:p>
          <a:p>
            <a:pPr marL="0" indent="0">
              <a:buNone/>
            </a:pPr>
            <a:r>
              <a:rPr lang="en-US" dirty="0"/>
              <a:t>3. Run the find command again, saving the output to a different text file:</a:t>
            </a:r>
          </a:p>
          <a:p>
            <a:pPr marL="0" indent="0">
              <a:buNone/>
            </a:pPr>
            <a:r>
              <a:rPr lang="en-US" dirty="0" err="1"/>
              <a:t>sudo</a:t>
            </a:r>
            <a:r>
              <a:rPr lang="en-US" dirty="0"/>
              <a:t> find / -type f -perm /6000 -ls &gt; suid_sgid_files_2.txt</a:t>
            </a:r>
          </a:p>
          <a:p>
            <a:pPr marL="0" indent="0">
              <a:buNone/>
            </a:pPr>
            <a:r>
              <a:rPr lang="en-US" dirty="0"/>
              <a:t>4. View the difference between the two files:</a:t>
            </a:r>
          </a:p>
          <a:p>
            <a:pPr marL="0" indent="0">
              <a:buNone/>
            </a:pPr>
            <a:r>
              <a:rPr lang="en-US" dirty="0"/>
              <a:t>diff suid_sgid_files.txt suid_sgid_files_2.txt</a:t>
            </a:r>
            <a:endParaRPr lang="fr-FR" dirty="0"/>
          </a:p>
        </p:txBody>
      </p:sp>
    </p:spTree>
    <p:extLst>
      <p:ext uri="{BB962C8B-B14F-4D97-AF65-F5344CB8AC3E}">
        <p14:creationId xmlns:p14="http://schemas.microsoft.com/office/powerpoint/2010/main" val="2519972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10</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924441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en-US" dirty="0"/>
              <a:t>searching for SUID and SGID files</a:t>
            </a:r>
            <a:endParaRPr lang="fr-FR" dirty="0"/>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a:xfrm>
            <a:off x="838200" y="1607344"/>
            <a:ext cx="10515600" cy="5186361"/>
          </a:xfrm>
        </p:spPr>
        <p:txBody>
          <a:bodyPr>
            <a:normAutofit/>
          </a:bodyPr>
          <a:lstStyle/>
          <a:p>
            <a:pPr marL="0" indent="0">
              <a:buNone/>
            </a:pPr>
            <a:r>
              <a:rPr lang="en-US" dirty="0"/>
              <a:t>For this lab, you’ll need to create a perm_demo.txt file with some text of your choice. You’ll set the </a:t>
            </a:r>
            <a:r>
              <a:rPr lang="en-US" dirty="0" err="1"/>
              <a:t>i</a:t>
            </a:r>
            <a:r>
              <a:rPr lang="en-US" dirty="0"/>
              <a:t> and a attributes and view the results. </a:t>
            </a:r>
          </a:p>
          <a:p>
            <a:pPr marL="0" indent="0">
              <a:buNone/>
            </a:pPr>
            <a:r>
              <a:rPr lang="en-US" dirty="0"/>
              <a:t>1. Using your preferred text editor, create the perm_demo.txt file with a line of text.</a:t>
            </a:r>
          </a:p>
          <a:p>
            <a:pPr marL="0" indent="0">
              <a:buNone/>
            </a:pPr>
            <a:r>
              <a:rPr lang="en-US" dirty="0"/>
              <a:t>2. View the extended attributes of the file:</a:t>
            </a:r>
          </a:p>
          <a:p>
            <a:pPr marL="0" indent="0">
              <a:buNone/>
            </a:pPr>
            <a:r>
              <a:rPr lang="fr-FR" dirty="0" err="1"/>
              <a:t>lsattr</a:t>
            </a:r>
            <a:r>
              <a:rPr lang="fr-FR" dirty="0"/>
              <a:t> perm_demo.txt</a:t>
            </a:r>
          </a:p>
          <a:p>
            <a:pPr marL="0" indent="0">
              <a:buNone/>
            </a:pPr>
            <a:r>
              <a:rPr lang="fr-FR" dirty="0"/>
              <a:t>3. </a:t>
            </a:r>
            <a:r>
              <a:rPr lang="fr-FR" dirty="0" err="1"/>
              <a:t>Add</a:t>
            </a:r>
            <a:r>
              <a:rPr lang="fr-FR" dirty="0"/>
              <a:t> the a </a:t>
            </a:r>
            <a:r>
              <a:rPr lang="fr-FR" dirty="0" err="1"/>
              <a:t>attribute</a:t>
            </a:r>
            <a:r>
              <a:rPr lang="fr-FR" dirty="0"/>
              <a:t>:</a:t>
            </a:r>
          </a:p>
          <a:p>
            <a:pPr marL="0" indent="0">
              <a:buNone/>
            </a:pPr>
            <a:r>
              <a:rPr lang="fr-FR" dirty="0" err="1"/>
              <a:t>sudo</a:t>
            </a:r>
            <a:r>
              <a:rPr lang="fr-FR" dirty="0"/>
              <a:t> </a:t>
            </a:r>
            <a:r>
              <a:rPr lang="fr-FR" dirty="0" err="1"/>
              <a:t>chattr</a:t>
            </a:r>
            <a:r>
              <a:rPr lang="fr-FR" dirty="0"/>
              <a:t> +a perm_demo.txt</a:t>
            </a:r>
          </a:p>
          <a:p>
            <a:pPr marL="0" indent="0">
              <a:buNone/>
            </a:pPr>
            <a:r>
              <a:rPr lang="fr-FR" dirty="0" err="1"/>
              <a:t>lsattr</a:t>
            </a:r>
            <a:r>
              <a:rPr lang="fr-FR" dirty="0"/>
              <a:t> perm_demo.txt</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1752338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en-US" dirty="0"/>
              <a:t>searching for SUID and SGID files</a:t>
            </a:r>
            <a:endParaRPr lang="fr-FR" dirty="0"/>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a:xfrm>
            <a:off x="838200" y="1607344"/>
            <a:ext cx="10515600" cy="5186361"/>
          </a:xfrm>
        </p:spPr>
        <p:txBody>
          <a:bodyPr>
            <a:normAutofit fontScale="92500" lnSpcReduction="20000"/>
          </a:bodyPr>
          <a:lstStyle/>
          <a:p>
            <a:pPr marL="0" indent="0">
              <a:buNone/>
            </a:pPr>
            <a:r>
              <a:rPr lang="fr-FR" dirty="0"/>
              <a:t>4. Try to </a:t>
            </a:r>
            <a:r>
              <a:rPr lang="fr-FR" dirty="0" err="1"/>
              <a:t>overwrite</a:t>
            </a:r>
            <a:r>
              <a:rPr lang="fr-FR" dirty="0"/>
              <a:t> and </a:t>
            </a:r>
            <a:r>
              <a:rPr lang="fr-FR" dirty="0" err="1"/>
              <a:t>delete</a:t>
            </a:r>
            <a:r>
              <a:rPr lang="fr-FR" dirty="0"/>
              <a:t> the file:</a:t>
            </a:r>
          </a:p>
          <a:p>
            <a:pPr marL="0" indent="0">
              <a:buNone/>
            </a:pPr>
            <a:r>
              <a:rPr lang="fr-FR" dirty="0" err="1"/>
              <a:t>echo</a:t>
            </a:r>
            <a:r>
              <a:rPr lang="fr-FR" dirty="0"/>
              <a:t> "I </a:t>
            </a:r>
            <a:r>
              <a:rPr lang="fr-FR" dirty="0" err="1"/>
              <a:t>want</a:t>
            </a:r>
            <a:r>
              <a:rPr lang="fr-FR" dirty="0"/>
              <a:t> to </a:t>
            </a:r>
            <a:r>
              <a:rPr lang="fr-FR" dirty="0" err="1"/>
              <a:t>overwrite</a:t>
            </a:r>
            <a:r>
              <a:rPr lang="fr-FR" dirty="0"/>
              <a:t> </a:t>
            </a:r>
            <a:r>
              <a:rPr lang="fr-FR" dirty="0" err="1"/>
              <a:t>this</a:t>
            </a:r>
            <a:r>
              <a:rPr lang="fr-FR" dirty="0"/>
              <a:t> file." &gt; perm_demo.txt</a:t>
            </a:r>
          </a:p>
          <a:p>
            <a:pPr marL="0" indent="0">
              <a:buNone/>
            </a:pPr>
            <a:r>
              <a:rPr lang="fr-FR" dirty="0" err="1"/>
              <a:t>sudo</a:t>
            </a:r>
            <a:r>
              <a:rPr lang="fr-FR" dirty="0"/>
              <a:t> </a:t>
            </a:r>
            <a:r>
              <a:rPr lang="fr-FR" dirty="0" err="1"/>
              <a:t>echo</a:t>
            </a:r>
            <a:r>
              <a:rPr lang="fr-FR" dirty="0"/>
              <a:t> "I </a:t>
            </a:r>
            <a:r>
              <a:rPr lang="fr-FR" dirty="0" err="1"/>
              <a:t>want</a:t>
            </a:r>
            <a:r>
              <a:rPr lang="fr-FR" dirty="0"/>
              <a:t> to </a:t>
            </a:r>
            <a:r>
              <a:rPr lang="fr-FR" dirty="0" err="1"/>
              <a:t>overwrite</a:t>
            </a:r>
            <a:r>
              <a:rPr lang="fr-FR" dirty="0"/>
              <a:t> </a:t>
            </a:r>
            <a:r>
              <a:rPr lang="fr-FR" dirty="0" err="1"/>
              <a:t>this</a:t>
            </a:r>
            <a:r>
              <a:rPr lang="fr-FR" dirty="0"/>
              <a:t> file." &gt; perm_demo.txt</a:t>
            </a:r>
          </a:p>
          <a:p>
            <a:pPr marL="0" indent="0">
              <a:buNone/>
            </a:pPr>
            <a:r>
              <a:rPr lang="fr-FR" dirty="0" err="1"/>
              <a:t>rm</a:t>
            </a:r>
            <a:r>
              <a:rPr lang="fr-FR" dirty="0"/>
              <a:t> perm_demo.txt</a:t>
            </a:r>
          </a:p>
          <a:p>
            <a:pPr marL="0" indent="0">
              <a:buNone/>
            </a:pPr>
            <a:r>
              <a:rPr lang="fr-FR" dirty="0" err="1"/>
              <a:t>sudo</a:t>
            </a:r>
            <a:r>
              <a:rPr lang="fr-FR" dirty="0"/>
              <a:t> </a:t>
            </a:r>
            <a:r>
              <a:rPr lang="fr-FR" dirty="0" err="1"/>
              <a:t>rm</a:t>
            </a:r>
            <a:r>
              <a:rPr lang="fr-FR" dirty="0"/>
              <a:t> perm_demo.txt</a:t>
            </a:r>
          </a:p>
          <a:p>
            <a:pPr marL="0" indent="0">
              <a:buNone/>
            </a:pPr>
            <a:r>
              <a:rPr lang="fr-FR" dirty="0"/>
              <a:t>5. </a:t>
            </a:r>
            <a:r>
              <a:rPr lang="en-US" dirty="0"/>
              <a:t>Now, append something to the file:</a:t>
            </a:r>
          </a:p>
          <a:p>
            <a:pPr marL="0" indent="0">
              <a:buNone/>
            </a:pPr>
            <a:r>
              <a:rPr lang="en-US" sz="2400" dirty="0"/>
              <a:t>echo "I want to append this line to the end of the file." &gt;&gt; perm_demo.txt</a:t>
            </a:r>
            <a:endParaRPr lang="fr-FR" sz="2400" dirty="0"/>
          </a:p>
          <a:p>
            <a:pPr marL="0" indent="0">
              <a:buNone/>
            </a:pPr>
            <a:r>
              <a:rPr lang="fr-FR" dirty="0"/>
              <a:t>6. </a:t>
            </a:r>
            <a:r>
              <a:rPr lang="fr-FR" dirty="0" err="1"/>
              <a:t>Remove</a:t>
            </a:r>
            <a:r>
              <a:rPr lang="fr-FR" dirty="0"/>
              <a:t> the a </a:t>
            </a:r>
            <a:r>
              <a:rPr lang="fr-FR" dirty="0" err="1"/>
              <a:t>attribute</a:t>
            </a:r>
            <a:r>
              <a:rPr lang="fr-FR" dirty="0"/>
              <a:t> and </a:t>
            </a:r>
            <a:r>
              <a:rPr lang="fr-FR" dirty="0" err="1"/>
              <a:t>add</a:t>
            </a:r>
            <a:r>
              <a:rPr lang="fr-FR" dirty="0"/>
              <a:t> the i </a:t>
            </a:r>
            <a:r>
              <a:rPr lang="fr-FR" dirty="0" err="1"/>
              <a:t>attribute</a:t>
            </a:r>
            <a:r>
              <a:rPr lang="fr-FR" dirty="0"/>
              <a:t>:</a:t>
            </a:r>
          </a:p>
          <a:p>
            <a:pPr marL="0" indent="0">
              <a:buNone/>
            </a:pPr>
            <a:r>
              <a:rPr lang="fr-FR" dirty="0" err="1"/>
              <a:t>sudo</a:t>
            </a:r>
            <a:r>
              <a:rPr lang="fr-FR" dirty="0"/>
              <a:t> </a:t>
            </a:r>
            <a:r>
              <a:rPr lang="fr-FR" dirty="0" err="1"/>
              <a:t>chattr</a:t>
            </a:r>
            <a:r>
              <a:rPr lang="fr-FR" dirty="0"/>
              <a:t> -a perm_demo.txt</a:t>
            </a:r>
          </a:p>
          <a:p>
            <a:pPr marL="0" indent="0">
              <a:buNone/>
            </a:pPr>
            <a:r>
              <a:rPr lang="fr-FR" dirty="0" err="1"/>
              <a:t>lsattr</a:t>
            </a:r>
            <a:r>
              <a:rPr lang="fr-FR" dirty="0"/>
              <a:t> perm_demo.txt</a:t>
            </a:r>
          </a:p>
          <a:p>
            <a:pPr marL="0" indent="0">
              <a:buNone/>
            </a:pPr>
            <a:r>
              <a:rPr lang="fr-FR" dirty="0" err="1"/>
              <a:t>sudo</a:t>
            </a:r>
            <a:r>
              <a:rPr lang="fr-FR" dirty="0"/>
              <a:t> </a:t>
            </a:r>
            <a:r>
              <a:rPr lang="fr-FR" dirty="0" err="1"/>
              <a:t>chattr</a:t>
            </a:r>
            <a:r>
              <a:rPr lang="fr-FR" dirty="0"/>
              <a:t> +i perm_demo.txt</a:t>
            </a:r>
          </a:p>
          <a:p>
            <a:pPr marL="0" indent="0">
              <a:buNone/>
            </a:pPr>
            <a:r>
              <a:rPr lang="fr-FR" dirty="0" err="1"/>
              <a:t>lsattr</a:t>
            </a:r>
            <a:r>
              <a:rPr lang="fr-FR" dirty="0"/>
              <a:t> perm_demo.txt</a:t>
            </a:r>
          </a:p>
          <a:p>
            <a:pPr marL="0" indent="0">
              <a:buNone/>
            </a:pPr>
            <a:r>
              <a:rPr lang="fr-FR" dirty="0"/>
              <a:t>7. </a:t>
            </a:r>
            <a:r>
              <a:rPr lang="fr-FR" dirty="0" err="1"/>
              <a:t>Repeat</a:t>
            </a:r>
            <a:r>
              <a:rPr lang="fr-FR" dirty="0"/>
              <a:t> </a:t>
            </a:r>
            <a:r>
              <a:rPr lang="fr-FR" dirty="0" err="1"/>
              <a:t>Step</a:t>
            </a:r>
            <a:r>
              <a:rPr lang="fr-FR" dirty="0"/>
              <a:t> 4.</a:t>
            </a:r>
          </a:p>
          <a:p>
            <a:pPr marL="0" indent="0">
              <a:buNone/>
            </a:pPr>
            <a:endParaRPr lang="fr-FR" dirty="0"/>
          </a:p>
        </p:txBody>
      </p:sp>
    </p:spTree>
    <p:extLst>
      <p:ext uri="{BB962C8B-B14F-4D97-AF65-F5344CB8AC3E}">
        <p14:creationId xmlns:p14="http://schemas.microsoft.com/office/powerpoint/2010/main" val="2681631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en-US" dirty="0"/>
              <a:t>searching for SUID and SGID files</a:t>
            </a:r>
            <a:endParaRPr lang="fr-FR" dirty="0"/>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a:xfrm>
            <a:off x="838200" y="1607344"/>
            <a:ext cx="10515600" cy="5186361"/>
          </a:xfrm>
        </p:spPr>
        <p:txBody>
          <a:bodyPr>
            <a:normAutofit/>
          </a:bodyPr>
          <a:lstStyle/>
          <a:p>
            <a:pPr marL="0" indent="0">
              <a:buNone/>
            </a:pPr>
            <a:r>
              <a:rPr lang="fr-FR" dirty="0"/>
              <a:t>8. </a:t>
            </a:r>
            <a:r>
              <a:rPr lang="fr-FR" dirty="0" err="1"/>
              <a:t>Additionally</a:t>
            </a:r>
            <a:r>
              <a:rPr lang="fr-FR" dirty="0"/>
              <a:t>, </a:t>
            </a:r>
            <a:r>
              <a:rPr lang="fr-FR" dirty="0" err="1"/>
              <a:t>try</a:t>
            </a:r>
            <a:r>
              <a:rPr lang="fr-FR" dirty="0"/>
              <a:t> to change the </a:t>
            </a:r>
            <a:r>
              <a:rPr lang="fr-FR" dirty="0" err="1"/>
              <a:t>filename</a:t>
            </a:r>
            <a:r>
              <a:rPr lang="fr-FR" dirty="0"/>
              <a:t> and </a:t>
            </a:r>
            <a:r>
              <a:rPr lang="fr-FR" dirty="0" err="1"/>
              <a:t>create</a:t>
            </a:r>
            <a:r>
              <a:rPr lang="fr-FR" dirty="0"/>
              <a:t> a hard </a:t>
            </a:r>
            <a:r>
              <a:rPr lang="fr-FR" dirty="0" err="1"/>
              <a:t>link</a:t>
            </a:r>
            <a:r>
              <a:rPr lang="fr-FR" dirty="0"/>
              <a:t> to the file:</a:t>
            </a:r>
          </a:p>
          <a:p>
            <a:pPr marL="0" indent="0">
              <a:buNone/>
            </a:pPr>
            <a:r>
              <a:rPr lang="fr-FR" dirty="0"/>
              <a:t>mv perm_demo.txt some_file.txt</a:t>
            </a:r>
          </a:p>
          <a:p>
            <a:pPr marL="0" indent="0">
              <a:buNone/>
            </a:pPr>
            <a:r>
              <a:rPr lang="fr-FR" dirty="0" err="1"/>
              <a:t>sudo</a:t>
            </a:r>
            <a:r>
              <a:rPr lang="fr-FR" dirty="0"/>
              <a:t> mv perm_demo.txt some_file.txt</a:t>
            </a:r>
          </a:p>
          <a:p>
            <a:pPr marL="0" indent="0">
              <a:buNone/>
            </a:pPr>
            <a:r>
              <a:rPr lang="fr-FR" dirty="0"/>
              <a:t>ln ~/perm_demo.txt ~/some_file.txt</a:t>
            </a:r>
          </a:p>
          <a:p>
            <a:pPr marL="0" indent="0">
              <a:buNone/>
            </a:pPr>
            <a:r>
              <a:rPr lang="fr-FR" dirty="0" err="1"/>
              <a:t>sudo</a:t>
            </a:r>
            <a:r>
              <a:rPr lang="fr-FR" dirty="0"/>
              <a:t> ln ~/perm_demo.txt ~/some_file.txt</a:t>
            </a:r>
          </a:p>
          <a:p>
            <a:pPr marL="0" indent="0">
              <a:buNone/>
            </a:pPr>
            <a:r>
              <a:rPr lang="fr-FR" dirty="0"/>
              <a:t>9. </a:t>
            </a:r>
            <a:r>
              <a:rPr lang="en-US" dirty="0"/>
              <a:t>Now, try to create a symbolic link to the file:</a:t>
            </a:r>
          </a:p>
          <a:p>
            <a:pPr marL="0" indent="0">
              <a:buNone/>
            </a:pPr>
            <a:r>
              <a:rPr lang="en-US" dirty="0"/>
              <a:t>ln -s ~/perm_demo.txt ~/some_file.txt</a:t>
            </a:r>
            <a:endParaRPr lang="fr-FR" dirty="0"/>
          </a:p>
        </p:txBody>
      </p:sp>
    </p:spTree>
    <p:extLst>
      <p:ext uri="{BB962C8B-B14F-4D97-AF65-F5344CB8AC3E}">
        <p14:creationId xmlns:p14="http://schemas.microsoft.com/office/powerpoint/2010/main" val="2938568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2DA4D0-D560-410C-3AD6-031715525766}"/>
              </a:ext>
            </a:extLst>
          </p:cNvPr>
          <p:cNvSpPr>
            <a:spLocks noGrp="1"/>
          </p:cNvSpPr>
          <p:nvPr>
            <p:ph type="title"/>
          </p:nvPr>
        </p:nvSpPr>
        <p:spPr/>
        <p:txBody>
          <a:bodyPr/>
          <a:lstStyle/>
          <a:p>
            <a:r>
              <a:rPr lang="en-US" dirty="0"/>
              <a:t>Lab 11</a:t>
            </a:r>
            <a:endParaRPr lang="fr-FR" dirty="0"/>
          </a:p>
        </p:txBody>
      </p:sp>
      <p:sp>
        <p:nvSpPr>
          <p:cNvPr id="5" name="Text Placeholder 4">
            <a:extLst>
              <a:ext uri="{FF2B5EF4-FFF2-40B4-BE49-F238E27FC236}">
                <a16:creationId xmlns:a16="http://schemas.microsoft.com/office/drawing/2014/main" id="{8C0A777B-D122-5143-90D1-6756EE867884}"/>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54579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en-US" dirty="0"/>
              <a:t>creating a shared group directory</a:t>
            </a:r>
            <a:endParaRPr lang="fr-FR" dirty="0"/>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a:xfrm>
            <a:off x="838200" y="1607344"/>
            <a:ext cx="10515600" cy="5186361"/>
          </a:xfrm>
        </p:spPr>
        <p:txBody>
          <a:bodyPr>
            <a:normAutofit fontScale="92500" lnSpcReduction="10000"/>
          </a:bodyPr>
          <a:lstStyle/>
          <a:p>
            <a:pPr marL="0" indent="0" algn="just">
              <a:buNone/>
            </a:pPr>
            <a:r>
              <a:rPr lang="en-US" dirty="0"/>
              <a:t>1. On any virtual machine, create the sales group:</a:t>
            </a:r>
          </a:p>
          <a:p>
            <a:pPr marL="0" indent="0" algn="just">
              <a:buNone/>
            </a:pPr>
            <a:r>
              <a:rPr lang="en-US" dirty="0"/>
              <a:t>		</a:t>
            </a:r>
            <a:r>
              <a:rPr lang="en-US" dirty="0" err="1"/>
              <a:t>sudo</a:t>
            </a:r>
            <a:r>
              <a:rPr lang="en-US" dirty="0"/>
              <a:t> </a:t>
            </a:r>
            <a:r>
              <a:rPr lang="en-US" dirty="0" err="1"/>
              <a:t>groupadd</a:t>
            </a:r>
            <a:r>
              <a:rPr lang="en-US" dirty="0"/>
              <a:t> sales</a:t>
            </a:r>
          </a:p>
          <a:p>
            <a:pPr marL="0" indent="0" algn="just">
              <a:buNone/>
            </a:pPr>
            <a:r>
              <a:rPr lang="en-US" dirty="0"/>
              <a:t>2. Create the users </a:t>
            </a:r>
            <a:r>
              <a:rPr lang="en-US" dirty="0" err="1"/>
              <a:t>mimi</a:t>
            </a:r>
            <a:r>
              <a:rPr lang="en-US" dirty="0"/>
              <a:t>, </a:t>
            </a:r>
            <a:r>
              <a:rPr lang="en-US" dirty="0" err="1"/>
              <a:t>mrgray</a:t>
            </a:r>
            <a:r>
              <a:rPr lang="en-US" dirty="0"/>
              <a:t>, and mommy, adding them to the sales group as you create the accounts.</a:t>
            </a:r>
          </a:p>
          <a:p>
            <a:pPr marL="0" indent="0" algn="just">
              <a:buNone/>
            </a:pPr>
            <a:r>
              <a:rPr lang="en-US" dirty="0"/>
              <a:t>On CentOS or </a:t>
            </a:r>
            <a:r>
              <a:rPr lang="en-US" dirty="0" err="1"/>
              <a:t>AlamaLinux</a:t>
            </a:r>
            <a:r>
              <a:rPr lang="en-US" dirty="0"/>
              <a:t>, do this:</a:t>
            </a:r>
          </a:p>
          <a:p>
            <a:pPr marL="0" indent="0" algn="just">
              <a:buNone/>
            </a:pPr>
            <a:r>
              <a:rPr lang="fr-FR" dirty="0" err="1"/>
              <a:t>sudo</a:t>
            </a:r>
            <a:r>
              <a:rPr lang="fr-FR" dirty="0"/>
              <a:t> </a:t>
            </a:r>
            <a:r>
              <a:rPr lang="fr-FR" dirty="0" err="1"/>
              <a:t>useradd</a:t>
            </a:r>
            <a:r>
              <a:rPr lang="fr-FR" dirty="0"/>
              <a:t> -G sales mimi</a:t>
            </a:r>
          </a:p>
          <a:p>
            <a:pPr marL="0" indent="0" algn="just">
              <a:buNone/>
            </a:pPr>
            <a:r>
              <a:rPr lang="fr-FR" dirty="0" err="1"/>
              <a:t>sudo</a:t>
            </a:r>
            <a:r>
              <a:rPr lang="fr-FR" dirty="0"/>
              <a:t> </a:t>
            </a:r>
            <a:r>
              <a:rPr lang="fr-FR" dirty="0" err="1"/>
              <a:t>useradd</a:t>
            </a:r>
            <a:r>
              <a:rPr lang="fr-FR" dirty="0"/>
              <a:t> -G sales </a:t>
            </a:r>
            <a:r>
              <a:rPr lang="fr-FR" dirty="0" err="1"/>
              <a:t>mrgray</a:t>
            </a:r>
            <a:endParaRPr lang="fr-FR" dirty="0"/>
          </a:p>
          <a:p>
            <a:pPr marL="0" indent="0" algn="just">
              <a:buNone/>
            </a:pPr>
            <a:r>
              <a:rPr lang="fr-FR" dirty="0" err="1"/>
              <a:t>sudo</a:t>
            </a:r>
            <a:r>
              <a:rPr lang="fr-FR" dirty="0"/>
              <a:t> </a:t>
            </a:r>
            <a:r>
              <a:rPr lang="fr-FR" dirty="0" err="1"/>
              <a:t>useradd</a:t>
            </a:r>
            <a:r>
              <a:rPr lang="fr-FR" dirty="0"/>
              <a:t> -G sales </a:t>
            </a:r>
            <a:r>
              <a:rPr lang="fr-FR" dirty="0" err="1"/>
              <a:t>mommy</a:t>
            </a:r>
            <a:endParaRPr lang="fr-FR" dirty="0"/>
          </a:p>
          <a:p>
            <a:pPr marL="0" indent="0" algn="just">
              <a:buNone/>
            </a:pPr>
            <a:r>
              <a:rPr lang="fr-FR" dirty="0"/>
              <a:t>On Ubuntu, do </a:t>
            </a:r>
            <a:r>
              <a:rPr lang="fr-FR" dirty="0" err="1"/>
              <a:t>this</a:t>
            </a:r>
            <a:r>
              <a:rPr lang="fr-FR" dirty="0"/>
              <a:t>:</a:t>
            </a:r>
          </a:p>
          <a:p>
            <a:pPr marL="0" indent="0" algn="just">
              <a:buNone/>
            </a:pPr>
            <a:r>
              <a:rPr lang="fr-FR" dirty="0" err="1"/>
              <a:t>sudo</a:t>
            </a:r>
            <a:r>
              <a:rPr lang="fr-FR" dirty="0"/>
              <a:t> </a:t>
            </a:r>
            <a:r>
              <a:rPr lang="fr-FR" dirty="0" err="1"/>
              <a:t>useradd</a:t>
            </a:r>
            <a:r>
              <a:rPr lang="fr-FR" dirty="0"/>
              <a:t> -m -d /home/mimi -s /bin/</a:t>
            </a:r>
            <a:r>
              <a:rPr lang="fr-FR" dirty="0" err="1"/>
              <a:t>bash</a:t>
            </a:r>
            <a:r>
              <a:rPr lang="fr-FR" dirty="0"/>
              <a:t> -G sales mimi</a:t>
            </a:r>
          </a:p>
          <a:p>
            <a:pPr marL="0" indent="0" algn="just">
              <a:buNone/>
            </a:pPr>
            <a:r>
              <a:rPr lang="fr-FR" dirty="0" err="1"/>
              <a:t>sudo</a:t>
            </a:r>
            <a:r>
              <a:rPr lang="fr-FR" dirty="0"/>
              <a:t> </a:t>
            </a:r>
            <a:r>
              <a:rPr lang="fr-FR" dirty="0" err="1"/>
              <a:t>useradd</a:t>
            </a:r>
            <a:r>
              <a:rPr lang="fr-FR" dirty="0"/>
              <a:t> -m -d /home/</a:t>
            </a:r>
            <a:r>
              <a:rPr lang="fr-FR" dirty="0" err="1"/>
              <a:t>mrgray</a:t>
            </a:r>
            <a:r>
              <a:rPr lang="fr-FR" dirty="0"/>
              <a:t> -s /bin/</a:t>
            </a:r>
            <a:r>
              <a:rPr lang="fr-FR" dirty="0" err="1"/>
              <a:t>bash</a:t>
            </a:r>
            <a:r>
              <a:rPr lang="fr-FR" dirty="0"/>
              <a:t> -G sales </a:t>
            </a:r>
            <a:r>
              <a:rPr lang="fr-FR" dirty="0" err="1"/>
              <a:t>mrgray</a:t>
            </a:r>
            <a:endParaRPr lang="fr-FR" dirty="0"/>
          </a:p>
          <a:p>
            <a:pPr marL="0" indent="0" algn="just">
              <a:buNone/>
            </a:pPr>
            <a:r>
              <a:rPr lang="fr-FR" dirty="0" err="1"/>
              <a:t>sudo</a:t>
            </a:r>
            <a:r>
              <a:rPr lang="fr-FR" dirty="0"/>
              <a:t> </a:t>
            </a:r>
            <a:r>
              <a:rPr lang="fr-FR" dirty="0" err="1"/>
              <a:t>useradd</a:t>
            </a:r>
            <a:r>
              <a:rPr lang="fr-FR" dirty="0"/>
              <a:t> -m -d /home/</a:t>
            </a:r>
            <a:r>
              <a:rPr lang="fr-FR" dirty="0" err="1"/>
              <a:t>mommy</a:t>
            </a:r>
            <a:r>
              <a:rPr lang="fr-FR" dirty="0"/>
              <a:t> -s /bin/</a:t>
            </a:r>
            <a:r>
              <a:rPr lang="fr-FR" dirty="0" err="1"/>
              <a:t>bash</a:t>
            </a:r>
            <a:r>
              <a:rPr lang="fr-FR" dirty="0"/>
              <a:t> -G sales </a:t>
            </a:r>
            <a:r>
              <a:rPr lang="fr-FR" dirty="0" err="1"/>
              <a:t>mommy</a:t>
            </a:r>
            <a:endParaRPr lang="fr-FR" dirty="0"/>
          </a:p>
          <a:p>
            <a:pPr marL="0" indent="0" algn="just">
              <a:buNone/>
            </a:pPr>
            <a:endParaRPr lang="fr-FR" dirty="0"/>
          </a:p>
        </p:txBody>
      </p:sp>
    </p:spTree>
    <p:extLst>
      <p:ext uri="{BB962C8B-B14F-4D97-AF65-F5344CB8AC3E}">
        <p14:creationId xmlns:p14="http://schemas.microsoft.com/office/powerpoint/2010/main" val="2245777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en-US" dirty="0"/>
              <a:t>creating a shared group directory</a:t>
            </a:r>
            <a:endParaRPr lang="fr-FR" dirty="0"/>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a:xfrm>
            <a:off x="135731" y="1307306"/>
            <a:ext cx="11551443" cy="5729288"/>
          </a:xfrm>
        </p:spPr>
        <p:txBody>
          <a:bodyPr>
            <a:normAutofit fontScale="62500" lnSpcReduction="20000"/>
          </a:bodyPr>
          <a:lstStyle/>
          <a:p>
            <a:pPr marL="0" indent="0" algn="just">
              <a:buNone/>
            </a:pPr>
            <a:r>
              <a:rPr lang="en-US" dirty="0"/>
              <a:t>3. Assign each user a password.</a:t>
            </a:r>
          </a:p>
          <a:p>
            <a:pPr marL="0" indent="0" algn="just">
              <a:buNone/>
            </a:pPr>
            <a:r>
              <a:rPr lang="en-US" dirty="0"/>
              <a:t>4. Create the sales directory in the root level of the filesystem. Set proper ownership and permissions,</a:t>
            </a:r>
          </a:p>
          <a:p>
            <a:pPr marL="0" indent="0" algn="just">
              <a:buNone/>
            </a:pPr>
            <a:r>
              <a:rPr lang="en-US" dirty="0"/>
              <a:t>including the SGID and sticky bits:</a:t>
            </a:r>
          </a:p>
          <a:p>
            <a:pPr marL="0" indent="0" algn="just">
              <a:buNone/>
            </a:pPr>
            <a:r>
              <a:rPr lang="en-US" dirty="0" err="1"/>
              <a:t>sudo</a:t>
            </a:r>
            <a:r>
              <a:rPr lang="en-US" dirty="0"/>
              <a:t> </a:t>
            </a:r>
            <a:r>
              <a:rPr lang="en-US" dirty="0" err="1"/>
              <a:t>mkdir</a:t>
            </a:r>
            <a:r>
              <a:rPr lang="en-US" dirty="0"/>
              <a:t> /sales</a:t>
            </a:r>
          </a:p>
          <a:p>
            <a:pPr marL="0" indent="0" algn="just">
              <a:buNone/>
            </a:pPr>
            <a:r>
              <a:rPr lang="en-US" dirty="0" err="1"/>
              <a:t>sudo</a:t>
            </a:r>
            <a:r>
              <a:rPr lang="en-US" dirty="0"/>
              <a:t> </a:t>
            </a:r>
            <a:r>
              <a:rPr lang="en-US" dirty="0" err="1"/>
              <a:t>chown</a:t>
            </a:r>
            <a:r>
              <a:rPr lang="en-US" dirty="0"/>
              <a:t> </a:t>
            </a:r>
            <a:r>
              <a:rPr lang="en-US" dirty="0" err="1"/>
              <a:t>nobody:sales</a:t>
            </a:r>
            <a:r>
              <a:rPr lang="en-US" dirty="0"/>
              <a:t> /sales</a:t>
            </a:r>
          </a:p>
          <a:p>
            <a:pPr marL="0" indent="0" algn="just">
              <a:buNone/>
            </a:pPr>
            <a:r>
              <a:rPr lang="en-US" dirty="0" err="1"/>
              <a:t>sudo</a:t>
            </a:r>
            <a:r>
              <a:rPr lang="en-US" dirty="0"/>
              <a:t> </a:t>
            </a:r>
            <a:r>
              <a:rPr lang="en-US" dirty="0" err="1"/>
              <a:t>chmod</a:t>
            </a:r>
            <a:r>
              <a:rPr lang="en-US" dirty="0"/>
              <a:t> 3770 /sales</a:t>
            </a:r>
          </a:p>
          <a:p>
            <a:pPr marL="0" indent="0" algn="just">
              <a:buNone/>
            </a:pPr>
            <a:r>
              <a:rPr lang="en-US" dirty="0"/>
              <a:t>ls -</a:t>
            </a:r>
            <a:r>
              <a:rPr lang="en-US" dirty="0" err="1"/>
              <a:t>ld</a:t>
            </a:r>
            <a:r>
              <a:rPr lang="en-US" dirty="0"/>
              <a:t> /sales</a:t>
            </a:r>
          </a:p>
          <a:p>
            <a:pPr marL="0" indent="0" algn="just">
              <a:buNone/>
            </a:pPr>
            <a:r>
              <a:rPr lang="en-US" dirty="0"/>
              <a:t>5. Log in as Mimi, and have her create a file:</a:t>
            </a:r>
          </a:p>
          <a:p>
            <a:pPr marL="0" indent="0" algn="just">
              <a:buNone/>
            </a:pPr>
            <a:r>
              <a:rPr lang="en-US" dirty="0" err="1"/>
              <a:t>su</a:t>
            </a:r>
            <a:r>
              <a:rPr lang="en-US" dirty="0"/>
              <a:t> - </a:t>
            </a:r>
            <a:r>
              <a:rPr lang="en-US" dirty="0" err="1"/>
              <a:t>mimi</a:t>
            </a:r>
            <a:endParaRPr lang="en-US" dirty="0"/>
          </a:p>
          <a:p>
            <a:pPr marL="0" indent="0" algn="just">
              <a:buNone/>
            </a:pPr>
            <a:r>
              <a:rPr lang="en-US" dirty="0"/>
              <a:t>cd /sales</a:t>
            </a:r>
          </a:p>
          <a:p>
            <a:pPr marL="0" indent="0" algn="just">
              <a:buNone/>
            </a:pPr>
            <a:r>
              <a:rPr lang="en-US" dirty="0"/>
              <a:t>echo "This file belongs to Mimi." &gt; mimi_file.txt</a:t>
            </a:r>
          </a:p>
          <a:p>
            <a:pPr marL="0" indent="0" algn="just">
              <a:buNone/>
            </a:pPr>
            <a:r>
              <a:rPr lang="en-US" dirty="0"/>
              <a:t>ls –l</a:t>
            </a:r>
          </a:p>
          <a:p>
            <a:pPr marL="0" indent="0" algn="just">
              <a:buNone/>
            </a:pPr>
            <a:r>
              <a:rPr lang="en-US" dirty="0"/>
              <a:t>6. Have Mimi set an ACL on her file, allowing only Mr. Gray to read it. Then, have Mimi log back out:</a:t>
            </a:r>
          </a:p>
          <a:p>
            <a:pPr marL="0" indent="0" algn="just">
              <a:buNone/>
            </a:pPr>
            <a:r>
              <a:rPr lang="en-US" dirty="0" err="1"/>
              <a:t>chmod</a:t>
            </a:r>
            <a:r>
              <a:rPr lang="en-US" dirty="0"/>
              <a:t> 600 mimi_file.txt</a:t>
            </a:r>
          </a:p>
          <a:p>
            <a:pPr marL="0" indent="0" algn="just">
              <a:buNone/>
            </a:pPr>
            <a:r>
              <a:rPr lang="en-US" dirty="0" err="1"/>
              <a:t>setfacl</a:t>
            </a:r>
            <a:r>
              <a:rPr lang="en-US" dirty="0"/>
              <a:t> -m u:mrgray:r mimi_file.txt</a:t>
            </a:r>
          </a:p>
          <a:p>
            <a:pPr marL="0" indent="0" algn="just">
              <a:buNone/>
            </a:pPr>
            <a:r>
              <a:rPr lang="en-US" dirty="0" err="1"/>
              <a:t>getfacl</a:t>
            </a:r>
            <a:r>
              <a:rPr lang="en-US" dirty="0"/>
              <a:t> mimi_file.txt</a:t>
            </a:r>
          </a:p>
          <a:p>
            <a:pPr marL="0" indent="0" algn="just">
              <a:buNone/>
            </a:pPr>
            <a:r>
              <a:rPr lang="en-US" dirty="0"/>
              <a:t>ls -l</a:t>
            </a:r>
          </a:p>
          <a:p>
            <a:pPr marL="0" indent="0" algn="just">
              <a:buNone/>
            </a:pPr>
            <a:r>
              <a:rPr lang="en-US" dirty="0"/>
              <a:t>exit</a:t>
            </a:r>
            <a:endParaRPr lang="fr-FR" dirty="0"/>
          </a:p>
        </p:txBody>
      </p:sp>
    </p:spTree>
    <p:extLst>
      <p:ext uri="{BB962C8B-B14F-4D97-AF65-F5344CB8AC3E}">
        <p14:creationId xmlns:p14="http://schemas.microsoft.com/office/powerpoint/2010/main" val="2592952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en-US" dirty="0"/>
              <a:t>creating a shared group directory</a:t>
            </a:r>
            <a:endParaRPr lang="fr-FR" dirty="0"/>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a:xfrm>
            <a:off x="135731" y="1307306"/>
            <a:ext cx="11551443" cy="5729288"/>
          </a:xfrm>
        </p:spPr>
        <p:txBody>
          <a:bodyPr>
            <a:normAutofit fontScale="62500" lnSpcReduction="20000"/>
          </a:bodyPr>
          <a:lstStyle/>
          <a:p>
            <a:pPr marL="0" indent="0" algn="just">
              <a:buNone/>
            </a:pPr>
            <a:r>
              <a:rPr lang="en-US" dirty="0"/>
              <a:t>3. Assign each user a password.</a:t>
            </a:r>
          </a:p>
          <a:p>
            <a:pPr marL="0" indent="0" algn="just">
              <a:buNone/>
            </a:pPr>
            <a:r>
              <a:rPr lang="en-US" dirty="0"/>
              <a:t>4. Create the sales directory in the root level of the filesystem. Set proper ownership and permissions,</a:t>
            </a:r>
          </a:p>
          <a:p>
            <a:pPr marL="0" indent="0" algn="just">
              <a:buNone/>
            </a:pPr>
            <a:r>
              <a:rPr lang="en-US" dirty="0"/>
              <a:t>including the SGID and sticky bits:</a:t>
            </a:r>
          </a:p>
          <a:p>
            <a:pPr marL="0" indent="0" algn="just">
              <a:buNone/>
            </a:pPr>
            <a:r>
              <a:rPr lang="en-US" dirty="0" err="1"/>
              <a:t>sudo</a:t>
            </a:r>
            <a:r>
              <a:rPr lang="en-US" dirty="0"/>
              <a:t> </a:t>
            </a:r>
            <a:r>
              <a:rPr lang="en-US" dirty="0" err="1"/>
              <a:t>mkdir</a:t>
            </a:r>
            <a:r>
              <a:rPr lang="en-US" dirty="0"/>
              <a:t> /sales</a:t>
            </a:r>
          </a:p>
          <a:p>
            <a:pPr marL="0" indent="0" algn="just">
              <a:buNone/>
            </a:pPr>
            <a:r>
              <a:rPr lang="en-US" dirty="0" err="1"/>
              <a:t>sudo</a:t>
            </a:r>
            <a:r>
              <a:rPr lang="en-US" dirty="0"/>
              <a:t> </a:t>
            </a:r>
            <a:r>
              <a:rPr lang="en-US" dirty="0" err="1"/>
              <a:t>chown</a:t>
            </a:r>
            <a:r>
              <a:rPr lang="en-US" dirty="0"/>
              <a:t> </a:t>
            </a:r>
            <a:r>
              <a:rPr lang="en-US" dirty="0" err="1"/>
              <a:t>nobody:sales</a:t>
            </a:r>
            <a:r>
              <a:rPr lang="en-US" dirty="0"/>
              <a:t> /sales</a:t>
            </a:r>
          </a:p>
          <a:p>
            <a:pPr marL="0" indent="0" algn="just">
              <a:buNone/>
            </a:pPr>
            <a:r>
              <a:rPr lang="en-US" dirty="0" err="1"/>
              <a:t>sudo</a:t>
            </a:r>
            <a:r>
              <a:rPr lang="en-US" dirty="0"/>
              <a:t> </a:t>
            </a:r>
            <a:r>
              <a:rPr lang="en-US" dirty="0" err="1"/>
              <a:t>chmod</a:t>
            </a:r>
            <a:r>
              <a:rPr lang="en-US" dirty="0"/>
              <a:t> 3770 /sales</a:t>
            </a:r>
          </a:p>
          <a:p>
            <a:pPr marL="0" indent="0" algn="just">
              <a:buNone/>
            </a:pPr>
            <a:r>
              <a:rPr lang="en-US" dirty="0"/>
              <a:t>ls -</a:t>
            </a:r>
            <a:r>
              <a:rPr lang="en-US" dirty="0" err="1"/>
              <a:t>ld</a:t>
            </a:r>
            <a:r>
              <a:rPr lang="en-US" dirty="0"/>
              <a:t> /sales</a:t>
            </a:r>
          </a:p>
          <a:p>
            <a:pPr marL="0" indent="0" algn="just">
              <a:buNone/>
            </a:pPr>
            <a:r>
              <a:rPr lang="en-US" dirty="0"/>
              <a:t>5. Log in as Mimi, and have her create a file:</a:t>
            </a:r>
          </a:p>
          <a:p>
            <a:pPr marL="0" indent="0" algn="just">
              <a:buNone/>
            </a:pPr>
            <a:r>
              <a:rPr lang="en-US" dirty="0" err="1"/>
              <a:t>su</a:t>
            </a:r>
            <a:r>
              <a:rPr lang="en-US" dirty="0"/>
              <a:t> - </a:t>
            </a:r>
            <a:r>
              <a:rPr lang="en-US" dirty="0" err="1"/>
              <a:t>mimi</a:t>
            </a:r>
            <a:endParaRPr lang="en-US" dirty="0"/>
          </a:p>
          <a:p>
            <a:pPr marL="0" indent="0" algn="just">
              <a:buNone/>
            </a:pPr>
            <a:r>
              <a:rPr lang="en-US" dirty="0"/>
              <a:t>cd /sales</a:t>
            </a:r>
          </a:p>
          <a:p>
            <a:pPr marL="0" indent="0" algn="just">
              <a:buNone/>
            </a:pPr>
            <a:r>
              <a:rPr lang="en-US" dirty="0"/>
              <a:t>echo "This file belongs to Mimi." &gt; mimi_file.txt</a:t>
            </a:r>
          </a:p>
          <a:p>
            <a:pPr marL="0" indent="0" algn="just">
              <a:buNone/>
            </a:pPr>
            <a:r>
              <a:rPr lang="en-US" dirty="0"/>
              <a:t>ls –l</a:t>
            </a:r>
          </a:p>
          <a:p>
            <a:pPr marL="0" indent="0" algn="just">
              <a:buNone/>
            </a:pPr>
            <a:r>
              <a:rPr lang="en-US" dirty="0"/>
              <a:t>6. Have Mimi set an ACL on her file, allowing only Mr. Gray to read it. Then, have Mimi log back out:</a:t>
            </a:r>
          </a:p>
          <a:p>
            <a:pPr marL="0" indent="0" algn="just">
              <a:buNone/>
            </a:pPr>
            <a:r>
              <a:rPr lang="en-US" dirty="0" err="1"/>
              <a:t>chmod</a:t>
            </a:r>
            <a:r>
              <a:rPr lang="en-US" dirty="0"/>
              <a:t> 600 mimi_file.txt</a:t>
            </a:r>
          </a:p>
          <a:p>
            <a:pPr marL="0" indent="0" algn="just">
              <a:buNone/>
            </a:pPr>
            <a:r>
              <a:rPr lang="en-US" dirty="0" err="1"/>
              <a:t>setfacl</a:t>
            </a:r>
            <a:r>
              <a:rPr lang="en-US" dirty="0"/>
              <a:t> -m u:mrgray:r mimi_file.txt</a:t>
            </a:r>
          </a:p>
          <a:p>
            <a:pPr marL="0" indent="0" algn="just">
              <a:buNone/>
            </a:pPr>
            <a:r>
              <a:rPr lang="en-US" dirty="0" err="1"/>
              <a:t>getfacl</a:t>
            </a:r>
            <a:r>
              <a:rPr lang="en-US" dirty="0"/>
              <a:t> mimi_file.txt</a:t>
            </a:r>
          </a:p>
          <a:p>
            <a:pPr marL="0" indent="0" algn="just">
              <a:buNone/>
            </a:pPr>
            <a:r>
              <a:rPr lang="en-US" dirty="0"/>
              <a:t>ls -l</a:t>
            </a:r>
          </a:p>
          <a:p>
            <a:pPr marL="0" indent="0" algn="just">
              <a:buNone/>
            </a:pPr>
            <a:r>
              <a:rPr lang="en-US" dirty="0"/>
              <a:t>exit</a:t>
            </a:r>
            <a:endParaRPr lang="fr-FR" dirty="0"/>
          </a:p>
        </p:txBody>
      </p:sp>
    </p:spTree>
    <p:extLst>
      <p:ext uri="{BB962C8B-B14F-4D97-AF65-F5344CB8AC3E}">
        <p14:creationId xmlns:p14="http://schemas.microsoft.com/office/powerpoint/2010/main" val="2994693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0E0CD-14BA-A3FA-1802-7380A9C9C49F}"/>
              </a:ext>
            </a:extLst>
          </p:cNvPr>
          <p:cNvSpPr>
            <a:spLocks noGrp="1"/>
          </p:cNvSpPr>
          <p:nvPr>
            <p:ph type="title"/>
          </p:nvPr>
        </p:nvSpPr>
        <p:spPr/>
        <p:txBody>
          <a:bodyPr/>
          <a:lstStyle/>
          <a:p>
            <a:r>
              <a:rPr lang="en-US" dirty="0"/>
              <a:t>creating a shared group directory</a:t>
            </a:r>
            <a:endParaRPr lang="fr-FR" dirty="0"/>
          </a:p>
        </p:txBody>
      </p:sp>
      <p:sp>
        <p:nvSpPr>
          <p:cNvPr id="5" name="Content Placeholder 4">
            <a:extLst>
              <a:ext uri="{FF2B5EF4-FFF2-40B4-BE49-F238E27FC236}">
                <a16:creationId xmlns:a16="http://schemas.microsoft.com/office/drawing/2014/main" id="{8726C2DB-157A-F664-7CBA-AF5EFF1CF227}"/>
              </a:ext>
            </a:extLst>
          </p:cNvPr>
          <p:cNvSpPr>
            <a:spLocks noGrp="1"/>
          </p:cNvSpPr>
          <p:nvPr>
            <p:ph idx="1"/>
          </p:nvPr>
        </p:nvSpPr>
        <p:spPr>
          <a:xfrm>
            <a:off x="135731" y="1307306"/>
            <a:ext cx="11551443" cy="5729288"/>
          </a:xfrm>
        </p:spPr>
        <p:txBody>
          <a:bodyPr>
            <a:normAutofit fontScale="70000" lnSpcReduction="20000"/>
          </a:bodyPr>
          <a:lstStyle/>
          <a:p>
            <a:pPr marL="0" indent="0" algn="just">
              <a:buNone/>
            </a:pPr>
            <a:r>
              <a:rPr lang="en-US" dirty="0"/>
              <a:t>7. Have Mr. Gray log in to see what he can do with Mimi’s file. Then, have Mr. Gray create his own file and log back out:</a:t>
            </a:r>
          </a:p>
          <a:p>
            <a:pPr marL="0" indent="0" algn="just">
              <a:buNone/>
            </a:pPr>
            <a:r>
              <a:rPr lang="en-US" dirty="0" err="1"/>
              <a:t>su</a:t>
            </a:r>
            <a:r>
              <a:rPr lang="en-US" dirty="0"/>
              <a:t> - </a:t>
            </a:r>
            <a:r>
              <a:rPr lang="en-US" dirty="0" err="1"/>
              <a:t>mrgray</a:t>
            </a:r>
            <a:endParaRPr lang="en-US" dirty="0"/>
          </a:p>
          <a:p>
            <a:pPr marL="0" indent="0" algn="just">
              <a:buNone/>
            </a:pPr>
            <a:r>
              <a:rPr lang="en-US" dirty="0"/>
              <a:t>cd /sales</a:t>
            </a:r>
          </a:p>
          <a:p>
            <a:pPr marL="0" indent="0" algn="just">
              <a:buNone/>
            </a:pPr>
            <a:r>
              <a:rPr lang="en-US" dirty="0"/>
              <a:t>cat mimi_file.txt</a:t>
            </a:r>
          </a:p>
          <a:p>
            <a:pPr marL="0" indent="0" algn="just">
              <a:buNone/>
            </a:pPr>
            <a:r>
              <a:rPr lang="en-US" dirty="0"/>
              <a:t>echo "I want to add something to this file." &gt;&gt; mimi_file.txt</a:t>
            </a:r>
          </a:p>
          <a:p>
            <a:pPr marL="0" indent="0" algn="just">
              <a:buNone/>
            </a:pPr>
            <a:r>
              <a:rPr lang="en-US" dirty="0"/>
              <a:t>echo "Mr. Gray will now create his own file." &gt; mr_gray_file.txt</a:t>
            </a:r>
          </a:p>
          <a:p>
            <a:pPr marL="0" indent="0" algn="just">
              <a:buNone/>
            </a:pPr>
            <a:r>
              <a:rPr lang="en-US" dirty="0"/>
              <a:t>ls -l</a:t>
            </a:r>
          </a:p>
          <a:p>
            <a:pPr marL="0" indent="0" algn="just">
              <a:buNone/>
            </a:pPr>
            <a:r>
              <a:rPr lang="en-US" dirty="0"/>
              <a:t>Exit</a:t>
            </a:r>
          </a:p>
          <a:p>
            <a:pPr marL="0" indent="0" algn="just">
              <a:buNone/>
            </a:pPr>
            <a:r>
              <a:rPr lang="en-US" dirty="0"/>
              <a:t>8. Mommy will now log in and try to wreak havoc by snooping in other users’ files and </a:t>
            </a:r>
            <a:r>
              <a:rPr lang="en-US"/>
              <a:t>by trying to </a:t>
            </a:r>
            <a:r>
              <a:rPr lang="en-US" dirty="0"/>
              <a:t>delete them:</a:t>
            </a:r>
          </a:p>
          <a:p>
            <a:pPr marL="0" indent="0" algn="just">
              <a:buNone/>
            </a:pPr>
            <a:r>
              <a:rPr lang="en-US" dirty="0" err="1"/>
              <a:t>su</a:t>
            </a:r>
            <a:r>
              <a:rPr lang="en-US" dirty="0"/>
              <a:t> - mommy</a:t>
            </a:r>
          </a:p>
          <a:p>
            <a:pPr marL="0" indent="0" algn="just">
              <a:buNone/>
            </a:pPr>
            <a:r>
              <a:rPr lang="en-US" dirty="0"/>
              <a:t>cat mimi_file.txt</a:t>
            </a:r>
          </a:p>
          <a:p>
            <a:pPr marL="0" indent="0" algn="just">
              <a:buNone/>
            </a:pPr>
            <a:r>
              <a:rPr lang="en-US" dirty="0"/>
              <a:t>cat mr_gray_file.txt</a:t>
            </a:r>
          </a:p>
          <a:p>
            <a:pPr marL="0" indent="0" algn="just">
              <a:buNone/>
            </a:pPr>
            <a:r>
              <a:rPr lang="en-US" dirty="0"/>
              <a:t>rm -f mimi_file.txt</a:t>
            </a:r>
          </a:p>
          <a:p>
            <a:pPr marL="0" indent="0" algn="just">
              <a:buNone/>
            </a:pPr>
            <a:r>
              <a:rPr lang="en-US" dirty="0"/>
              <a:t>rm -f mr_gray_file.txt</a:t>
            </a:r>
          </a:p>
          <a:p>
            <a:pPr marL="0" indent="0" algn="just">
              <a:buNone/>
            </a:pPr>
            <a:r>
              <a:rPr lang="en-US" dirty="0" err="1"/>
              <a:t>exi</a:t>
            </a:r>
            <a:endParaRPr lang="fr-FR" dirty="0"/>
          </a:p>
        </p:txBody>
      </p:sp>
    </p:spTree>
    <p:extLst>
      <p:ext uri="{BB962C8B-B14F-4D97-AF65-F5344CB8AC3E}">
        <p14:creationId xmlns:p14="http://schemas.microsoft.com/office/powerpoint/2010/main" val="2252749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265C45-5D1B-1D5D-CAC9-C536D2C10DCC}"/>
              </a:ext>
            </a:extLst>
          </p:cNvPr>
          <p:cNvSpPr>
            <a:spLocks noGrp="1"/>
          </p:cNvSpPr>
          <p:nvPr>
            <p:ph type="title"/>
          </p:nvPr>
        </p:nvSpPr>
        <p:spPr/>
        <p:txBody>
          <a:bodyPr/>
          <a:lstStyle/>
          <a:p>
            <a:r>
              <a:rPr lang="fr-FR" dirty="0" err="1"/>
              <a:t>Lab</a:t>
            </a:r>
            <a:r>
              <a:rPr lang="fr-FR" dirty="0"/>
              <a:t> 12</a:t>
            </a:r>
          </a:p>
        </p:txBody>
      </p:sp>
      <p:sp>
        <p:nvSpPr>
          <p:cNvPr id="5" name="Text Placeholder 4">
            <a:extLst>
              <a:ext uri="{FF2B5EF4-FFF2-40B4-BE49-F238E27FC236}">
                <a16:creationId xmlns:a16="http://schemas.microsoft.com/office/drawing/2014/main" id="{2AD46B91-768D-7F83-6742-B44E1128660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205876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3EF78B-B481-AB7B-05A5-9AF99D814C6D}"/>
              </a:ext>
            </a:extLst>
          </p:cNvPr>
          <p:cNvSpPr>
            <a:spLocks noGrp="1"/>
          </p:cNvSpPr>
          <p:nvPr>
            <p:ph type="title"/>
          </p:nvPr>
        </p:nvSpPr>
        <p:spPr/>
        <p:txBody>
          <a:bodyPr/>
          <a:lstStyle/>
          <a:p>
            <a:r>
              <a:rPr lang="fr-FR" dirty="0" err="1"/>
              <a:t>SELinux</a:t>
            </a:r>
            <a:r>
              <a:rPr lang="fr-FR" dirty="0"/>
              <a:t> type </a:t>
            </a:r>
            <a:r>
              <a:rPr lang="fr-FR" dirty="0" err="1"/>
              <a:t>enforcement</a:t>
            </a:r>
            <a:endParaRPr lang="fr-FR" dirty="0"/>
          </a:p>
        </p:txBody>
      </p:sp>
      <p:sp>
        <p:nvSpPr>
          <p:cNvPr id="5" name="Content Placeholder 4">
            <a:extLst>
              <a:ext uri="{FF2B5EF4-FFF2-40B4-BE49-F238E27FC236}">
                <a16:creationId xmlns:a16="http://schemas.microsoft.com/office/drawing/2014/main" id="{34DEA64B-C9F9-7103-B885-C740C533418C}"/>
              </a:ext>
            </a:extLst>
          </p:cNvPr>
          <p:cNvSpPr>
            <a:spLocks noGrp="1"/>
          </p:cNvSpPr>
          <p:nvPr>
            <p:ph idx="1"/>
          </p:nvPr>
        </p:nvSpPr>
        <p:spPr/>
        <p:txBody>
          <a:bodyPr>
            <a:normAutofit fontScale="92500" lnSpcReduction="10000"/>
          </a:bodyPr>
          <a:lstStyle/>
          <a:p>
            <a:pPr algn="just"/>
            <a:r>
              <a:rPr lang="en-US" dirty="0"/>
              <a:t>In this lab, you’ll install the Apache web server and the appropriate </a:t>
            </a:r>
            <a:r>
              <a:rPr lang="en-US" dirty="0" err="1"/>
              <a:t>SELinux</a:t>
            </a:r>
            <a:r>
              <a:rPr lang="en-US" dirty="0"/>
              <a:t> tools. You’ll then view the effects of having the wrong </a:t>
            </a:r>
            <a:r>
              <a:rPr lang="en-US" dirty="0" err="1"/>
              <a:t>SELinux</a:t>
            </a:r>
            <a:r>
              <a:rPr lang="en-US" dirty="0"/>
              <a:t> type assigned to a web content file. </a:t>
            </a:r>
          </a:p>
          <a:p>
            <a:pPr lvl="1" algn="just"/>
            <a:r>
              <a:rPr lang="en-US" dirty="0"/>
              <a:t>Install Apache, along with all the required </a:t>
            </a:r>
            <a:r>
              <a:rPr lang="en-US" dirty="0" err="1"/>
              <a:t>SELinux</a:t>
            </a:r>
            <a:r>
              <a:rPr lang="en-US" dirty="0"/>
              <a:t> tools on CentOS 7:</a:t>
            </a:r>
          </a:p>
          <a:p>
            <a:pPr lvl="2" algn="just"/>
            <a:r>
              <a:rPr lang="fr-FR" dirty="0" err="1"/>
              <a:t>sudo</a:t>
            </a:r>
            <a:r>
              <a:rPr lang="fr-FR" dirty="0"/>
              <a:t> </a:t>
            </a:r>
            <a:r>
              <a:rPr lang="fr-FR" dirty="0" err="1"/>
              <a:t>yum</a:t>
            </a:r>
            <a:r>
              <a:rPr lang="fr-FR" dirty="0"/>
              <a:t> </a:t>
            </a:r>
            <a:r>
              <a:rPr lang="fr-FR" dirty="0" err="1"/>
              <a:t>install</a:t>
            </a:r>
            <a:r>
              <a:rPr lang="fr-FR" dirty="0"/>
              <a:t> </a:t>
            </a:r>
            <a:r>
              <a:rPr lang="fr-FR" dirty="0" err="1"/>
              <a:t>httpd</a:t>
            </a:r>
            <a:r>
              <a:rPr lang="fr-FR" dirty="0"/>
              <a:t> </a:t>
            </a:r>
            <a:r>
              <a:rPr lang="fr-FR" dirty="0" err="1"/>
              <a:t>setroubleshoot</a:t>
            </a:r>
            <a:r>
              <a:rPr lang="fr-FR" dirty="0"/>
              <a:t> </a:t>
            </a:r>
            <a:r>
              <a:rPr lang="fr-FR" dirty="0" err="1"/>
              <a:t>setools</a:t>
            </a:r>
            <a:r>
              <a:rPr lang="fr-FR" dirty="0"/>
              <a:t> </a:t>
            </a:r>
            <a:r>
              <a:rPr lang="fr-FR" dirty="0" err="1"/>
              <a:t>policycoreutils</a:t>
            </a:r>
            <a:r>
              <a:rPr lang="fr-FR" dirty="0"/>
              <a:t> </a:t>
            </a:r>
            <a:r>
              <a:rPr lang="fr-FR" dirty="0" err="1"/>
              <a:t>policycoreutils</a:t>
            </a:r>
            <a:r>
              <a:rPr lang="fr-FR" dirty="0"/>
              <a:t>-python</a:t>
            </a:r>
          </a:p>
          <a:p>
            <a:pPr lvl="1" algn="just"/>
            <a:r>
              <a:rPr lang="en-US" dirty="0"/>
              <a:t>On </a:t>
            </a:r>
            <a:r>
              <a:rPr lang="en-US" dirty="0" err="1"/>
              <a:t>AlmaLinux</a:t>
            </a:r>
            <a:r>
              <a:rPr lang="en-US" dirty="0"/>
              <a:t> 8 or 9, use the following command:</a:t>
            </a:r>
          </a:p>
          <a:p>
            <a:pPr lvl="2" algn="just"/>
            <a:r>
              <a:rPr lang="fr-FR" dirty="0" err="1"/>
              <a:t>sudo</a:t>
            </a:r>
            <a:r>
              <a:rPr lang="fr-FR" dirty="0"/>
              <a:t> </a:t>
            </a:r>
            <a:r>
              <a:rPr lang="fr-FR" dirty="0" err="1"/>
              <a:t>dnf</a:t>
            </a:r>
            <a:r>
              <a:rPr lang="fr-FR" dirty="0"/>
              <a:t> </a:t>
            </a:r>
            <a:r>
              <a:rPr lang="fr-FR" dirty="0" err="1"/>
              <a:t>install</a:t>
            </a:r>
            <a:r>
              <a:rPr lang="fr-FR" dirty="0"/>
              <a:t> </a:t>
            </a:r>
            <a:r>
              <a:rPr lang="fr-FR" dirty="0" err="1"/>
              <a:t>httpd</a:t>
            </a:r>
            <a:r>
              <a:rPr lang="fr-FR" dirty="0"/>
              <a:t> </a:t>
            </a:r>
            <a:r>
              <a:rPr lang="fr-FR" dirty="0" err="1"/>
              <a:t>setroubleshoot</a:t>
            </a:r>
            <a:r>
              <a:rPr lang="fr-FR" dirty="0"/>
              <a:t> </a:t>
            </a:r>
            <a:r>
              <a:rPr lang="fr-FR" dirty="0" err="1"/>
              <a:t>setools</a:t>
            </a:r>
            <a:r>
              <a:rPr lang="fr-FR" dirty="0"/>
              <a:t> </a:t>
            </a:r>
            <a:r>
              <a:rPr lang="fr-FR" dirty="0" err="1"/>
              <a:t>policycoreutils</a:t>
            </a:r>
            <a:r>
              <a:rPr lang="fr-FR" dirty="0"/>
              <a:t> </a:t>
            </a:r>
            <a:r>
              <a:rPr lang="fr-FR" dirty="0" err="1"/>
              <a:t>policycoreutils</a:t>
            </a:r>
            <a:r>
              <a:rPr lang="fr-FR" dirty="0"/>
              <a:t>-python-</a:t>
            </a:r>
            <a:r>
              <a:rPr lang="fr-FR" dirty="0" err="1"/>
              <a:t>utils</a:t>
            </a:r>
            <a:endParaRPr lang="fr-FR" dirty="0"/>
          </a:p>
          <a:p>
            <a:pPr lvl="1" algn="just"/>
            <a:r>
              <a:rPr lang="en-US" dirty="0"/>
              <a:t>Activate </a:t>
            </a:r>
            <a:r>
              <a:rPr lang="en-US" b="1" dirty="0" err="1"/>
              <a:t>setroubleshoot</a:t>
            </a:r>
            <a:r>
              <a:rPr lang="en-US" dirty="0"/>
              <a:t> by restarting the </a:t>
            </a:r>
            <a:r>
              <a:rPr lang="en-US" dirty="0" err="1"/>
              <a:t>auditd</a:t>
            </a:r>
            <a:r>
              <a:rPr lang="en-US" dirty="0"/>
              <a:t> service:</a:t>
            </a:r>
          </a:p>
          <a:p>
            <a:pPr lvl="2" algn="just"/>
            <a:r>
              <a:rPr lang="fr-FR" dirty="0" err="1"/>
              <a:t>sudo</a:t>
            </a:r>
            <a:r>
              <a:rPr lang="fr-FR" dirty="0"/>
              <a:t> service </a:t>
            </a:r>
            <a:r>
              <a:rPr lang="fr-FR" dirty="0" err="1"/>
              <a:t>auditd</a:t>
            </a:r>
            <a:r>
              <a:rPr lang="fr-FR" dirty="0"/>
              <a:t> restart</a:t>
            </a:r>
          </a:p>
          <a:p>
            <a:pPr lvl="1" algn="just"/>
            <a:r>
              <a:rPr lang="en-US" dirty="0"/>
              <a:t>Enable and start the Apache service and open port 80 on the firewall:</a:t>
            </a:r>
          </a:p>
          <a:p>
            <a:pPr lvl="2" algn="just"/>
            <a:r>
              <a:rPr lang="fr-FR" dirty="0" err="1"/>
              <a:t>sudo</a:t>
            </a:r>
            <a:r>
              <a:rPr lang="fr-FR" dirty="0"/>
              <a:t> </a:t>
            </a:r>
            <a:r>
              <a:rPr lang="fr-FR" dirty="0" err="1"/>
              <a:t>systemctl</a:t>
            </a:r>
            <a:r>
              <a:rPr lang="fr-FR" dirty="0"/>
              <a:t> enable --</a:t>
            </a:r>
            <a:r>
              <a:rPr lang="fr-FR" dirty="0" err="1"/>
              <a:t>now</a:t>
            </a:r>
            <a:r>
              <a:rPr lang="fr-FR" dirty="0"/>
              <a:t> </a:t>
            </a:r>
            <a:r>
              <a:rPr lang="fr-FR" dirty="0" err="1"/>
              <a:t>httpd</a:t>
            </a:r>
            <a:endParaRPr lang="fr-FR" dirty="0"/>
          </a:p>
          <a:p>
            <a:pPr lvl="2" algn="just"/>
            <a:r>
              <a:rPr lang="fr-FR" dirty="0" err="1"/>
              <a:t>sudo</a:t>
            </a:r>
            <a:r>
              <a:rPr lang="fr-FR" dirty="0"/>
              <a:t> firewall-cmd --permanent --</a:t>
            </a:r>
            <a:r>
              <a:rPr lang="fr-FR" dirty="0" err="1"/>
              <a:t>add</a:t>
            </a:r>
            <a:r>
              <a:rPr lang="fr-FR" dirty="0"/>
              <a:t>-service=http</a:t>
            </a:r>
          </a:p>
          <a:p>
            <a:pPr lvl="2" algn="just"/>
            <a:r>
              <a:rPr lang="fr-FR" dirty="0" err="1"/>
              <a:t>sudo</a:t>
            </a:r>
            <a:r>
              <a:rPr lang="fr-FR" dirty="0"/>
              <a:t> firewall-cmd --</a:t>
            </a:r>
            <a:r>
              <a:rPr lang="fr-FR" dirty="0" err="1"/>
              <a:t>reload</a:t>
            </a:r>
            <a:endParaRPr lang="fr-FR" dirty="0"/>
          </a:p>
        </p:txBody>
      </p:sp>
    </p:spTree>
    <p:extLst>
      <p:ext uri="{BB962C8B-B14F-4D97-AF65-F5344CB8AC3E}">
        <p14:creationId xmlns:p14="http://schemas.microsoft.com/office/powerpoint/2010/main" val="1275772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3EF78B-B481-AB7B-05A5-9AF99D814C6D}"/>
              </a:ext>
            </a:extLst>
          </p:cNvPr>
          <p:cNvSpPr>
            <a:spLocks noGrp="1"/>
          </p:cNvSpPr>
          <p:nvPr>
            <p:ph type="title"/>
          </p:nvPr>
        </p:nvSpPr>
        <p:spPr/>
        <p:txBody>
          <a:bodyPr/>
          <a:lstStyle/>
          <a:p>
            <a:r>
              <a:rPr lang="fr-FR" dirty="0" err="1"/>
              <a:t>SELinux</a:t>
            </a:r>
            <a:r>
              <a:rPr lang="fr-FR" dirty="0"/>
              <a:t> type </a:t>
            </a:r>
            <a:r>
              <a:rPr lang="fr-FR" dirty="0" err="1"/>
              <a:t>enforcement</a:t>
            </a:r>
            <a:endParaRPr lang="fr-FR" dirty="0"/>
          </a:p>
        </p:txBody>
      </p:sp>
      <p:sp>
        <p:nvSpPr>
          <p:cNvPr id="5" name="Content Placeholder 4">
            <a:extLst>
              <a:ext uri="{FF2B5EF4-FFF2-40B4-BE49-F238E27FC236}">
                <a16:creationId xmlns:a16="http://schemas.microsoft.com/office/drawing/2014/main" id="{34DEA64B-C9F9-7103-B885-C740C533418C}"/>
              </a:ext>
            </a:extLst>
          </p:cNvPr>
          <p:cNvSpPr>
            <a:spLocks noGrp="1"/>
          </p:cNvSpPr>
          <p:nvPr>
            <p:ph idx="1"/>
          </p:nvPr>
        </p:nvSpPr>
        <p:spPr>
          <a:xfrm>
            <a:off x="838200" y="1825624"/>
            <a:ext cx="10515600" cy="4525169"/>
          </a:xfrm>
        </p:spPr>
        <p:txBody>
          <a:bodyPr>
            <a:normAutofit fontScale="92500" lnSpcReduction="10000"/>
          </a:bodyPr>
          <a:lstStyle/>
          <a:p>
            <a:pPr algn="just"/>
            <a:r>
              <a:rPr lang="en-US" dirty="0"/>
              <a:t>In the /var/www/html/ directory, create an index.html file with the following contents:</a:t>
            </a:r>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View the information about the index.html file:</a:t>
            </a:r>
          </a:p>
          <a:p>
            <a:pPr lvl="1" algn="just"/>
            <a:r>
              <a:rPr lang="en-US" dirty="0"/>
              <a:t>ls -Z index.html</a:t>
            </a:r>
          </a:p>
          <a:p>
            <a:pPr algn="just"/>
            <a:r>
              <a:rPr lang="en-US" dirty="0"/>
              <a:t>In your host machine’s web browser, navigate to the IP address of the CentOS virtual machine. You should be able to view the page.</a:t>
            </a:r>
          </a:p>
          <a:p>
            <a:pPr lvl="1" algn="just"/>
            <a:endParaRPr lang="fr-FR" dirty="0"/>
          </a:p>
        </p:txBody>
      </p:sp>
      <p:sp>
        <p:nvSpPr>
          <p:cNvPr id="3" name="TextBox 2">
            <a:extLst>
              <a:ext uri="{FF2B5EF4-FFF2-40B4-BE49-F238E27FC236}">
                <a16:creationId xmlns:a16="http://schemas.microsoft.com/office/drawing/2014/main" id="{74B230BA-7353-8EA7-481A-02595302A37A}"/>
              </a:ext>
            </a:extLst>
          </p:cNvPr>
          <p:cNvSpPr txBox="1"/>
          <p:nvPr/>
        </p:nvSpPr>
        <p:spPr>
          <a:xfrm>
            <a:off x="3047405" y="2753470"/>
            <a:ext cx="6097190" cy="2308324"/>
          </a:xfrm>
          <a:prstGeom prst="rect">
            <a:avLst/>
          </a:prstGeom>
          <a:noFill/>
        </p:spPr>
        <p:txBody>
          <a:bodyPr wrap="square">
            <a:spAutoFit/>
          </a:bodyPr>
          <a:lstStyle/>
          <a:p>
            <a:pPr algn="l"/>
            <a:r>
              <a:rPr lang="fr-FR" sz="1800" b="0" i="0" u="none" strike="noStrike" baseline="0" dirty="0">
                <a:solidFill>
                  <a:srgbClr val="383A42"/>
                </a:solidFill>
                <a:latin typeface="Consolas" panose="020B0609020204030204" pitchFamily="49" charset="0"/>
              </a:rPr>
              <a:t>&lt;</a:t>
            </a:r>
            <a:r>
              <a:rPr lang="fr-FR" sz="1800" b="0" i="0" u="none" strike="noStrike" baseline="0" dirty="0">
                <a:solidFill>
                  <a:srgbClr val="E55649"/>
                </a:solidFill>
                <a:latin typeface="Consolas" panose="020B0609020204030204" pitchFamily="49" charset="0"/>
              </a:rPr>
              <a:t>html</a:t>
            </a:r>
            <a:r>
              <a:rPr lang="fr-FR" sz="1800" b="0" i="0" u="none" strike="noStrike" baseline="0" dirty="0">
                <a:solidFill>
                  <a:srgbClr val="383A42"/>
                </a:solidFill>
                <a:latin typeface="Consolas" panose="020B0609020204030204" pitchFamily="49" charset="0"/>
              </a:rPr>
              <a:t>&gt;</a:t>
            </a:r>
          </a:p>
          <a:p>
            <a:pPr algn="l"/>
            <a:r>
              <a:rPr lang="fr-FR" sz="1800" b="0" i="0" u="none" strike="noStrike" baseline="0" dirty="0">
                <a:solidFill>
                  <a:srgbClr val="383A42"/>
                </a:solidFill>
                <a:latin typeface="Consolas" panose="020B0609020204030204" pitchFamily="49" charset="0"/>
              </a:rPr>
              <a:t>&lt;</a:t>
            </a:r>
            <a:r>
              <a:rPr lang="fr-FR" sz="1800" b="0" i="0" u="none" strike="noStrike" baseline="0" dirty="0" err="1">
                <a:solidFill>
                  <a:srgbClr val="E55649"/>
                </a:solidFill>
                <a:latin typeface="Consolas" panose="020B0609020204030204" pitchFamily="49" charset="0"/>
              </a:rPr>
              <a:t>head</a:t>
            </a:r>
            <a:r>
              <a:rPr lang="fr-FR" sz="1800" b="0" i="0" u="none" strike="noStrike" baseline="0" dirty="0">
                <a:solidFill>
                  <a:srgbClr val="383A42"/>
                </a:solidFill>
                <a:latin typeface="Consolas" panose="020B0609020204030204" pitchFamily="49" charset="0"/>
              </a:rPr>
              <a:t>&gt;</a:t>
            </a:r>
          </a:p>
          <a:p>
            <a:pPr algn="l"/>
            <a:r>
              <a:rPr lang="en-US" sz="1800" b="0" i="0" u="none" strike="noStrike" baseline="0" dirty="0">
                <a:solidFill>
                  <a:srgbClr val="383A42"/>
                </a:solidFill>
                <a:latin typeface="Consolas" panose="020B0609020204030204" pitchFamily="49" charset="0"/>
              </a:rPr>
              <a:t>&lt;</a:t>
            </a:r>
            <a:r>
              <a:rPr lang="en-US" sz="1800" b="0" i="0" u="none" strike="noStrike" baseline="0" dirty="0">
                <a:solidFill>
                  <a:srgbClr val="E55649"/>
                </a:solidFill>
                <a:latin typeface="Consolas" panose="020B0609020204030204" pitchFamily="49" charset="0"/>
              </a:rPr>
              <a:t>title</a:t>
            </a:r>
            <a:r>
              <a:rPr lang="en-US" sz="1800" b="0" i="0" u="none" strike="noStrike" baseline="0" dirty="0">
                <a:solidFill>
                  <a:srgbClr val="383A42"/>
                </a:solidFill>
                <a:latin typeface="Consolas" panose="020B0609020204030204" pitchFamily="49" charset="0"/>
              </a:rPr>
              <a:t>&gt;</a:t>
            </a:r>
            <a:r>
              <a:rPr lang="en-US" sz="1800" b="0" i="0" u="none" strike="noStrike" baseline="0" dirty="0" err="1">
                <a:solidFill>
                  <a:srgbClr val="383A42"/>
                </a:solidFill>
                <a:latin typeface="Consolas" panose="020B0609020204030204" pitchFamily="49" charset="0"/>
              </a:rPr>
              <a:t>SELinux</a:t>
            </a:r>
            <a:r>
              <a:rPr lang="en-US" sz="1800" b="0" i="0" u="none" strike="noStrike" baseline="0" dirty="0">
                <a:solidFill>
                  <a:srgbClr val="383A42"/>
                </a:solidFill>
                <a:latin typeface="Consolas" panose="020B0609020204030204" pitchFamily="49" charset="0"/>
              </a:rPr>
              <a:t> Test Page&lt;/</a:t>
            </a:r>
            <a:r>
              <a:rPr lang="en-US" sz="1800" b="0" i="0" u="none" strike="noStrike" baseline="0" dirty="0">
                <a:solidFill>
                  <a:srgbClr val="E55649"/>
                </a:solidFill>
                <a:latin typeface="Consolas" panose="020B0609020204030204" pitchFamily="49" charset="0"/>
              </a:rPr>
              <a:t>title</a:t>
            </a:r>
            <a:r>
              <a:rPr lang="en-US" sz="1800" b="0" i="0" u="none" strike="noStrike" baseline="0" dirty="0">
                <a:solidFill>
                  <a:srgbClr val="383A42"/>
                </a:solidFill>
                <a:latin typeface="Consolas" panose="020B0609020204030204" pitchFamily="49" charset="0"/>
              </a:rPr>
              <a:t>&gt;</a:t>
            </a:r>
          </a:p>
          <a:p>
            <a:pPr algn="l"/>
            <a:r>
              <a:rPr lang="fr-FR" sz="1800" b="0" i="0" u="none" strike="noStrike" baseline="0" dirty="0">
                <a:solidFill>
                  <a:srgbClr val="383A42"/>
                </a:solidFill>
                <a:latin typeface="Consolas" panose="020B0609020204030204" pitchFamily="49" charset="0"/>
              </a:rPr>
              <a:t>&lt;/</a:t>
            </a:r>
            <a:r>
              <a:rPr lang="fr-FR" sz="1800" b="0" i="0" u="none" strike="noStrike" baseline="0" dirty="0" err="1">
                <a:solidFill>
                  <a:srgbClr val="E55649"/>
                </a:solidFill>
                <a:latin typeface="Consolas" panose="020B0609020204030204" pitchFamily="49" charset="0"/>
              </a:rPr>
              <a:t>head</a:t>
            </a:r>
            <a:r>
              <a:rPr lang="fr-FR" sz="1800" b="0" i="0" u="none" strike="noStrike" baseline="0" dirty="0">
                <a:solidFill>
                  <a:srgbClr val="383A42"/>
                </a:solidFill>
                <a:latin typeface="Consolas" panose="020B0609020204030204" pitchFamily="49" charset="0"/>
              </a:rPr>
              <a:t>&gt;</a:t>
            </a:r>
          </a:p>
          <a:p>
            <a:pPr algn="l"/>
            <a:r>
              <a:rPr lang="fr-FR" sz="1800" b="0" i="0" u="none" strike="noStrike" baseline="0" dirty="0">
                <a:solidFill>
                  <a:srgbClr val="383A42"/>
                </a:solidFill>
                <a:latin typeface="Consolas" panose="020B0609020204030204" pitchFamily="49" charset="0"/>
              </a:rPr>
              <a:t>&lt;</a:t>
            </a:r>
            <a:r>
              <a:rPr lang="fr-FR" sz="1800" b="0" i="0" u="none" strike="noStrike" baseline="0" dirty="0">
                <a:solidFill>
                  <a:srgbClr val="E55649"/>
                </a:solidFill>
                <a:latin typeface="Consolas" panose="020B0609020204030204" pitchFamily="49" charset="0"/>
              </a:rPr>
              <a:t>body</a:t>
            </a:r>
            <a:r>
              <a:rPr lang="fr-FR" sz="1800" b="0" i="0" u="none" strike="noStrike" baseline="0" dirty="0">
                <a:solidFill>
                  <a:srgbClr val="383A42"/>
                </a:solidFill>
                <a:latin typeface="Consolas" panose="020B0609020204030204" pitchFamily="49" charset="0"/>
              </a:rPr>
              <a:t>&gt;</a:t>
            </a:r>
          </a:p>
          <a:p>
            <a:pPr algn="l"/>
            <a:r>
              <a:rPr lang="en-US" sz="1800" b="0" i="0" u="none" strike="noStrike" baseline="0" dirty="0">
                <a:solidFill>
                  <a:srgbClr val="383A42"/>
                </a:solidFill>
                <a:latin typeface="Consolas" panose="020B0609020204030204" pitchFamily="49" charset="0"/>
              </a:rPr>
              <a:t>This is a test of </a:t>
            </a:r>
            <a:r>
              <a:rPr lang="en-US" sz="1800" b="0" i="0" u="none" strike="noStrike" baseline="0" dirty="0" err="1">
                <a:solidFill>
                  <a:srgbClr val="383A42"/>
                </a:solidFill>
                <a:latin typeface="Consolas" panose="020B0609020204030204" pitchFamily="49" charset="0"/>
              </a:rPr>
              <a:t>SELinux</a:t>
            </a:r>
            <a:r>
              <a:rPr lang="en-US" sz="1800" b="0" i="0" u="none" strike="noStrike" baseline="0" dirty="0">
                <a:solidFill>
                  <a:srgbClr val="383A42"/>
                </a:solidFill>
                <a:latin typeface="Consolas" panose="020B0609020204030204" pitchFamily="49" charset="0"/>
              </a:rPr>
              <a:t>.</a:t>
            </a:r>
          </a:p>
          <a:p>
            <a:pPr algn="l"/>
            <a:r>
              <a:rPr lang="fr-FR" sz="1800" b="0" i="0" u="none" strike="noStrike" baseline="0" dirty="0">
                <a:solidFill>
                  <a:srgbClr val="383A42"/>
                </a:solidFill>
                <a:latin typeface="Consolas" panose="020B0609020204030204" pitchFamily="49" charset="0"/>
              </a:rPr>
              <a:t>&lt;/</a:t>
            </a:r>
            <a:r>
              <a:rPr lang="fr-FR" sz="1800" b="0" i="0" u="none" strike="noStrike" baseline="0" dirty="0">
                <a:solidFill>
                  <a:srgbClr val="E55649"/>
                </a:solidFill>
                <a:latin typeface="Consolas" panose="020B0609020204030204" pitchFamily="49" charset="0"/>
              </a:rPr>
              <a:t>body</a:t>
            </a:r>
            <a:r>
              <a:rPr lang="fr-FR" sz="1800" b="0" i="0" u="none" strike="noStrike" baseline="0" dirty="0">
                <a:solidFill>
                  <a:srgbClr val="383A42"/>
                </a:solidFill>
                <a:latin typeface="Consolas" panose="020B0609020204030204" pitchFamily="49" charset="0"/>
              </a:rPr>
              <a:t>&gt;</a:t>
            </a:r>
          </a:p>
          <a:p>
            <a:pPr algn="l"/>
            <a:r>
              <a:rPr lang="fr-FR" sz="1800" b="0" i="0" u="none" strike="noStrike" baseline="0" dirty="0">
                <a:solidFill>
                  <a:srgbClr val="383A42"/>
                </a:solidFill>
                <a:latin typeface="Consolas" panose="020B0609020204030204" pitchFamily="49" charset="0"/>
              </a:rPr>
              <a:t>&lt;/</a:t>
            </a:r>
            <a:r>
              <a:rPr lang="fr-FR" sz="1800" b="0" i="0" u="none" strike="noStrike" baseline="0" dirty="0">
                <a:solidFill>
                  <a:srgbClr val="E55649"/>
                </a:solidFill>
                <a:latin typeface="Consolas" panose="020B0609020204030204" pitchFamily="49" charset="0"/>
              </a:rPr>
              <a:t>html</a:t>
            </a:r>
            <a:r>
              <a:rPr lang="fr-FR" sz="1800" b="0" i="0" u="none" strike="noStrike" baseline="0" dirty="0">
                <a:solidFill>
                  <a:srgbClr val="383A42"/>
                </a:solidFill>
                <a:latin typeface="Consolas" panose="020B0609020204030204" pitchFamily="49" charset="0"/>
              </a:rPr>
              <a:t>&gt;</a:t>
            </a:r>
            <a:endParaRPr lang="fr-FR" dirty="0"/>
          </a:p>
        </p:txBody>
      </p:sp>
    </p:spTree>
    <p:extLst>
      <p:ext uri="{BB962C8B-B14F-4D97-AF65-F5344CB8AC3E}">
        <p14:creationId xmlns:p14="http://schemas.microsoft.com/office/powerpoint/2010/main" val="9747730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3EF78B-B481-AB7B-05A5-9AF99D814C6D}"/>
              </a:ext>
            </a:extLst>
          </p:cNvPr>
          <p:cNvSpPr>
            <a:spLocks noGrp="1"/>
          </p:cNvSpPr>
          <p:nvPr>
            <p:ph type="title"/>
          </p:nvPr>
        </p:nvSpPr>
        <p:spPr/>
        <p:txBody>
          <a:bodyPr/>
          <a:lstStyle/>
          <a:p>
            <a:r>
              <a:rPr lang="fr-FR" dirty="0" err="1"/>
              <a:t>SELinux</a:t>
            </a:r>
            <a:r>
              <a:rPr lang="fr-FR" dirty="0"/>
              <a:t> type </a:t>
            </a:r>
            <a:r>
              <a:rPr lang="fr-FR" dirty="0" err="1"/>
              <a:t>enforcement</a:t>
            </a:r>
            <a:endParaRPr lang="fr-FR" dirty="0"/>
          </a:p>
        </p:txBody>
      </p:sp>
      <p:sp>
        <p:nvSpPr>
          <p:cNvPr id="5" name="Content Placeholder 4">
            <a:extLst>
              <a:ext uri="{FF2B5EF4-FFF2-40B4-BE49-F238E27FC236}">
                <a16:creationId xmlns:a16="http://schemas.microsoft.com/office/drawing/2014/main" id="{34DEA64B-C9F9-7103-B885-C740C533418C}"/>
              </a:ext>
            </a:extLst>
          </p:cNvPr>
          <p:cNvSpPr>
            <a:spLocks noGrp="1"/>
          </p:cNvSpPr>
          <p:nvPr>
            <p:ph idx="1"/>
          </p:nvPr>
        </p:nvSpPr>
        <p:spPr>
          <a:xfrm>
            <a:off x="838200" y="1825624"/>
            <a:ext cx="10515600" cy="4525169"/>
          </a:xfrm>
        </p:spPr>
        <p:txBody>
          <a:bodyPr>
            <a:normAutofit lnSpcReduction="10000"/>
          </a:bodyPr>
          <a:lstStyle/>
          <a:p>
            <a:pPr algn="just"/>
            <a:r>
              <a:rPr lang="en-US" dirty="0"/>
              <a:t>Induce an </a:t>
            </a:r>
            <a:r>
              <a:rPr lang="en-US" dirty="0" err="1"/>
              <a:t>SELinux</a:t>
            </a:r>
            <a:r>
              <a:rPr lang="en-US" dirty="0"/>
              <a:t> violation by changing the type of the index.html file to something that’s incorrect:</a:t>
            </a:r>
          </a:p>
          <a:p>
            <a:pPr lvl="1" algn="just"/>
            <a:r>
              <a:rPr lang="fr-FR" dirty="0" err="1"/>
              <a:t>sudo</a:t>
            </a:r>
            <a:r>
              <a:rPr lang="fr-FR" dirty="0"/>
              <a:t> </a:t>
            </a:r>
            <a:r>
              <a:rPr lang="fr-FR" dirty="0" err="1"/>
              <a:t>chcon</a:t>
            </a:r>
            <a:r>
              <a:rPr lang="fr-FR" dirty="0"/>
              <a:t> -t </a:t>
            </a:r>
            <a:r>
              <a:rPr lang="fr-FR" dirty="0" err="1"/>
              <a:t>tmp_t</a:t>
            </a:r>
            <a:r>
              <a:rPr lang="fr-FR" dirty="0"/>
              <a:t> index.html</a:t>
            </a:r>
          </a:p>
          <a:p>
            <a:pPr lvl="1" algn="just"/>
            <a:r>
              <a:rPr lang="fr-FR" dirty="0"/>
              <a:t>ls -Z index.html</a:t>
            </a:r>
          </a:p>
          <a:p>
            <a:pPr algn="just"/>
            <a:r>
              <a:rPr lang="en-US" dirty="0"/>
              <a:t>Go back to your host machine’s web browser and reload the document. You should now see a </a:t>
            </a:r>
            <a:r>
              <a:rPr lang="en-US" b="1" dirty="0"/>
              <a:t>Forbidden</a:t>
            </a:r>
            <a:r>
              <a:rPr lang="en-US" dirty="0"/>
              <a:t> message.</a:t>
            </a:r>
          </a:p>
          <a:p>
            <a:pPr algn="just"/>
            <a:r>
              <a:rPr lang="en-US" dirty="0"/>
              <a:t>Use </a:t>
            </a:r>
            <a:r>
              <a:rPr lang="en-US" b="1" dirty="0" err="1"/>
              <a:t>restorecon</a:t>
            </a:r>
            <a:r>
              <a:rPr lang="en-US" dirty="0"/>
              <a:t> to change the file back to its correct type:</a:t>
            </a:r>
          </a:p>
          <a:p>
            <a:pPr lvl="1" algn="just"/>
            <a:r>
              <a:rPr lang="fr-FR" dirty="0" err="1"/>
              <a:t>sudo</a:t>
            </a:r>
            <a:r>
              <a:rPr lang="fr-FR" dirty="0"/>
              <a:t> </a:t>
            </a:r>
            <a:r>
              <a:rPr lang="fr-FR" dirty="0" err="1"/>
              <a:t>restorecon</a:t>
            </a:r>
            <a:r>
              <a:rPr lang="fr-FR" dirty="0"/>
              <a:t> index.html</a:t>
            </a:r>
          </a:p>
          <a:p>
            <a:pPr algn="just"/>
            <a:r>
              <a:rPr lang="en-US" dirty="0"/>
              <a:t>Reload the page in your host machine’s web browser. You should now be able to view the page.</a:t>
            </a:r>
          </a:p>
          <a:p>
            <a:pPr algn="just"/>
            <a:r>
              <a:rPr lang="en-US" dirty="0"/>
              <a:t>End of lab.</a:t>
            </a:r>
            <a:endParaRPr lang="fr-FR" dirty="0"/>
          </a:p>
        </p:txBody>
      </p:sp>
    </p:spTree>
    <p:extLst>
      <p:ext uri="{BB962C8B-B14F-4D97-AF65-F5344CB8AC3E}">
        <p14:creationId xmlns:p14="http://schemas.microsoft.com/office/powerpoint/2010/main" val="12949277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80EF30-25B2-C021-191D-C4373EF26456}"/>
              </a:ext>
            </a:extLst>
          </p:cNvPr>
          <p:cNvSpPr>
            <a:spLocks noGrp="1"/>
          </p:cNvSpPr>
          <p:nvPr>
            <p:ph type="title"/>
          </p:nvPr>
        </p:nvSpPr>
        <p:spPr/>
        <p:txBody>
          <a:bodyPr/>
          <a:lstStyle/>
          <a:p>
            <a:r>
              <a:rPr lang="fr-FR" dirty="0" err="1"/>
              <a:t>Lab</a:t>
            </a:r>
            <a:r>
              <a:rPr lang="fr-FR" dirty="0"/>
              <a:t> 13</a:t>
            </a:r>
          </a:p>
        </p:txBody>
      </p:sp>
      <p:sp>
        <p:nvSpPr>
          <p:cNvPr id="5" name="Text Placeholder 4">
            <a:extLst>
              <a:ext uri="{FF2B5EF4-FFF2-40B4-BE49-F238E27FC236}">
                <a16:creationId xmlns:a16="http://schemas.microsoft.com/office/drawing/2014/main" id="{395E1D01-C266-BD1D-1A8F-36EB73E8A7F7}"/>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965441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919E9-ADFD-71D8-F500-4C9833077F32}"/>
              </a:ext>
            </a:extLst>
          </p:cNvPr>
          <p:cNvSpPr>
            <a:spLocks noGrp="1"/>
          </p:cNvSpPr>
          <p:nvPr>
            <p:ph type="title"/>
          </p:nvPr>
        </p:nvSpPr>
        <p:spPr/>
        <p:txBody>
          <a:bodyPr/>
          <a:lstStyle/>
          <a:p>
            <a:r>
              <a:rPr lang="fr-FR" dirty="0" err="1"/>
              <a:t>SELinux</a:t>
            </a:r>
            <a:r>
              <a:rPr lang="fr-FR" dirty="0"/>
              <a:t> </a:t>
            </a:r>
            <a:r>
              <a:rPr lang="fr-FR" dirty="0" err="1"/>
              <a:t>Booleans</a:t>
            </a:r>
            <a:r>
              <a:rPr lang="fr-FR" dirty="0"/>
              <a:t> and ports</a:t>
            </a:r>
          </a:p>
        </p:txBody>
      </p:sp>
      <p:sp>
        <p:nvSpPr>
          <p:cNvPr id="3" name="Content Placeholder 2">
            <a:extLst>
              <a:ext uri="{FF2B5EF4-FFF2-40B4-BE49-F238E27FC236}">
                <a16:creationId xmlns:a16="http://schemas.microsoft.com/office/drawing/2014/main" id="{BC2B90DB-017F-18AD-AA34-8A1F19D4CA0A}"/>
              </a:ext>
            </a:extLst>
          </p:cNvPr>
          <p:cNvSpPr>
            <a:spLocks noGrp="1"/>
          </p:cNvSpPr>
          <p:nvPr>
            <p:ph idx="1"/>
          </p:nvPr>
        </p:nvSpPr>
        <p:spPr>
          <a:xfrm>
            <a:off x="838200" y="1825625"/>
            <a:ext cx="10515600" cy="4667250"/>
          </a:xfrm>
        </p:spPr>
        <p:txBody>
          <a:bodyPr>
            <a:normAutofit fontScale="77500" lnSpcReduction="20000"/>
          </a:bodyPr>
          <a:lstStyle/>
          <a:p>
            <a:r>
              <a:rPr lang="en-US" dirty="0"/>
              <a:t>View the ports that </a:t>
            </a:r>
            <a:r>
              <a:rPr lang="en-US" dirty="0" err="1"/>
              <a:t>SELinux</a:t>
            </a:r>
            <a:r>
              <a:rPr lang="en-US" dirty="0"/>
              <a:t> allows the Apache web server daemon to use:</a:t>
            </a:r>
          </a:p>
          <a:p>
            <a:pPr lvl="1"/>
            <a:r>
              <a:rPr lang="fr-FR" dirty="0" err="1"/>
              <a:t>sudo</a:t>
            </a:r>
            <a:r>
              <a:rPr lang="fr-FR" dirty="0"/>
              <a:t> </a:t>
            </a:r>
            <a:r>
              <a:rPr lang="fr-FR" dirty="0" err="1"/>
              <a:t>semanage</a:t>
            </a:r>
            <a:r>
              <a:rPr lang="fr-FR" dirty="0"/>
              <a:t> port -l | </a:t>
            </a:r>
            <a:r>
              <a:rPr lang="fr-FR" dirty="0" err="1"/>
              <a:t>grep</a:t>
            </a:r>
            <a:r>
              <a:rPr lang="fr-FR" dirty="0"/>
              <a:t> 'http’</a:t>
            </a:r>
          </a:p>
          <a:p>
            <a:pPr algn="just"/>
            <a:r>
              <a:rPr lang="en-US" dirty="0"/>
              <a:t>Open the /</a:t>
            </a:r>
            <a:r>
              <a:rPr lang="en-US" dirty="0" err="1"/>
              <a:t>etc</a:t>
            </a:r>
            <a:r>
              <a:rPr lang="en-US" dirty="0"/>
              <a:t>/httpd/conf/</a:t>
            </a:r>
            <a:r>
              <a:rPr lang="en-US" dirty="0" err="1"/>
              <a:t>httpd.conf</a:t>
            </a:r>
            <a:r>
              <a:rPr lang="en-US" dirty="0"/>
              <a:t> file in your favorite text editor. Find the line that says Listen 80 and change it to Listen 82. Restart Apache by entering the following:</a:t>
            </a:r>
          </a:p>
          <a:p>
            <a:pPr lvl="1" algn="just"/>
            <a:r>
              <a:rPr lang="fr-FR" dirty="0" err="1"/>
              <a:t>sudo</a:t>
            </a:r>
            <a:r>
              <a:rPr lang="fr-FR" dirty="0"/>
              <a:t> </a:t>
            </a:r>
            <a:r>
              <a:rPr lang="fr-FR" dirty="0" err="1"/>
              <a:t>systemctl</a:t>
            </a:r>
            <a:r>
              <a:rPr lang="fr-FR" dirty="0"/>
              <a:t> restart </a:t>
            </a:r>
            <a:r>
              <a:rPr lang="fr-FR" dirty="0" err="1"/>
              <a:t>httpd</a:t>
            </a:r>
            <a:endParaRPr lang="fr-FR" dirty="0"/>
          </a:p>
          <a:p>
            <a:pPr algn="just"/>
            <a:r>
              <a:rPr lang="en-US" dirty="0"/>
              <a:t>View the error message you receive by entering:</a:t>
            </a:r>
          </a:p>
          <a:p>
            <a:pPr lvl="1" algn="just"/>
            <a:r>
              <a:rPr lang="da-DK" dirty="0"/>
              <a:t>sudo tail -20 /var/log/messages</a:t>
            </a:r>
          </a:p>
          <a:p>
            <a:pPr algn="just"/>
            <a:r>
              <a:rPr lang="en-US" dirty="0"/>
              <a:t>Add port 82 to the list of authorized ports and restart Apache:</a:t>
            </a:r>
          </a:p>
          <a:p>
            <a:pPr lvl="1" algn="just"/>
            <a:r>
              <a:rPr lang="fr-FR" dirty="0" err="1"/>
              <a:t>sudo</a:t>
            </a:r>
            <a:r>
              <a:rPr lang="fr-FR" dirty="0"/>
              <a:t> </a:t>
            </a:r>
            <a:r>
              <a:rPr lang="fr-FR" dirty="0" err="1"/>
              <a:t>semanage</a:t>
            </a:r>
            <a:r>
              <a:rPr lang="fr-FR" dirty="0"/>
              <a:t> port -a 82 -t </a:t>
            </a:r>
            <a:r>
              <a:rPr lang="fr-FR" dirty="0" err="1"/>
              <a:t>http_port_t</a:t>
            </a:r>
            <a:r>
              <a:rPr lang="fr-FR" dirty="0"/>
              <a:t> -p </a:t>
            </a:r>
            <a:r>
              <a:rPr lang="fr-FR" dirty="0" err="1"/>
              <a:t>tcp</a:t>
            </a:r>
            <a:endParaRPr lang="fr-FR" dirty="0"/>
          </a:p>
          <a:p>
            <a:pPr lvl="1" algn="just"/>
            <a:r>
              <a:rPr lang="fr-FR" dirty="0" err="1"/>
              <a:t>sudo</a:t>
            </a:r>
            <a:r>
              <a:rPr lang="fr-FR" dirty="0"/>
              <a:t> </a:t>
            </a:r>
            <a:r>
              <a:rPr lang="fr-FR" dirty="0" err="1"/>
              <a:t>semanage</a:t>
            </a:r>
            <a:r>
              <a:rPr lang="fr-FR" dirty="0"/>
              <a:t> port -l</a:t>
            </a:r>
          </a:p>
          <a:p>
            <a:pPr lvl="1" algn="just"/>
            <a:r>
              <a:rPr lang="fr-FR" dirty="0" err="1"/>
              <a:t>sudo</a:t>
            </a:r>
            <a:r>
              <a:rPr lang="fr-FR" dirty="0"/>
              <a:t> </a:t>
            </a:r>
            <a:r>
              <a:rPr lang="fr-FR" dirty="0" err="1"/>
              <a:t>systemctl</a:t>
            </a:r>
            <a:r>
              <a:rPr lang="fr-FR" dirty="0"/>
              <a:t> restart </a:t>
            </a:r>
            <a:r>
              <a:rPr lang="fr-FR" dirty="0" err="1"/>
              <a:t>httpd</a:t>
            </a:r>
            <a:endParaRPr lang="fr-FR" dirty="0"/>
          </a:p>
          <a:p>
            <a:pPr algn="just"/>
            <a:r>
              <a:rPr lang="en-US" dirty="0"/>
              <a:t>Delete the port that you just added:</a:t>
            </a:r>
          </a:p>
          <a:p>
            <a:pPr lvl="1" algn="just"/>
            <a:r>
              <a:rPr lang="fr-FR" dirty="0" err="1"/>
              <a:t>sudo</a:t>
            </a:r>
            <a:r>
              <a:rPr lang="fr-FR" dirty="0"/>
              <a:t> </a:t>
            </a:r>
            <a:r>
              <a:rPr lang="fr-FR" dirty="0" err="1"/>
              <a:t>semanage</a:t>
            </a:r>
            <a:r>
              <a:rPr lang="fr-FR" dirty="0"/>
              <a:t> -d 82 -t </a:t>
            </a:r>
            <a:r>
              <a:rPr lang="fr-FR" dirty="0" err="1"/>
              <a:t>http_port_t</a:t>
            </a:r>
            <a:r>
              <a:rPr lang="fr-FR" dirty="0"/>
              <a:t> -p </a:t>
            </a:r>
            <a:r>
              <a:rPr lang="fr-FR" dirty="0" err="1"/>
              <a:t>tcp</a:t>
            </a:r>
            <a:endParaRPr lang="fr-FR" dirty="0"/>
          </a:p>
          <a:p>
            <a:pPr algn="just"/>
            <a:r>
              <a:rPr lang="en-US" dirty="0"/>
              <a:t>Go back into the /</a:t>
            </a:r>
            <a:r>
              <a:rPr lang="en-US" dirty="0" err="1"/>
              <a:t>etc</a:t>
            </a:r>
            <a:r>
              <a:rPr lang="en-US" dirty="0"/>
              <a:t>/httpd/conf/</a:t>
            </a:r>
            <a:r>
              <a:rPr lang="en-US" dirty="0" err="1"/>
              <a:t>httpd.conf</a:t>
            </a:r>
            <a:r>
              <a:rPr lang="en-US" dirty="0"/>
              <a:t> file and change Listen 82 back to Listen 80. Restart the Apache daemon to return to normal operation.</a:t>
            </a:r>
            <a:endParaRPr lang="fr-FR" dirty="0"/>
          </a:p>
        </p:txBody>
      </p:sp>
    </p:spTree>
    <p:extLst>
      <p:ext uri="{BB962C8B-B14F-4D97-AF65-F5344CB8AC3E}">
        <p14:creationId xmlns:p14="http://schemas.microsoft.com/office/powerpoint/2010/main" val="25377295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14</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40405408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B2823-E62D-2E25-F297-5C8690E53CFF}"/>
              </a:ext>
            </a:extLst>
          </p:cNvPr>
          <p:cNvSpPr>
            <a:spLocks noGrp="1"/>
          </p:cNvSpPr>
          <p:nvPr>
            <p:ph type="title"/>
          </p:nvPr>
        </p:nvSpPr>
        <p:spPr/>
        <p:txBody>
          <a:bodyPr/>
          <a:lstStyle/>
          <a:p>
            <a:r>
              <a:rPr lang="en-US" dirty="0"/>
              <a:t>Hands-on lab for basic iptables usage</a:t>
            </a:r>
            <a:endParaRPr lang="fr-FR" dirty="0"/>
          </a:p>
        </p:txBody>
      </p:sp>
      <p:sp>
        <p:nvSpPr>
          <p:cNvPr id="5" name="Content Placeholder 4">
            <a:extLst>
              <a:ext uri="{FF2B5EF4-FFF2-40B4-BE49-F238E27FC236}">
                <a16:creationId xmlns:a16="http://schemas.microsoft.com/office/drawing/2014/main" id="{284202BB-B014-DEE5-7255-6CFE6C7A3508}"/>
              </a:ext>
            </a:extLst>
          </p:cNvPr>
          <p:cNvSpPr>
            <a:spLocks noGrp="1"/>
          </p:cNvSpPr>
          <p:nvPr>
            <p:ph idx="1"/>
          </p:nvPr>
        </p:nvSpPr>
        <p:spPr/>
        <p:txBody>
          <a:bodyPr/>
          <a:lstStyle/>
          <a:p>
            <a:r>
              <a:rPr lang="fr-FR" dirty="0"/>
              <a:t>Ubuntu 20.04 </a:t>
            </a:r>
            <a:r>
              <a:rPr lang="fr-FR" dirty="0" err="1"/>
              <a:t>virtual</a:t>
            </a:r>
            <a:r>
              <a:rPr lang="fr-FR" dirty="0"/>
              <a:t> machine</a:t>
            </a:r>
          </a:p>
          <a:p>
            <a:pPr lvl="1"/>
            <a:r>
              <a:rPr lang="en-US" dirty="0"/>
              <a:t>Shut down your Ubuntu virtual machine and create a snapshot. After you boot it back up, look at your iptables rules, or lack thereof, by using this command:</a:t>
            </a:r>
          </a:p>
          <a:p>
            <a:pPr lvl="2"/>
            <a:r>
              <a:rPr lang="fr-FR" dirty="0" err="1"/>
              <a:t>sudo</a:t>
            </a:r>
            <a:r>
              <a:rPr lang="fr-FR" dirty="0"/>
              <a:t> </a:t>
            </a:r>
            <a:r>
              <a:rPr lang="fr-FR" dirty="0" err="1"/>
              <a:t>iptables</a:t>
            </a:r>
            <a:r>
              <a:rPr lang="fr-FR" dirty="0"/>
              <a:t> –L</a:t>
            </a:r>
          </a:p>
          <a:p>
            <a:pPr lvl="1"/>
            <a:r>
              <a:rPr lang="en-US" dirty="0"/>
              <a:t>With a default Ubuntu setup, the Uncomplicated Firewall (</a:t>
            </a:r>
            <a:r>
              <a:rPr lang="en-US" dirty="0" err="1"/>
              <a:t>ufw</a:t>
            </a:r>
            <a:r>
              <a:rPr lang="en-US" dirty="0"/>
              <a:t>) service is already running, albeit with an </a:t>
            </a:r>
            <a:r>
              <a:rPr lang="en-US" dirty="0" err="1"/>
              <a:t>unactivated</a:t>
            </a:r>
            <a:r>
              <a:rPr lang="en-US" dirty="0"/>
              <a:t> firewall configuration. We want to disable it to work directly with iptables. Do that now with this command:</a:t>
            </a:r>
          </a:p>
          <a:p>
            <a:pPr lvl="2"/>
            <a:r>
              <a:rPr lang="en-US" dirty="0" err="1"/>
              <a:t>sudo</a:t>
            </a:r>
            <a:r>
              <a:rPr lang="en-US" dirty="0"/>
              <a:t> </a:t>
            </a:r>
            <a:r>
              <a:rPr lang="en-US" dirty="0" err="1"/>
              <a:t>systemctl</a:t>
            </a:r>
            <a:r>
              <a:rPr lang="en-US" dirty="0"/>
              <a:t> disable --now </a:t>
            </a:r>
            <a:r>
              <a:rPr lang="en-US" dirty="0" err="1"/>
              <a:t>ufw</a:t>
            </a:r>
            <a:endParaRPr lang="en-US" dirty="0"/>
          </a:p>
          <a:p>
            <a:pPr marL="457200" lvl="1" indent="0">
              <a:buNone/>
            </a:pPr>
            <a:endParaRPr lang="fr-FR" dirty="0"/>
          </a:p>
        </p:txBody>
      </p:sp>
    </p:spTree>
    <p:extLst>
      <p:ext uri="{BB962C8B-B14F-4D97-AF65-F5344CB8AC3E}">
        <p14:creationId xmlns:p14="http://schemas.microsoft.com/office/powerpoint/2010/main" val="35473417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B2823-E62D-2E25-F297-5C8690E53CFF}"/>
              </a:ext>
            </a:extLst>
          </p:cNvPr>
          <p:cNvSpPr>
            <a:spLocks noGrp="1"/>
          </p:cNvSpPr>
          <p:nvPr>
            <p:ph type="title"/>
          </p:nvPr>
        </p:nvSpPr>
        <p:spPr/>
        <p:txBody>
          <a:bodyPr/>
          <a:lstStyle/>
          <a:p>
            <a:r>
              <a:rPr lang="en-US" dirty="0"/>
              <a:t>Hands-on lab for basic iptables usage</a:t>
            </a:r>
            <a:endParaRPr lang="fr-FR" dirty="0"/>
          </a:p>
        </p:txBody>
      </p:sp>
      <p:sp>
        <p:nvSpPr>
          <p:cNvPr id="5" name="Content Placeholder 4">
            <a:extLst>
              <a:ext uri="{FF2B5EF4-FFF2-40B4-BE49-F238E27FC236}">
                <a16:creationId xmlns:a16="http://schemas.microsoft.com/office/drawing/2014/main" id="{284202BB-B014-DEE5-7255-6CFE6C7A3508}"/>
              </a:ext>
            </a:extLst>
          </p:cNvPr>
          <p:cNvSpPr>
            <a:spLocks noGrp="1"/>
          </p:cNvSpPr>
          <p:nvPr>
            <p:ph idx="1"/>
          </p:nvPr>
        </p:nvSpPr>
        <p:spPr/>
        <p:txBody>
          <a:bodyPr/>
          <a:lstStyle/>
          <a:p>
            <a:r>
              <a:rPr lang="fr-FR" dirty="0"/>
              <a:t>Ubuntu 20.04 </a:t>
            </a:r>
            <a:r>
              <a:rPr lang="fr-FR" dirty="0" err="1"/>
              <a:t>virtual</a:t>
            </a:r>
            <a:r>
              <a:rPr lang="fr-FR" dirty="0"/>
              <a:t> machine</a:t>
            </a:r>
          </a:p>
          <a:p>
            <a:pPr lvl="1"/>
            <a:r>
              <a:rPr lang="en-US" dirty="0"/>
              <a:t>Create the rules that you need for a basic firewall, allowing for Secure Shell access, DNS queries and zone transfers, and the proper types of ICMP. Deny everything else:</a:t>
            </a:r>
          </a:p>
          <a:p>
            <a:pPr lvl="2"/>
            <a:endParaRPr lang="fr-FR" dirty="0"/>
          </a:p>
        </p:txBody>
      </p:sp>
      <p:pic>
        <p:nvPicPr>
          <p:cNvPr id="3" name="Picture 2">
            <a:extLst>
              <a:ext uri="{FF2B5EF4-FFF2-40B4-BE49-F238E27FC236}">
                <a16:creationId xmlns:a16="http://schemas.microsoft.com/office/drawing/2014/main" id="{94A109E1-D9C0-CE1A-C8DC-DDBB76A3FE77}"/>
              </a:ext>
            </a:extLst>
          </p:cNvPr>
          <p:cNvPicPr>
            <a:picLocks noChangeAspect="1"/>
          </p:cNvPicPr>
          <p:nvPr/>
        </p:nvPicPr>
        <p:blipFill>
          <a:blip r:embed="rId2"/>
          <a:stretch>
            <a:fillRect/>
          </a:stretch>
        </p:blipFill>
        <p:spPr>
          <a:xfrm>
            <a:off x="3837635" y="3116889"/>
            <a:ext cx="6360980" cy="3619667"/>
          </a:xfrm>
          <a:prstGeom prst="rect">
            <a:avLst/>
          </a:prstGeom>
        </p:spPr>
      </p:pic>
    </p:spTree>
    <p:extLst>
      <p:ext uri="{BB962C8B-B14F-4D97-AF65-F5344CB8AC3E}">
        <p14:creationId xmlns:p14="http://schemas.microsoft.com/office/powerpoint/2010/main" val="23974073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B2823-E62D-2E25-F297-5C8690E53CFF}"/>
              </a:ext>
            </a:extLst>
          </p:cNvPr>
          <p:cNvSpPr>
            <a:spLocks noGrp="1"/>
          </p:cNvSpPr>
          <p:nvPr>
            <p:ph type="title"/>
          </p:nvPr>
        </p:nvSpPr>
        <p:spPr/>
        <p:txBody>
          <a:bodyPr/>
          <a:lstStyle/>
          <a:p>
            <a:r>
              <a:rPr lang="en-US" dirty="0"/>
              <a:t>Hands-on lab for basic iptables usage</a:t>
            </a:r>
            <a:endParaRPr lang="fr-FR" dirty="0"/>
          </a:p>
        </p:txBody>
      </p:sp>
      <p:sp>
        <p:nvSpPr>
          <p:cNvPr id="5" name="Content Placeholder 4">
            <a:extLst>
              <a:ext uri="{FF2B5EF4-FFF2-40B4-BE49-F238E27FC236}">
                <a16:creationId xmlns:a16="http://schemas.microsoft.com/office/drawing/2014/main" id="{284202BB-B014-DEE5-7255-6CFE6C7A3508}"/>
              </a:ext>
            </a:extLst>
          </p:cNvPr>
          <p:cNvSpPr>
            <a:spLocks noGrp="1"/>
          </p:cNvSpPr>
          <p:nvPr>
            <p:ph idx="1"/>
          </p:nvPr>
        </p:nvSpPr>
        <p:spPr>
          <a:xfrm>
            <a:off x="838200" y="1825625"/>
            <a:ext cx="10515600" cy="4782344"/>
          </a:xfrm>
        </p:spPr>
        <p:txBody>
          <a:bodyPr>
            <a:normAutofit fontScale="92500" lnSpcReduction="10000"/>
          </a:bodyPr>
          <a:lstStyle/>
          <a:p>
            <a:r>
              <a:rPr lang="fr-FR" dirty="0"/>
              <a:t>Ubuntu 20.04 </a:t>
            </a:r>
            <a:r>
              <a:rPr lang="fr-FR" dirty="0" err="1"/>
              <a:t>virtual</a:t>
            </a:r>
            <a:r>
              <a:rPr lang="fr-FR" dirty="0"/>
              <a:t> machine</a:t>
            </a:r>
          </a:p>
          <a:p>
            <a:pPr lvl="1"/>
            <a:r>
              <a:rPr lang="en-US" dirty="0"/>
              <a:t>Use this command to view the results:</a:t>
            </a:r>
          </a:p>
          <a:p>
            <a:pPr lvl="2"/>
            <a:r>
              <a:rPr lang="fr-FR" dirty="0" err="1"/>
              <a:t>sudo</a:t>
            </a:r>
            <a:r>
              <a:rPr lang="fr-FR" dirty="0"/>
              <a:t> </a:t>
            </a:r>
            <a:r>
              <a:rPr lang="fr-FR" dirty="0" err="1"/>
              <a:t>iptables</a:t>
            </a:r>
            <a:r>
              <a:rPr lang="fr-FR" dirty="0"/>
              <a:t> –L</a:t>
            </a:r>
          </a:p>
          <a:p>
            <a:pPr lvl="1"/>
            <a:r>
              <a:rPr lang="en-US" dirty="0"/>
              <a:t>You forgot about that loopback interface. Add a rule for it at the top of the list:</a:t>
            </a:r>
          </a:p>
          <a:p>
            <a:pPr lvl="2"/>
            <a:r>
              <a:rPr lang="fr-FR" dirty="0" err="1"/>
              <a:t>sudo</a:t>
            </a:r>
            <a:r>
              <a:rPr lang="fr-FR" dirty="0"/>
              <a:t> </a:t>
            </a:r>
            <a:r>
              <a:rPr lang="fr-FR" dirty="0" err="1"/>
              <a:t>iptables</a:t>
            </a:r>
            <a:r>
              <a:rPr lang="fr-FR" dirty="0"/>
              <a:t> -I INPUT 1 -i lo -j ACCEPT</a:t>
            </a:r>
          </a:p>
          <a:p>
            <a:pPr lvl="1"/>
            <a:r>
              <a:rPr lang="en-US" dirty="0"/>
              <a:t>View the results by using the following two commands. Note the difference between the output of each:</a:t>
            </a:r>
          </a:p>
          <a:p>
            <a:pPr lvl="2"/>
            <a:r>
              <a:rPr lang="es-ES" dirty="0"/>
              <a:t>sudo </a:t>
            </a:r>
            <a:r>
              <a:rPr lang="es-ES" dirty="0" err="1"/>
              <a:t>iptables</a:t>
            </a:r>
            <a:r>
              <a:rPr lang="es-ES" dirty="0"/>
              <a:t> -L</a:t>
            </a:r>
          </a:p>
          <a:p>
            <a:pPr lvl="2"/>
            <a:r>
              <a:rPr lang="es-ES" dirty="0"/>
              <a:t>sudo </a:t>
            </a:r>
            <a:r>
              <a:rPr lang="es-ES" dirty="0" err="1"/>
              <a:t>iptables</a:t>
            </a:r>
            <a:r>
              <a:rPr lang="es-ES" dirty="0"/>
              <a:t> -L –v</a:t>
            </a:r>
          </a:p>
          <a:p>
            <a:pPr lvl="1"/>
            <a:r>
              <a:rPr lang="en-US" dirty="0"/>
              <a:t>Install the iptables-persistent package and choose to save the IPv4 and IPv6 rules when prompted:</a:t>
            </a:r>
          </a:p>
          <a:p>
            <a:pPr lvl="2"/>
            <a:r>
              <a:rPr lang="fr-FR" dirty="0" err="1"/>
              <a:t>sudo</a:t>
            </a:r>
            <a:r>
              <a:rPr lang="fr-FR" dirty="0"/>
              <a:t> </a:t>
            </a:r>
            <a:r>
              <a:rPr lang="fr-FR" dirty="0" err="1"/>
              <a:t>apt</a:t>
            </a:r>
            <a:r>
              <a:rPr lang="fr-FR" dirty="0"/>
              <a:t> </a:t>
            </a:r>
            <a:r>
              <a:rPr lang="fr-FR" dirty="0" err="1"/>
              <a:t>install</a:t>
            </a:r>
            <a:r>
              <a:rPr lang="fr-FR" dirty="0"/>
              <a:t> </a:t>
            </a:r>
            <a:r>
              <a:rPr lang="fr-FR" dirty="0" err="1"/>
              <a:t>iptables</a:t>
            </a:r>
            <a:r>
              <a:rPr lang="fr-FR" dirty="0"/>
              <a:t>-persistent</a:t>
            </a:r>
          </a:p>
          <a:p>
            <a:pPr lvl="1"/>
            <a:r>
              <a:rPr lang="en-US" dirty="0"/>
              <a:t>Reboot the virtual machine and verify that your rules are still active.</a:t>
            </a:r>
          </a:p>
          <a:p>
            <a:pPr lvl="1"/>
            <a:r>
              <a:rPr lang="en-US" dirty="0"/>
              <a:t>Keep this virtual machine; you’ll be adding more to it in the next hands-on lab.</a:t>
            </a:r>
            <a:endParaRPr lang="fr-FR" dirty="0"/>
          </a:p>
          <a:p>
            <a:pPr lvl="1"/>
            <a:r>
              <a:rPr lang="fr-FR" dirty="0"/>
              <a:t>End of </a:t>
            </a:r>
            <a:r>
              <a:rPr lang="fr-FR" dirty="0" err="1"/>
              <a:t>lab</a:t>
            </a:r>
            <a:endParaRPr lang="fr-FR" dirty="0"/>
          </a:p>
        </p:txBody>
      </p:sp>
    </p:spTree>
    <p:extLst>
      <p:ext uri="{BB962C8B-B14F-4D97-AF65-F5344CB8AC3E}">
        <p14:creationId xmlns:p14="http://schemas.microsoft.com/office/powerpoint/2010/main" val="1981035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15</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474303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AD6CD-9861-DCEF-2D33-22A671C45E9A}"/>
              </a:ext>
            </a:extLst>
          </p:cNvPr>
          <p:cNvSpPr>
            <a:spLocks noGrp="1"/>
          </p:cNvSpPr>
          <p:nvPr>
            <p:ph type="title"/>
          </p:nvPr>
        </p:nvSpPr>
        <p:spPr/>
        <p:txBody>
          <a:bodyPr/>
          <a:lstStyle/>
          <a:p>
            <a:r>
              <a:rPr lang="fr-FR" dirty="0"/>
              <a:t>Blocking </a:t>
            </a:r>
            <a:r>
              <a:rPr lang="fr-FR" dirty="0" err="1"/>
              <a:t>invalid</a:t>
            </a:r>
            <a:r>
              <a:rPr lang="fr-FR" dirty="0"/>
              <a:t> IPv4 </a:t>
            </a:r>
            <a:r>
              <a:rPr lang="fr-FR" dirty="0" err="1"/>
              <a:t>packets</a:t>
            </a:r>
            <a:endParaRPr lang="fr-FR" dirty="0"/>
          </a:p>
        </p:txBody>
      </p:sp>
      <p:sp>
        <p:nvSpPr>
          <p:cNvPr id="3" name="Content Placeholder 2">
            <a:extLst>
              <a:ext uri="{FF2B5EF4-FFF2-40B4-BE49-F238E27FC236}">
                <a16:creationId xmlns:a16="http://schemas.microsoft.com/office/drawing/2014/main" id="{8DEFE7E0-7F12-5A62-3DD3-22FAC1C470D9}"/>
              </a:ext>
            </a:extLst>
          </p:cNvPr>
          <p:cNvSpPr>
            <a:spLocks noGrp="1"/>
          </p:cNvSpPr>
          <p:nvPr>
            <p:ph idx="1"/>
          </p:nvPr>
        </p:nvSpPr>
        <p:spPr/>
        <p:txBody>
          <a:bodyPr>
            <a:normAutofit fontScale="85000" lnSpcReduction="20000"/>
          </a:bodyPr>
          <a:lstStyle/>
          <a:p>
            <a:r>
              <a:rPr lang="en-US" dirty="0"/>
              <a:t>Use the same virtual machine that you used for the previous lab. You won’t replace any of the rules that you already have.</a:t>
            </a:r>
          </a:p>
          <a:p>
            <a:pPr marL="914400" lvl="1" indent="-457200" algn="just">
              <a:buFont typeface="+mj-lt"/>
              <a:buAutoNum type="arabicPeriod"/>
            </a:pPr>
            <a:r>
              <a:rPr lang="en-US" dirty="0"/>
              <a:t>Look at the rules for the filter and the mangle tables. (Note that the -v option shows you statistics about packets that were blocked by the DROP and REJECT rules.) Then, zero out the blocked packets counter:</a:t>
            </a:r>
          </a:p>
          <a:p>
            <a:pPr lvl="2" algn="just"/>
            <a:r>
              <a:rPr lang="fr-FR" dirty="0" err="1"/>
              <a:t>sudo</a:t>
            </a:r>
            <a:r>
              <a:rPr lang="fr-FR" dirty="0"/>
              <a:t> </a:t>
            </a:r>
            <a:r>
              <a:rPr lang="fr-FR" dirty="0" err="1"/>
              <a:t>iptables</a:t>
            </a:r>
            <a:r>
              <a:rPr lang="fr-FR" dirty="0"/>
              <a:t> -L -v</a:t>
            </a:r>
          </a:p>
          <a:p>
            <a:pPr lvl="2" algn="just"/>
            <a:r>
              <a:rPr lang="fr-FR" dirty="0" err="1"/>
              <a:t>sudo</a:t>
            </a:r>
            <a:r>
              <a:rPr lang="fr-FR" dirty="0"/>
              <a:t> </a:t>
            </a:r>
            <a:r>
              <a:rPr lang="fr-FR" dirty="0" err="1"/>
              <a:t>iptables</a:t>
            </a:r>
            <a:r>
              <a:rPr lang="fr-FR" dirty="0"/>
              <a:t> -t mangle -L -v</a:t>
            </a:r>
          </a:p>
          <a:p>
            <a:pPr lvl="2" algn="just"/>
            <a:r>
              <a:rPr lang="fr-FR" dirty="0" err="1"/>
              <a:t>sudo</a:t>
            </a:r>
            <a:r>
              <a:rPr lang="fr-FR" dirty="0"/>
              <a:t> </a:t>
            </a:r>
            <a:r>
              <a:rPr lang="fr-FR" dirty="0" err="1"/>
              <a:t>iptables</a:t>
            </a:r>
            <a:r>
              <a:rPr lang="fr-FR" dirty="0"/>
              <a:t> -Z</a:t>
            </a:r>
          </a:p>
          <a:p>
            <a:pPr lvl="2" algn="just"/>
            <a:r>
              <a:rPr lang="fr-FR" dirty="0" err="1"/>
              <a:t>sudo</a:t>
            </a:r>
            <a:r>
              <a:rPr lang="fr-FR" dirty="0"/>
              <a:t> </a:t>
            </a:r>
            <a:r>
              <a:rPr lang="fr-FR" dirty="0" err="1"/>
              <a:t>iptables</a:t>
            </a:r>
            <a:r>
              <a:rPr lang="fr-FR" dirty="0"/>
              <a:t> -t mangle –Z</a:t>
            </a:r>
          </a:p>
          <a:p>
            <a:pPr marL="914400" lvl="1" indent="-457200" algn="just">
              <a:buFont typeface="+mj-lt"/>
              <a:buAutoNum type="arabicPeriod"/>
            </a:pPr>
            <a:r>
              <a:rPr lang="en-US" dirty="0"/>
              <a:t>From either your host machine or another virtual machine, perform the NULL and Windows Nmap scans against the virtual machine:</a:t>
            </a:r>
          </a:p>
          <a:p>
            <a:pPr lvl="2" algn="just"/>
            <a:r>
              <a:rPr lang="en-US" dirty="0" err="1"/>
              <a:t>sudo</a:t>
            </a:r>
            <a:r>
              <a:rPr lang="en-US" dirty="0"/>
              <a:t> </a:t>
            </a:r>
            <a:r>
              <a:rPr lang="en-US" dirty="0" err="1"/>
              <a:t>nmap</a:t>
            </a:r>
            <a:r>
              <a:rPr lang="en-US" dirty="0"/>
              <a:t> -</a:t>
            </a:r>
            <a:r>
              <a:rPr lang="en-US" dirty="0" err="1"/>
              <a:t>sN</a:t>
            </a:r>
            <a:r>
              <a:rPr lang="en-US" dirty="0"/>
              <a:t> </a:t>
            </a:r>
            <a:r>
              <a:rPr lang="en-US" dirty="0" err="1"/>
              <a:t>ip_address_of_your_VM</a:t>
            </a:r>
            <a:endParaRPr lang="en-US" dirty="0"/>
          </a:p>
          <a:p>
            <a:pPr lvl="2" algn="just"/>
            <a:r>
              <a:rPr lang="en-US" dirty="0" err="1"/>
              <a:t>sudo</a:t>
            </a:r>
            <a:r>
              <a:rPr lang="en-US" dirty="0"/>
              <a:t> </a:t>
            </a:r>
            <a:r>
              <a:rPr lang="en-US" dirty="0" err="1"/>
              <a:t>nmap</a:t>
            </a:r>
            <a:r>
              <a:rPr lang="en-US" dirty="0"/>
              <a:t> -</a:t>
            </a:r>
            <a:r>
              <a:rPr lang="en-US" dirty="0" err="1"/>
              <a:t>sW</a:t>
            </a:r>
            <a:r>
              <a:rPr lang="en-US" dirty="0"/>
              <a:t> </a:t>
            </a:r>
            <a:r>
              <a:rPr lang="en-US" dirty="0" err="1"/>
              <a:t>ip_address_of_your_VM</a:t>
            </a:r>
            <a:endParaRPr lang="en-US" dirty="0"/>
          </a:p>
          <a:p>
            <a:pPr marL="914400" lvl="1" indent="-457200" algn="just">
              <a:buFont typeface="+mj-lt"/>
              <a:buAutoNum type="arabicPeriod"/>
            </a:pPr>
            <a:r>
              <a:rPr lang="en-US" dirty="0"/>
              <a:t>Repeat Step 1. You should see a large jump in the number of packets that were blocked by the final DROP rule in the INPUT chain of the filter table:</a:t>
            </a:r>
          </a:p>
          <a:p>
            <a:pPr lvl="2" algn="just"/>
            <a:r>
              <a:rPr lang="fr-FR" dirty="0" err="1"/>
              <a:t>sudo</a:t>
            </a:r>
            <a:r>
              <a:rPr lang="fr-FR" dirty="0"/>
              <a:t> </a:t>
            </a:r>
            <a:r>
              <a:rPr lang="fr-FR" dirty="0" err="1"/>
              <a:t>iptables</a:t>
            </a:r>
            <a:r>
              <a:rPr lang="fr-FR" dirty="0"/>
              <a:t> -L -v</a:t>
            </a:r>
          </a:p>
          <a:p>
            <a:pPr lvl="2" algn="just"/>
            <a:r>
              <a:rPr lang="fr-FR" dirty="0" err="1"/>
              <a:t>sudo</a:t>
            </a:r>
            <a:r>
              <a:rPr lang="fr-FR" dirty="0"/>
              <a:t> </a:t>
            </a:r>
            <a:r>
              <a:rPr lang="fr-FR" dirty="0" err="1"/>
              <a:t>iptables</a:t>
            </a:r>
            <a:r>
              <a:rPr lang="fr-FR" dirty="0"/>
              <a:t> -t mangle -L -v</a:t>
            </a:r>
          </a:p>
        </p:txBody>
      </p:sp>
    </p:spTree>
    <p:extLst>
      <p:ext uri="{BB962C8B-B14F-4D97-AF65-F5344CB8AC3E}">
        <p14:creationId xmlns:p14="http://schemas.microsoft.com/office/powerpoint/2010/main" val="21923417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AD6CD-9861-DCEF-2D33-22A671C45E9A}"/>
              </a:ext>
            </a:extLst>
          </p:cNvPr>
          <p:cNvSpPr>
            <a:spLocks noGrp="1"/>
          </p:cNvSpPr>
          <p:nvPr>
            <p:ph type="title"/>
          </p:nvPr>
        </p:nvSpPr>
        <p:spPr/>
        <p:txBody>
          <a:bodyPr/>
          <a:lstStyle/>
          <a:p>
            <a:r>
              <a:rPr lang="fr-FR" dirty="0"/>
              <a:t>Blocking </a:t>
            </a:r>
            <a:r>
              <a:rPr lang="fr-FR" dirty="0" err="1"/>
              <a:t>invalid</a:t>
            </a:r>
            <a:r>
              <a:rPr lang="fr-FR" dirty="0"/>
              <a:t> IPv4 </a:t>
            </a:r>
            <a:r>
              <a:rPr lang="fr-FR" dirty="0" err="1"/>
              <a:t>packets</a:t>
            </a:r>
            <a:endParaRPr lang="fr-FR" dirty="0"/>
          </a:p>
        </p:txBody>
      </p:sp>
      <p:sp>
        <p:nvSpPr>
          <p:cNvPr id="3" name="Content Placeholder 2">
            <a:extLst>
              <a:ext uri="{FF2B5EF4-FFF2-40B4-BE49-F238E27FC236}">
                <a16:creationId xmlns:a16="http://schemas.microsoft.com/office/drawing/2014/main" id="{8DEFE7E0-7F12-5A62-3DD3-22FAC1C470D9}"/>
              </a:ext>
            </a:extLst>
          </p:cNvPr>
          <p:cNvSpPr>
            <a:spLocks noGrp="1"/>
          </p:cNvSpPr>
          <p:nvPr>
            <p:ph idx="1"/>
          </p:nvPr>
        </p:nvSpPr>
        <p:spPr/>
        <p:txBody>
          <a:bodyPr>
            <a:normAutofit fontScale="92500" lnSpcReduction="20000"/>
          </a:bodyPr>
          <a:lstStyle/>
          <a:p>
            <a:pPr algn="just"/>
            <a:r>
              <a:rPr lang="en-US" dirty="0"/>
              <a:t>Make the firewall work more efficiently by using the PREROUTING chain of the mangle table to drop invalid packets, such as those that are produced by the two Nmap scans that we just performed. Add the two required rules with the following two commands:</a:t>
            </a:r>
          </a:p>
          <a:p>
            <a:pPr lvl="1" algn="just"/>
            <a:r>
              <a:rPr lang="fr-FR" dirty="0" err="1"/>
              <a:t>sudo</a:t>
            </a:r>
            <a:r>
              <a:rPr lang="fr-FR" dirty="0"/>
              <a:t> </a:t>
            </a:r>
            <a:r>
              <a:rPr lang="fr-FR" dirty="0" err="1"/>
              <a:t>iptables</a:t>
            </a:r>
            <a:r>
              <a:rPr lang="fr-FR" dirty="0"/>
              <a:t> -t mangle -A PREROUTING -m </a:t>
            </a:r>
            <a:r>
              <a:rPr lang="fr-FR" dirty="0" err="1"/>
              <a:t>conntrack</a:t>
            </a:r>
            <a:r>
              <a:rPr lang="fr-FR" dirty="0"/>
              <a:t> --</a:t>
            </a:r>
            <a:r>
              <a:rPr lang="fr-FR" dirty="0" err="1"/>
              <a:t>ctstate</a:t>
            </a:r>
            <a:r>
              <a:rPr lang="fr-FR" dirty="0"/>
              <a:t> INVALID –j DROP</a:t>
            </a:r>
          </a:p>
          <a:p>
            <a:pPr lvl="1" algn="just"/>
            <a:r>
              <a:rPr lang="fr-FR" dirty="0" err="1"/>
              <a:t>sudo</a:t>
            </a:r>
            <a:r>
              <a:rPr lang="fr-FR" dirty="0"/>
              <a:t> </a:t>
            </a:r>
            <a:r>
              <a:rPr lang="fr-FR" dirty="0" err="1"/>
              <a:t>iptables</a:t>
            </a:r>
            <a:r>
              <a:rPr lang="fr-FR" dirty="0"/>
              <a:t> -t mangle -A PREROUTING -p </a:t>
            </a:r>
            <a:r>
              <a:rPr lang="fr-FR" dirty="0" err="1"/>
              <a:t>tcp</a:t>
            </a:r>
            <a:r>
              <a:rPr lang="fr-FR" dirty="0"/>
              <a:t> ! --</a:t>
            </a:r>
            <a:r>
              <a:rPr lang="fr-FR" dirty="0" err="1"/>
              <a:t>syn</a:t>
            </a:r>
            <a:r>
              <a:rPr lang="fr-FR" dirty="0"/>
              <a:t> -m </a:t>
            </a:r>
            <a:r>
              <a:rPr lang="fr-FR" dirty="0" err="1"/>
              <a:t>conntrack</a:t>
            </a:r>
            <a:r>
              <a:rPr lang="fr-FR" dirty="0"/>
              <a:t> --</a:t>
            </a:r>
            <a:r>
              <a:rPr lang="fr-FR" dirty="0" err="1"/>
              <a:t>ctstate</a:t>
            </a:r>
            <a:r>
              <a:rPr lang="fr-FR" dirty="0"/>
              <a:t> NEW -j DROP</a:t>
            </a:r>
          </a:p>
          <a:p>
            <a:pPr lvl="1" algn="just"/>
            <a:endParaRPr lang="fr-FR" dirty="0"/>
          </a:p>
          <a:p>
            <a:pPr algn="just"/>
            <a:r>
              <a:rPr lang="en-US" dirty="0"/>
              <a:t>Save the new configuration to your own home directory. Then, copy the file to its proper location and zero out the blocked packet counters:</a:t>
            </a:r>
          </a:p>
          <a:p>
            <a:pPr lvl="1" algn="just"/>
            <a:r>
              <a:rPr lang="fr-FR" dirty="0" err="1"/>
              <a:t>sudo</a:t>
            </a:r>
            <a:r>
              <a:rPr lang="fr-FR" dirty="0"/>
              <a:t> </a:t>
            </a:r>
            <a:r>
              <a:rPr lang="fr-FR" dirty="0" err="1"/>
              <a:t>iptables-save</a:t>
            </a:r>
            <a:r>
              <a:rPr lang="fr-FR" dirty="0"/>
              <a:t> &gt; rules.v4</a:t>
            </a:r>
          </a:p>
          <a:p>
            <a:pPr lvl="1" algn="just"/>
            <a:r>
              <a:rPr lang="fr-FR" dirty="0" err="1"/>
              <a:t>sudo</a:t>
            </a:r>
            <a:r>
              <a:rPr lang="fr-FR" dirty="0"/>
              <a:t> </a:t>
            </a:r>
            <a:r>
              <a:rPr lang="fr-FR" dirty="0" err="1"/>
              <a:t>cp</a:t>
            </a:r>
            <a:r>
              <a:rPr lang="fr-FR" dirty="0"/>
              <a:t> rules.v4 /</a:t>
            </a:r>
            <a:r>
              <a:rPr lang="fr-FR" dirty="0" err="1"/>
              <a:t>etc</a:t>
            </a:r>
            <a:r>
              <a:rPr lang="fr-FR" dirty="0"/>
              <a:t>/</a:t>
            </a:r>
            <a:r>
              <a:rPr lang="fr-FR" dirty="0" err="1"/>
              <a:t>iptables</a:t>
            </a:r>
            <a:endParaRPr lang="fr-FR" dirty="0"/>
          </a:p>
          <a:p>
            <a:pPr lvl="1" algn="just"/>
            <a:r>
              <a:rPr lang="fr-FR" dirty="0" err="1"/>
              <a:t>sudo</a:t>
            </a:r>
            <a:r>
              <a:rPr lang="fr-FR" dirty="0"/>
              <a:t> </a:t>
            </a:r>
            <a:r>
              <a:rPr lang="fr-FR" dirty="0" err="1"/>
              <a:t>iptables</a:t>
            </a:r>
            <a:r>
              <a:rPr lang="fr-FR" dirty="0"/>
              <a:t> -Z</a:t>
            </a:r>
          </a:p>
          <a:p>
            <a:pPr lvl="1" algn="just"/>
            <a:r>
              <a:rPr lang="fr-FR" dirty="0" err="1"/>
              <a:t>sudo</a:t>
            </a:r>
            <a:r>
              <a:rPr lang="fr-FR" dirty="0"/>
              <a:t> </a:t>
            </a:r>
            <a:r>
              <a:rPr lang="fr-FR" dirty="0" err="1"/>
              <a:t>iptables</a:t>
            </a:r>
            <a:r>
              <a:rPr lang="fr-FR" dirty="0"/>
              <a:t> -t mangle -Z</a:t>
            </a:r>
          </a:p>
        </p:txBody>
      </p:sp>
    </p:spTree>
    <p:extLst>
      <p:ext uri="{BB962C8B-B14F-4D97-AF65-F5344CB8AC3E}">
        <p14:creationId xmlns:p14="http://schemas.microsoft.com/office/powerpoint/2010/main" val="8790431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AD6CD-9861-DCEF-2D33-22A671C45E9A}"/>
              </a:ext>
            </a:extLst>
          </p:cNvPr>
          <p:cNvSpPr>
            <a:spLocks noGrp="1"/>
          </p:cNvSpPr>
          <p:nvPr>
            <p:ph type="title"/>
          </p:nvPr>
        </p:nvSpPr>
        <p:spPr/>
        <p:txBody>
          <a:bodyPr/>
          <a:lstStyle/>
          <a:p>
            <a:r>
              <a:rPr lang="fr-FR" dirty="0"/>
              <a:t>Blocking </a:t>
            </a:r>
            <a:r>
              <a:rPr lang="fr-FR" dirty="0" err="1"/>
              <a:t>invalid</a:t>
            </a:r>
            <a:r>
              <a:rPr lang="fr-FR" dirty="0"/>
              <a:t> IPv4 </a:t>
            </a:r>
            <a:r>
              <a:rPr lang="fr-FR" dirty="0" err="1"/>
              <a:t>packets</a:t>
            </a:r>
            <a:endParaRPr lang="fr-FR" dirty="0"/>
          </a:p>
        </p:txBody>
      </p:sp>
      <p:sp>
        <p:nvSpPr>
          <p:cNvPr id="3" name="Content Placeholder 2">
            <a:extLst>
              <a:ext uri="{FF2B5EF4-FFF2-40B4-BE49-F238E27FC236}">
                <a16:creationId xmlns:a16="http://schemas.microsoft.com/office/drawing/2014/main" id="{8DEFE7E0-7F12-5A62-3DD3-22FAC1C470D9}"/>
              </a:ext>
            </a:extLst>
          </p:cNvPr>
          <p:cNvSpPr>
            <a:spLocks noGrp="1"/>
          </p:cNvSpPr>
          <p:nvPr>
            <p:ph idx="1"/>
          </p:nvPr>
        </p:nvSpPr>
        <p:spPr/>
        <p:txBody>
          <a:bodyPr>
            <a:normAutofit fontScale="92500" lnSpcReduction="20000"/>
          </a:bodyPr>
          <a:lstStyle/>
          <a:p>
            <a:pPr algn="just"/>
            <a:r>
              <a:rPr lang="en-US" dirty="0"/>
              <a:t>Perform only the NULL scan against the virtual machine:</a:t>
            </a:r>
          </a:p>
          <a:p>
            <a:pPr lvl="1" algn="just"/>
            <a:r>
              <a:rPr lang="en-US" dirty="0" err="1"/>
              <a:t>sudo</a:t>
            </a:r>
            <a:r>
              <a:rPr lang="en-US" dirty="0"/>
              <a:t> </a:t>
            </a:r>
            <a:r>
              <a:rPr lang="en-US" dirty="0" err="1"/>
              <a:t>nmap</a:t>
            </a:r>
            <a:r>
              <a:rPr lang="en-US" dirty="0"/>
              <a:t> -</a:t>
            </a:r>
            <a:r>
              <a:rPr lang="en-US" dirty="0" err="1"/>
              <a:t>sN</a:t>
            </a:r>
            <a:r>
              <a:rPr lang="en-US" dirty="0"/>
              <a:t> </a:t>
            </a:r>
            <a:r>
              <a:rPr lang="en-US" dirty="0" err="1"/>
              <a:t>ip_address_of_your_VM</a:t>
            </a:r>
            <a:endParaRPr lang="en-US" dirty="0"/>
          </a:p>
          <a:p>
            <a:pPr algn="just"/>
            <a:r>
              <a:rPr lang="en-US" dirty="0"/>
              <a:t>Look at the iptables ruleset and observe which rule was triggered by the Nmap scan:</a:t>
            </a:r>
          </a:p>
          <a:p>
            <a:pPr lvl="1" algn="just"/>
            <a:r>
              <a:rPr lang="fr-FR" dirty="0" err="1"/>
              <a:t>sudo</a:t>
            </a:r>
            <a:r>
              <a:rPr lang="fr-FR" dirty="0"/>
              <a:t> </a:t>
            </a:r>
            <a:r>
              <a:rPr lang="fr-FR" dirty="0" err="1"/>
              <a:t>iptables</a:t>
            </a:r>
            <a:r>
              <a:rPr lang="fr-FR" dirty="0"/>
              <a:t> -L -v</a:t>
            </a:r>
          </a:p>
          <a:p>
            <a:pPr lvl="1" algn="just"/>
            <a:r>
              <a:rPr lang="fr-FR" dirty="0" err="1"/>
              <a:t>sudo</a:t>
            </a:r>
            <a:r>
              <a:rPr lang="fr-FR" dirty="0"/>
              <a:t> </a:t>
            </a:r>
            <a:r>
              <a:rPr lang="fr-FR" dirty="0" err="1"/>
              <a:t>iptables</a:t>
            </a:r>
            <a:r>
              <a:rPr lang="fr-FR" dirty="0"/>
              <a:t> -t mangle -L –v</a:t>
            </a:r>
          </a:p>
          <a:p>
            <a:pPr algn="just"/>
            <a:r>
              <a:rPr lang="en-US" dirty="0"/>
              <a:t>This time, perform just the Windows scan against the virtual machine:</a:t>
            </a:r>
          </a:p>
          <a:p>
            <a:pPr lvl="1" algn="just"/>
            <a:r>
              <a:rPr lang="en-US" dirty="0" err="1"/>
              <a:t>sudo</a:t>
            </a:r>
            <a:r>
              <a:rPr lang="en-US" dirty="0"/>
              <a:t> </a:t>
            </a:r>
            <a:r>
              <a:rPr lang="en-US" dirty="0" err="1"/>
              <a:t>nmap</a:t>
            </a:r>
            <a:r>
              <a:rPr lang="en-US" dirty="0"/>
              <a:t> -</a:t>
            </a:r>
            <a:r>
              <a:rPr lang="en-US" dirty="0" err="1"/>
              <a:t>sW</a:t>
            </a:r>
            <a:r>
              <a:rPr lang="en-US" dirty="0"/>
              <a:t> </a:t>
            </a:r>
            <a:r>
              <a:rPr lang="en-US" dirty="0" err="1"/>
              <a:t>ip_address_of_your_VM</a:t>
            </a:r>
            <a:endParaRPr lang="en-US" dirty="0"/>
          </a:p>
          <a:p>
            <a:pPr algn="just"/>
            <a:r>
              <a:rPr lang="en-US" dirty="0"/>
              <a:t>Observe which rule was triggered by this scan:</a:t>
            </a:r>
          </a:p>
          <a:p>
            <a:pPr lvl="1" algn="just"/>
            <a:r>
              <a:rPr lang="fr-FR" dirty="0" err="1"/>
              <a:t>sudo</a:t>
            </a:r>
            <a:r>
              <a:rPr lang="fr-FR" dirty="0"/>
              <a:t> </a:t>
            </a:r>
            <a:r>
              <a:rPr lang="fr-FR" dirty="0" err="1"/>
              <a:t>iptables</a:t>
            </a:r>
            <a:r>
              <a:rPr lang="fr-FR" dirty="0"/>
              <a:t> -L -v</a:t>
            </a:r>
          </a:p>
          <a:p>
            <a:pPr lvl="1" algn="just"/>
            <a:r>
              <a:rPr lang="fr-FR" dirty="0" err="1"/>
              <a:t>sudo</a:t>
            </a:r>
            <a:r>
              <a:rPr lang="fr-FR" dirty="0"/>
              <a:t> </a:t>
            </a:r>
            <a:r>
              <a:rPr lang="fr-FR" dirty="0" err="1"/>
              <a:t>iptables</a:t>
            </a:r>
            <a:r>
              <a:rPr lang="fr-FR" dirty="0"/>
              <a:t> -t mangle -L –v</a:t>
            </a:r>
          </a:p>
          <a:p>
            <a:pPr algn="just"/>
            <a:r>
              <a:rPr lang="fr-FR" dirty="0"/>
              <a:t>End of </a:t>
            </a:r>
            <a:r>
              <a:rPr lang="fr-FR" dirty="0" err="1"/>
              <a:t>this</a:t>
            </a:r>
            <a:r>
              <a:rPr lang="fr-FR" dirty="0"/>
              <a:t> </a:t>
            </a:r>
            <a:r>
              <a:rPr lang="fr-FR" dirty="0" err="1"/>
              <a:t>lab</a:t>
            </a:r>
            <a:endParaRPr lang="fr-FR" dirty="0"/>
          </a:p>
        </p:txBody>
      </p:sp>
    </p:spTree>
    <p:extLst>
      <p:ext uri="{BB962C8B-B14F-4D97-AF65-F5344CB8AC3E}">
        <p14:creationId xmlns:p14="http://schemas.microsoft.com/office/powerpoint/2010/main" val="12570011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16</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4881229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0C5F3-6842-028B-E8ED-387EFD5AFBF8}"/>
              </a:ext>
            </a:extLst>
          </p:cNvPr>
          <p:cNvSpPr>
            <a:spLocks noGrp="1"/>
          </p:cNvSpPr>
          <p:nvPr>
            <p:ph type="title"/>
          </p:nvPr>
        </p:nvSpPr>
        <p:spPr/>
        <p:txBody>
          <a:bodyPr/>
          <a:lstStyle/>
          <a:p>
            <a:r>
              <a:rPr lang="fr-FR" dirty="0" err="1"/>
              <a:t>Lab</a:t>
            </a:r>
            <a:r>
              <a:rPr lang="fr-FR" dirty="0"/>
              <a:t> for ip6tables</a:t>
            </a:r>
          </a:p>
        </p:txBody>
      </p:sp>
      <p:sp>
        <p:nvSpPr>
          <p:cNvPr id="3" name="Content Placeholder 2">
            <a:extLst>
              <a:ext uri="{FF2B5EF4-FFF2-40B4-BE49-F238E27FC236}">
                <a16:creationId xmlns:a16="http://schemas.microsoft.com/office/drawing/2014/main" id="{A16669C1-2C99-452B-595D-717B062F3A48}"/>
              </a:ext>
            </a:extLst>
          </p:cNvPr>
          <p:cNvSpPr>
            <a:spLocks noGrp="1"/>
          </p:cNvSpPr>
          <p:nvPr>
            <p:ph idx="1"/>
          </p:nvPr>
        </p:nvSpPr>
        <p:spPr>
          <a:xfrm>
            <a:off x="838200" y="1825625"/>
            <a:ext cx="10515600" cy="4667250"/>
          </a:xfrm>
        </p:spPr>
        <p:txBody>
          <a:bodyPr>
            <a:normAutofit fontScale="77500" lnSpcReduction="20000"/>
          </a:bodyPr>
          <a:lstStyle/>
          <a:p>
            <a:pPr algn="just"/>
            <a:r>
              <a:rPr lang="en-US" dirty="0"/>
              <a:t>For this lab, you will use the same Ubuntu virtual machine that you used in the previous iptables labs.</a:t>
            </a:r>
          </a:p>
          <a:p>
            <a:pPr algn="just"/>
            <a:r>
              <a:rPr lang="en-US" dirty="0"/>
              <a:t>You will leave the IPv4 firewall setup that’s already there as-is and create a new firewall for IPv6.</a:t>
            </a:r>
            <a:endParaRPr lang="fr-FR" dirty="0"/>
          </a:p>
          <a:p>
            <a:pPr algn="just"/>
            <a:r>
              <a:rPr lang="en-US" dirty="0"/>
              <a:t>View your IPv6 rules, or lack thereof, with this command:</a:t>
            </a:r>
          </a:p>
          <a:p>
            <a:pPr lvl="1" algn="just"/>
            <a:r>
              <a:rPr lang="en-US" dirty="0" err="1"/>
              <a:t>sudo</a:t>
            </a:r>
            <a:r>
              <a:rPr lang="en-US" dirty="0"/>
              <a:t> ip6tables</a:t>
            </a:r>
          </a:p>
          <a:p>
            <a:pPr algn="just"/>
            <a:r>
              <a:rPr lang="en-US" dirty="0"/>
              <a:t>View the new ruleset by using the following command:</a:t>
            </a:r>
          </a:p>
          <a:p>
            <a:pPr lvl="1" algn="just"/>
            <a:r>
              <a:rPr lang="en-US" dirty="0" err="1"/>
              <a:t>sudo</a:t>
            </a:r>
            <a:r>
              <a:rPr lang="en-US" dirty="0"/>
              <a:t> ip6tables –L</a:t>
            </a:r>
          </a:p>
          <a:p>
            <a:pPr algn="just"/>
            <a:r>
              <a:rPr lang="en-US" dirty="0"/>
              <a:t>Next, set up the mangle table rules for blocking invalid packets:</a:t>
            </a:r>
          </a:p>
          <a:p>
            <a:pPr lvl="1" algn="just"/>
            <a:r>
              <a:rPr lang="en-US" dirty="0" err="1"/>
              <a:t>sudo</a:t>
            </a:r>
            <a:r>
              <a:rPr lang="en-US" dirty="0"/>
              <a:t> ip6tables -t mangle -A PREROUTING -m </a:t>
            </a:r>
            <a:r>
              <a:rPr lang="en-US" dirty="0" err="1"/>
              <a:t>conntrack</a:t>
            </a:r>
            <a:r>
              <a:rPr lang="en-US" dirty="0"/>
              <a:t> --</a:t>
            </a:r>
            <a:r>
              <a:rPr lang="en-US" dirty="0" err="1"/>
              <a:t>ctstate</a:t>
            </a:r>
            <a:r>
              <a:rPr lang="en-US" dirty="0"/>
              <a:t> INVALID –j DROP</a:t>
            </a:r>
          </a:p>
          <a:p>
            <a:pPr lvl="1" algn="just"/>
            <a:r>
              <a:rPr lang="en-US" dirty="0" err="1"/>
              <a:t>sudo</a:t>
            </a:r>
            <a:r>
              <a:rPr lang="en-US" dirty="0"/>
              <a:t> ip6tables -t mangle -A PREROUTING -p </a:t>
            </a:r>
            <a:r>
              <a:rPr lang="en-US" dirty="0" err="1"/>
              <a:t>tcp</a:t>
            </a:r>
            <a:r>
              <a:rPr lang="en-US" dirty="0"/>
              <a:t> ! --syn -m </a:t>
            </a:r>
            <a:r>
              <a:rPr lang="en-US" dirty="0" err="1"/>
              <a:t>conntrack</a:t>
            </a:r>
            <a:r>
              <a:rPr lang="en-US" dirty="0"/>
              <a:t> --</a:t>
            </a:r>
            <a:r>
              <a:rPr lang="en-US" dirty="0" err="1"/>
              <a:t>ctstate</a:t>
            </a:r>
            <a:r>
              <a:rPr lang="en-US" dirty="0"/>
              <a:t> NEW -j DROP</a:t>
            </a:r>
          </a:p>
          <a:p>
            <a:pPr algn="just"/>
            <a:r>
              <a:rPr lang="en-US" dirty="0"/>
              <a:t>Save the new ruleset to a file in your own home directory, and then transfer the rules file to the proper location:</a:t>
            </a:r>
          </a:p>
          <a:p>
            <a:pPr lvl="1" algn="just"/>
            <a:r>
              <a:rPr lang="en-US" dirty="0" err="1"/>
              <a:t>sudo</a:t>
            </a:r>
            <a:r>
              <a:rPr lang="en-US" dirty="0"/>
              <a:t> ip6tables-save &gt; rules.v6</a:t>
            </a:r>
          </a:p>
          <a:p>
            <a:pPr lvl="1" algn="just"/>
            <a:r>
              <a:rPr lang="en-US" dirty="0" err="1"/>
              <a:t>sudo</a:t>
            </a:r>
            <a:r>
              <a:rPr lang="en-US" dirty="0"/>
              <a:t> cp rules.v6 /</a:t>
            </a:r>
            <a:r>
              <a:rPr lang="en-US" dirty="0" err="1"/>
              <a:t>etc</a:t>
            </a:r>
            <a:r>
              <a:rPr lang="en-US" dirty="0"/>
              <a:t>/iptables/</a:t>
            </a:r>
          </a:p>
        </p:txBody>
      </p:sp>
    </p:spTree>
    <p:extLst>
      <p:ext uri="{BB962C8B-B14F-4D97-AF65-F5344CB8AC3E}">
        <p14:creationId xmlns:p14="http://schemas.microsoft.com/office/powerpoint/2010/main" val="3540387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0C5F3-6842-028B-E8ED-387EFD5AFBF8}"/>
              </a:ext>
            </a:extLst>
          </p:cNvPr>
          <p:cNvSpPr>
            <a:spLocks noGrp="1"/>
          </p:cNvSpPr>
          <p:nvPr>
            <p:ph type="title"/>
          </p:nvPr>
        </p:nvSpPr>
        <p:spPr/>
        <p:txBody>
          <a:bodyPr/>
          <a:lstStyle/>
          <a:p>
            <a:r>
              <a:rPr lang="fr-FR" dirty="0" err="1"/>
              <a:t>Lab</a:t>
            </a:r>
            <a:r>
              <a:rPr lang="fr-FR" dirty="0"/>
              <a:t> for ip6tables</a:t>
            </a:r>
          </a:p>
        </p:txBody>
      </p:sp>
      <p:sp>
        <p:nvSpPr>
          <p:cNvPr id="3" name="Content Placeholder 2">
            <a:extLst>
              <a:ext uri="{FF2B5EF4-FFF2-40B4-BE49-F238E27FC236}">
                <a16:creationId xmlns:a16="http://schemas.microsoft.com/office/drawing/2014/main" id="{A16669C1-2C99-452B-595D-717B062F3A48}"/>
              </a:ext>
            </a:extLst>
          </p:cNvPr>
          <p:cNvSpPr>
            <a:spLocks noGrp="1"/>
          </p:cNvSpPr>
          <p:nvPr>
            <p:ph idx="1"/>
          </p:nvPr>
        </p:nvSpPr>
        <p:spPr>
          <a:xfrm>
            <a:off x="838200" y="1825624"/>
            <a:ext cx="10515600" cy="4975225"/>
          </a:xfrm>
        </p:spPr>
        <p:txBody>
          <a:bodyPr>
            <a:normAutofit fontScale="92500" lnSpcReduction="20000"/>
          </a:bodyPr>
          <a:lstStyle/>
          <a:p>
            <a:pPr algn="just"/>
            <a:r>
              <a:rPr lang="en-US" dirty="0"/>
              <a:t>Obtain the IPv6 address of the virtual machine with this command:</a:t>
            </a:r>
          </a:p>
          <a:p>
            <a:pPr lvl="1" algn="just"/>
            <a:r>
              <a:rPr lang="en-US" dirty="0" err="1"/>
              <a:t>ip</a:t>
            </a:r>
            <a:r>
              <a:rPr lang="en-US" dirty="0"/>
              <a:t> a</a:t>
            </a:r>
          </a:p>
          <a:p>
            <a:pPr algn="just"/>
            <a:r>
              <a:rPr lang="en-US" dirty="0"/>
              <a:t>On the machine on which you installed Nmap, perform a Windows scan of the virtual machine’s IPv6 address. The command will look like this, except with your own IP address:</a:t>
            </a:r>
          </a:p>
          <a:p>
            <a:pPr lvl="1" algn="just"/>
            <a:r>
              <a:rPr lang="en-US" dirty="0" err="1"/>
              <a:t>sudo</a:t>
            </a:r>
            <a:r>
              <a:rPr lang="en-US" dirty="0"/>
              <a:t> </a:t>
            </a:r>
            <a:r>
              <a:rPr lang="en-US" dirty="0" err="1"/>
              <a:t>nmap</a:t>
            </a:r>
            <a:r>
              <a:rPr lang="en-US" dirty="0"/>
              <a:t> -6 -</a:t>
            </a:r>
            <a:r>
              <a:rPr lang="en-US" dirty="0" err="1"/>
              <a:t>sW</a:t>
            </a:r>
            <a:r>
              <a:rPr lang="en-US" dirty="0"/>
              <a:t> fe80::a00:27ff:fe9f:d923</a:t>
            </a:r>
          </a:p>
          <a:p>
            <a:pPr algn="just"/>
            <a:r>
              <a:rPr lang="en-US" dirty="0"/>
              <a:t>On the virtual machine, observe which rule was triggered with this command:</a:t>
            </a:r>
          </a:p>
          <a:p>
            <a:pPr lvl="1" algn="just"/>
            <a:r>
              <a:rPr lang="fr-FR" dirty="0" err="1"/>
              <a:t>sudo</a:t>
            </a:r>
            <a:r>
              <a:rPr lang="fr-FR" dirty="0"/>
              <a:t> ip6tables -t mangle -L –v</a:t>
            </a:r>
          </a:p>
          <a:p>
            <a:pPr lvl="1" algn="just"/>
            <a:r>
              <a:rPr lang="en-US" dirty="0"/>
              <a:t>You should see non-zero numbers for the packet counters for one of the rules.</a:t>
            </a:r>
          </a:p>
          <a:p>
            <a:pPr algn="just"/>
            <a:r>
              <a:rPr lang="en-US" sz="2200" b="0" i="0" u="none" strike="noStrike" baseline="0" dirty="0">
                <a:latin typeface="SourceSerif4-Regular"/>
              </a:rPr>
              <a:t>On the machine on which you installed Nmap, perform an XMAS scan of the virtual machine’s IPv6 address. The command will look like this, except with your own IP address:</a:t>
            </a:r>
          </a:p>
          <a:p>
            <a:pPr lvl="1" algn="just"/>
            <a:r>
              <a:rPr lang="en-US" sz="1800" b="0" i="0" u="none" strike="noStrike" baseline="0" dirty="0" err="1">
                <a:latin typeface="SourceSerif4-Regular"/>
              </a:rPr>
              <a:t>sudo</a:t>
            </a:r>
            <a:r>
              <a:rPr lang="en-US" sz="1800" b="0" i="0" u="none" strike="noStrike" baseline="0" dirty="0">
                <a:latin typeface="SourceSerif4-Regular"/>
              </a:rPr>
              <a:t> </a:t>
            </a:r>
            <a:r>
              <a:rPr lang="en-US" sz="1800" b="0" i="0" u="none" strike="noStrike" baseline="0" dirty="0" err="1">
                <a:latin typeface="SourceSerif4-Regular"/>
              </a:rPr>
              <a:t>nmap</a:t>
            </a:r>
            <a:r>
              <a:rPr lang="en-US" sz="1800" b="0" i="0" u="none" strike="noStrike" baseline="0" dirty="0">
                <a:latin typeface="SourceSerif4-Regular"/>
              </a:rPr>
              <a:t> -6 -</a:t>
            </a:r>
            <a:r>
              <a:rPr lang="en-US" sz="1800" b="0" i="0" u="none" strike="noStrike" baseline="0" dirty="0" err="1">
                <a:latin typeface="SourceSerif4-Regular"/>
              </a:rPr>
              <a:t>sX</a:t>
            </a:r>
            <a:r>
              <a:rPr lang="en-US" sz="1800" b="0" i="0" u="none" strike="noStrike" baseline="0" dirty="0">
                <a:latin typeface="SourceSerif4-Regular"/>
              </a:rPr>
              <a:t> fe80::a00:27ff:fe9f:d923</a:t>
            </a:r>
          </a:p>
          <a:p>
            <a:pPr algn="just"/>
            <a:r>
              <a:rPr lang="en-US" sz="2200" b="0" i="0" u="none" strike="noStrike" baseline="0" dirty="0">
                <a:latin typeface="SourceSerif4-Regular"/>
              </a:rPr>
              <a:t>As before, on the virtual machine, observe which rule was triggered by this scan:</a:t>
            </a:r>
          </a:p>
          <a:p>
            <a:pPr lvl="1" algn="just"/>
            <a:r>
              <a:rPr lang="fr-FR" sz="1800" b="0" i="0" u="none" strike="noStrike" baseline="0" dirty="0" err="1">
                <a:latin typeface="SourceSerif4-Regular"/>
              </a:rPr>
              <a:t>sudo</a:t>
            </a:r>
            <a:r>
              <a:rPr lang="fr-FR" sz="1800" b="0" i="0" u="none" strike="noStrike" baseline="0" dirty="0">
                <a:latin typeface="SourceSerif4-Regular"/>
              </a:rPr>
              <a:t> ip6tables -t mangle -L –v</a:t>
            </a:r>
          </a:p>
          <a:p>
            <a:pPr algn="just"/>
            <a:r>
              <a:rPr lang="en-US" sz="2200" b="0" i="0" u="none" strike="noStrike" baseline="0" dirty="0">
                <a:latin typeface="SourceSerif4-Regular"/>
              </a:rPr>
              <a:t>Shut down the virtual machine, and restore it from where you started lab 14</a:t>
            </a:r>
          </a:p>
          <a:p>
            <a:pPr lvl="1"/>
            <a:endParaRPr lang="en-US" dirty="0"/>
          </a:p>
        </p:txBody>
      </p:sp>
    </p:spTree>
    <p:extLst>
      <p:ext uri="{BB962C8B-B14F-4D97-AF65-F5344CB8AC3E}">
        <p14:creationId xmlns:p14="http://schemas.microsoft.com/office/powerpoint/2010/main" val="33335604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17</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811112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23DE90-8EF2-2A66-5B52-526556A928B1}"/>
              </a:ext>
            </a:extLst>
          </p:cNvPr>
          <p:cNvSpPr>
            <a:spLocks noGrp="1"/>
          </p:cNvSpPr>
          <p:nvPr>
            <p:ph type="title"/>
          </p:nvPr>
        </p:nvSpPr>
        <p:spPr/>
        <p:txBody>
          <a:bodyPr/>
          <a:lstStyle/>
          <a:p>
            <a:r>
              <a:rPr lang="en-US" dirty="0"/>
              <a:t>ACL SQUID</a:t>
            </a:r>
            <a:endParaRPr lang="fr-FR" dirty="0"/>
          </a:p>
        </p:txBody>
      </p:sp>
      <p:sp>
        <p:nvSpPr>
          <p:cNvPr id="5" name="Content Placeholder 4">
            <a:extLst>
              <a:ext uri="{FF2B5EF4-FFF2-40B4-BE49-F238E27FC236}">
                <a16:creationId xmlns:a16="http://schemas.microsoft.com/office/drawing/2014/main" id="{397DBCE2-4B30-328C-405E-0A8F61C54907}"/>
              </a:ext>
            </a:extLst>
          </p:cNvPr>
          <p:cNvSpPr>
            <a:spLocks noGrp="1"/>
          </p:cNvSpPr>
          <p:nvPr>
            <p:ph idx="1"/>
          </p:nvPr>
        </p:nvSpPr>
        <p:spPr/>
        <p:txBody>
          <a:bodyPr/>
          <a:lstStyle/>
          <a:p>
            <a:r>
              <a:rPr lang="en-US" dirty="0"/>
              <a:t>Set up SQUID with </a:t>
            </a:r>
          </a:p>
          <a:p>
            <a:pPr marL="0" indent="0">
              <a:buNone/>
            </a:pPr>
            <a:r>
              <a:rPr lang="en-US" dirty="0"/>
              <a:t>   different types of rules </a:t>
            </a:r>
          </a:p>
          <a:p>
            <a:pPr marL="0" indent="0">
              <a:buNone/>
            </a:pPr>
            <a:r>
              <a:rPr lang="en-US" dirty="0"/>
              <a:t>   and test them</a:t>
            </a:r>
            <a:endParaRPr lang="fr-FR" dirty="0"/>
          </a:p>
        </p:txBody>
      </p:sp>
      <p:sp>
        <p:nvSpPr>
          <p:cNvPr id="6" name="Rectangle 5">
            <a:extLst>
              <a:ext uri="{FF2B5EF4-FFF2-40B4-BE49-F238E27FC236}">
                <a16:creationId xmlns:a16="http://schemas.microsoft.com/office/drawing/2014/main" id="{16E13B41-0D3E-F265-51FC-7D64545532DC}"/>
              </a:ext>
            </a:extLst>
          </p:cNvPr>
          <p:cNvSpPr/>
          <p:nvPr/>
        </p:nvSpPr>
        <p:spPr>
          <a:xfrm>
            <a:off x="2150269" y="3550444"/>
            <a:ext cx="2678906" cy="9858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UBUNTU SERVER</a:t>
            </a:r>
          </a:p>
          <a:p>
            <a:pPr algn="ctr"/>
            <a:r>
              <a:rPr lang="en-US" dirty="0"/>
              <a:t>SQUID PROXY</a:t>
            </a:r>
            <a:endParaRPr lang="fr-FR" dirty="0"/>
          </a:p>
        </p:txBody>
      </p:sp>
      <p:sp>
        <p:nvSpPr>
          <p:cNvPr id="7" name="Rectangle 6">
            <a:extLst>
              <a:ext uri="{FF2B5EF4-FFF2-40B4-BE49-F238E27FC236}">
                <a16:creationId xmlns:a16="http://schemas.microsoft.com/office/drawing/2014/main" id="{2FC1C6C0-A43A-E2F0-CF6B-4C49E2592326}"/>
              </a:ext>
            </a:extLst>
          </p:cNvPr>
          <p:cNvSpPr/>
          <p:nvPr/>
        </p:nvSpPr>
        <p:spPr>
          <a:xfrm>
            <a:off x="6596063" y="1756568"/>
            <a:ext cx="2678906" cy="9858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UBUNTU</a:t>
            </a:r>
            <a:endParaRPr lang="fr-FR" dirty="0"/>
          </a:p>
        </p:txBody>
      </p:sp>
      <p:sp>
        <p:nvSpPr>
          <p:cNvPr id="8" name="Rectangle 7">
            <a:extLst>
              <a:ext uri="{FF2B5EF4-FFF2-40B4-BE49-F238E27FC236}">
                <a16:creationId xmlns:a16="http://schemas.microsoft.com/office/drawing/2014/main" id="{48480070-C242-61B6-0F22-C374DDBDA4C3}"/>
              </a:ext>
            </a:extLst>
          </p:cNvPr>
          <p:cNvSpPr/>
          <p:nvPr/>
        </p:nvSpPr>
        <p:spPr>
          <a:xfrm>
            <a:off x="6596063" y="3286125"/>
            <a:ext cx="2678906" cy="9858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ALMALINUX</a:t>
            </a:r>
            <a:endParaRPr lang="fr-FR" dirty="0"/>
          </a:p>
        </p:txBody>
      </p:sp>
      <p:sp>
        <p:nvSpPr>
          <p:cNvPr id="9" name="Rectangle 8">
            <a:extLst>
              <a:ext uri="{FF2B5EF4-FFF2-40B4-BE49-F238E27FC236}">
                <a16:creationId xmlns:a16="http://schemas.microsoft.com/office/drawing/2014/main" id="{8F5DA905-C6F8-C683-DF08-A0503D030DC8}"/>
              </a:ext>
            </a:extLst>
          </p:cNvPr>
          <p:cNvSpPr/>
          <p:nvPr/>
        </p:nvSpPr>
        <p:spPr>
          <a:xfrm>
            <a:off x="6596063" y="4988719"/>
            <a:ext cx="2678906" cy="9858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CENTOS</a:t>
            </a:r>
            <a:endParaRPr lang="fr-FR" dirty="0"/>
          </a:p>
        </p:txBody>
      </p:sp>
      <p:cxnSp>
        <p:nvCxnSpPr>
          <p:cNvPr id="11" name="Straight Arrow Connector 10">
            <a:extLst>
              <a:ext uri="{FF2B5EF4-FFF2-40B4-BE49-F238E27FC236}">
                <a16:creationId xmlns:a16="http://schemas.microsoft.com/office/drawing/2014/main" id="{E54EF482-EE31-F74A-0FE3-19513F4ACC37}"/>
              </a:ext>
            </a:extLst>
          </p:cNvPr>
          <p:cNvCxnSpPr>
            <a:cxnSpLocks/>
          </p:cNvCxnSpPr>
          <p:nvPr/>
        </p:nvCxnSpPr>
        <p:spPr>
          <a:xfrm flipV="1">
            <a:off x="3543300" y="2249487"/>
            <a:ext cx="3052763" cy="124380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514A5C7-0569-8C94-550D-02C2AA5F2854}"/>
              </a:ext>
            </a:extLst>
          </p:cNvPr>
          <p:cNvCxnSpPr>
            <a:cxnSpLocks/>
            <a:endCxn id="9" idx="1"/>
          </p:cNvCxnSpPr>
          <p:nvPr/>
        </p:nvCxnSpPr>
        <p:spPr>
          <a:xfrm>
            <a:off x="3356372" y="4551363"/>
            <a:ext cx="3239691" cy="93027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CDB8742-3487-E352-1DB9-FFC9BC40BA9A}"/>
              </a:ext>
            </a:extLst>
          </p:cNvPr>
          <p:cNvCxnSpPr>
            <a:cxnSpLocks/>
            <a:endCxn id="8" idx="1"/>
          </p:cNvCxnSpPr>
          <p:nvPr/>
        </p:nvCxnSpPr>
        <p:spPr>
          <a:xfrm flipV="1">
            <a:off x="4829175" y="3779044"/>
            <a:ext cx="1766888" cy="33655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85155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18</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481822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8590C6-6A9C-3F54-4588-5F7293638420}"/>
              </a:ext>
            </a:extLst>
          </p:cNvPr>
          <p:cNvSpPr>
            <a:spLocks noGrp="1"/>
          </p:cNvSpPr>
          <p:nvPr>
            <p:ph type="title"/>
          </p:nvPr>
        </p:nvSpPr>
        <p:spPr/>
        <p:txBody>
          <a:bodyPr/>
          <a:lstStyle/>
          <a:p>
            <a:r>
              <a:rPr lang="fr-FR" dirty="0"/>
              <a:t>Firewall and DMZ </a:t>
            </a:r>
            <a:r>
              <a:rPr lang="fr-FR" dirty="0" err="1"/>
              <a:t>rules</a:t>
            </a:r>
            <a:endParaRPr lang="fr-FR" dirty="0"/>
          </a:p>
        </p:txBody>
      </p:sp>
      <p:sp>
        <p:nvSpPr>
          <p:cNvPr id="5" name="Content Placeholder 4">
            <a:extLst>
              <a:ext uri="{FF2B5EF4-FFF2-40B4-BE49-F238E27FC236}">
                <a16:creationId xmlns:a16="http://schemas.microsoft.com/office/drawing/2014/main" id="{A5E5170A-BB0A-6820-AFFB-24F0B428A4EB}"/>
              </a:ext>
            </a:extLst>
          </p:cNvPr>
          <p:cNvSpPr>
            <a:spLocks noGrp="1"/>
          </p:cNvSpPr>
          <p:nvPr>
            <p:ph idx="1"/>
          </p:nvPr>
        </p:nvSpPr>
        <p:spPr>
          <a:xfrm>
            <a:off x="838200" y="1825624"/>
            <a:ext cx="10515600" cy="4796631"/>
          </a:xfrm>
        </p:spPr>
        <p:txBody>
          <a:bodyPr>
            <a:normAutofit fontScale="92500" lnSpcReduction="20000"/>
          </a:bodyPr>
          <a:lstStyle/>
          <a:p>
            <a:r>
              <a:rPr lang="fr-FR" dirty="0" err="1"/>
              <a:t>Now</a:t>
            </a:r>
            <a:r>
              <a:rPr lang="fr-FR" dirty="0"/>
              <a:t> </a:t>
            </a:r>
            <a:r>
              <a:rPr lang="fr-FR" dirty="0" err="1"/>
              <a:t>consider</a:t>
            </a:r>
            <a:r>
              <a:rPr lang="fr-FR" dirty="0"/>
              <a:t> the </a:t>
            </a:r>
            <a:r>
              <a:rPr lang="fr-FR" dirty="0" err="1"/>
              <a:t>following</a:t>
            </a:r>
            <a:r>
              <a:rPr lang="fr-FR" dirty="0"/>
              <a:t> set of firewall </a:t>
            </a:r>
            <a:r>
              <a:rPr lang="fr-FR" dirty="0" err="1"/>
              <a:t>rules</a:t>
            </a:r>
            <a:endParaRPr lang="fr-FR" dirty="0"/>
          </a:p>
          <a:p>
            <a:pPr lvl="1"/>
            <a:r>
              <a:rPr lang="fr-FR" dirty="0">
                <a:hlinkClick r:id="rId2"/>
              </a:rPr>
              <a:t>https://www.cs.montana.edu/courses/spring2004/409/topics/nat/firewall.html</a:t>
            </a:r>
            <a:r>
              <a:rPr lang="fr-FR" dirty="0"/>
              <a:t> </a:t>
            </a:r>
          </a:p>
          <a:p>
            <a:pPr lvl="1"/>
            <a:r>
              <a:rPr lang="en-US" dirty="0"/>
              <a:t>Describe and explain them</a:t>
            </a:r>
          </a:p>
          <a:p>
            <a:pPr lvl="1"/>
            <a:r>
              <a:rPr lang="en-US" dirty="0"/>
              <a:t>Adapt and experiment them in your network </a:t>
            </a:r>
          </a:p>
          <a:p>
            <a:pPr marL="457200" lvl="1" indent="0">
              <a:buNone/>
            </a:pPr>
            <a:endParaRPr lang="fr-FR" dirty="0"/>
          </a:p>
          <a:p>
            <a:r>
              <a:rPr lang="fr-FR" dirty="0" err="1"/>
              <a:t>Now</a:t>
            </a:r>
            <a:r>
              <a:rPr lang="fr-FR" dirty="0"/>
              <a:t> </a:t>
            </a:r>
            <a:r>
              <a:rPr lang="fr-FR" dirty="0" err="1"/>
              <a:t>consider</a:t>
            </a:r>
            <a:r>
              <a:rPr lang="fr-FR" dirty="0"/>
              <a:t> the </a:t>
            </a:r>
            <a:r>
              <a:rPr lang="fr-FR" dirty="0" err="1"/>
              <a:t>following</a:t>
            </a:r>
            <a:r>
              <a:rPr lang="fr-FR" dirty="0"/>
              <a:t> set of firewall </a:t>
            </a:r>
            <a:r>
              <a:rPr lang="fr-FR" dirty="0" err="1"/>
              <a:t>rules</a:t>
            </a:r>
            <a:endParaRPr lang="fr-FR" dirty="0"/>
          </a:p>
          <a:p>
            <a:pPr lvl="1"/>
            <a:r>
              <a:rPr lang="fr-FR" dirty="0">
                <a:hlinkClick r:id="rId3"/>
              </a:rPr>
              <a:t>https://www.cs.montana.edu/courses/spring2004/409/topics/nat/dmz.html</a:t>
            </a:r>
            <a:r>
              <a:rPr lang="fr-FR" dirty="0"/>
              <a:t> </a:t>
            </a:r>
          </a:p>
          <a:p>
            <a:pPr lvl="1"/>
            <a:r>
              <a:rPr lang="fr-FR" dirty="0" err="1"/>
              <a:t>Describe</a:t>
            </a:r>
            <a:r>
              <a:rPr lang="fr-FR" dirty="0"/>
              <a:t> and </a:t>
            </a:r>
            <a:r>
              <a:rPr lang="fr-FR" dirty="0" err="1"/>
              <a:t>explain</a:t>
            </a:r>
            <a:r>
              <a:rPr lang="fr-FR" dirty="0"/>
              <a:t> </a:t>
            </a:r>
            <a:r>
              <a:rPr lang="fr-FR" dirty="0" err="1"/>
              <a:t>them</a:t>
            </a:r>
            <a:endParaRPr lang="fr-FR" dirty="0"/>
          </a:p>
          <a:p>
            <a:pPr lvl="1"/>
            <a:r>
              <a:rPr lang="fr-FR" dirty="0" err="1"/>
              <a:t>Adapt</a:t>
            </a:r>
            <a:r>
              <a:rPr lang="fr-FR" dirty="0"/>
              <a:t> and </a:t>
            </a:r>
            <a:r>
              <a:rPr lang="fr-FR" dirty="0" err="1"/>
              <a:t>experiment</a:t>
            </a:r>
            <a:r>
              <a:rPr lang="fr-FR" dirty="0"/>
              <a:t> </a:t>
            </a:r>
            <a:r>
              <a:rPr lang="fr-FR" dirty="0" err="1"/>
              <a:t>them</a:t>
            </a:r>
            <a:r>
              <a:rPr lang="fr-FR" dirty="0"/>
              <a:t> in </a:t>
            </a:r>
            <a:r>
              <a:rPr lang="fr-FR" dirty="0" err="1"/>
              <a:t>your</a:t>
            </a:r>
            <a:r>
              <a:rPr lang="fr-FR" dirty="0"/>
              <a:t> network </a:t>
            </a:r>
          </a:p>
          <a:p>
            <a:endParaRPr lang="fr-FR" dirty="0"/>
          </a:p>
          <a:p>
            <a:r>
              <a:rPr lang="fr-FR" dirty="0" err="1"/>
              <a:t>Now</a:t>
            </a:r>
            <a:r>
              <a:rPr lang="fr-FR" dirty="0"/>
              <a:t> </a:t>
            </a:r>
            <a:r>
              <a:rPr lang="fr-FR" dirty="0" err="1"/>
              <a:t>consider</a:t>
            </a:r>
            <a:r>
              <a:rPr lang="fr-FR" dirty="0"/>
              <a:t> the </a:t>
            </a:r>
            <a:r>
              <a:rPr lang="fr-FR" dirty="0" err="1"/>
              <a:t>following</a:t>
            </a:r>
            <a:r>
              <a:rPr lang="fr-FR" dirty="0"/>
              <a:t> set of firewall </a:t>
            </a:r>
            <a:r>
              <a:rPr lang="fr-FR" dirty="0" err="1"/>
              <a:t>rules</a:t>
            </a:r>
            <a:endParaRPr lang="fr-FR" dirty="0"/>
          </a:p>
          <a:p>
            <a:pPr lvl="1"/>
            <a:r>
              <a:rPr lang="fr-FR" dirty="0">
                <a:hlinkClick r:id="rId4"/>
              </a:rPr>
              <a:t>https://www.cyberciti.biz/tips/wp-content/uploads/2006/06/fw.proxy.txt</a:t>
            </a:r>
            <a:endParaRPr lang="fr-FR" dirty="0"/>
          </a:p>
          <a:p>
            <a:pPr lvl="1"/>
            <a:r>
              <a:rPr lang="fr-FR" dirty="0" err="1"/>
              <a:t>Describe</a:t>
            </a:r>
            <a:r>
              <a:rPr lang="fr-FR" dirty="0"/>
              <a:t> and </a:t>
            </a:r>
            <a:r>
              <a:rPr lang="fr-FR" dirty="0" err="1"/>
              <a:t>explain</a:t>
            </a:r>
            <a:r>
              <a:rPr lang="fr-FR" dirty="0"/>
              <a:t> </a:t>
            </a:r>
            <a:r>
              <a:rPr lang="fr-FR" dirty="0" err="1"/>
              <a:t>them</a:t>
            </a:r>
            <a:endParaRPr lang="fr-FR" dirty="0"/>
          </a:p>
          <a:p>
            <a:pPr lvl="1"/>
            <a:r>
              <a:rPr lang="fr-FR" dirty="0" err="1"/>
              <a:t>Adapt</a:t>
            </a:r>
            <a:r>
              <a:rPr lang="fr-FR" dirty="0"/>
              <a:t> and </a:t>
            </a:r>
            <a:r>
              <a:rPr lang="fr-FR" dirty="0" err="1"/>
              <a:t>experiment</a:t>
            </a:r>
            <a:r>
              <a:rPr lang="fr-FR" dirty="0"/>
              <a:t> </a:t>
            </a:r>
            <a:r>
              <a:rPr lang="fr-FR" dirty="0" err="1"/>
              <a:t>them</a:t>
            </a:r>
            <a:r>
              <a:rPr lang="fr-FR" dirty="0"/>
              <a:t> in </a:t>
            </a:r>
            <a:r>
              <a:rPr lang="fr-FR" dirty="0" err="1"/>
              <a:t>your</a:t>
            </a:r>
            <a:r>
              <a:rPr lang="fr-FR" dirty="0"/>
              <a:t> network </a:t>
            </a:r>
          </a:p>
          <a:p>
            <a:pPr lvl="1"/>
            <a:endParaRPr lang="fr-FR" dirty="0"/>
          </a:p>
        </p:txBody>
      </p:sp>
    </p:spTree>
    <p:extLst>
      <p:ext uri="{BB962C8B-B14F-4D97-AF65-F5344CB8AC3E}">
        <p14:creationId xmlns:p14="http://schemas.microsoft.com/office/powerpoint/2010/main" val="35960148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19</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4474819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52ABCD-B767-AE5A-6F87-79243FE39617}"/>
              </a:ext>
            </a:extLst>
          </p:cNvPr>
          <p:cNvSpPr>
            <a:spLocks noGrp="1"/>
          </p:cNvSpPr>
          <p:nvPr>
            <p:ph type="title"/>
          </p:nvPr>
        </p:nvSpPr>
        <p:spPr/>
        <p:txBody>
          <a:bodyPr/>
          <a:lstStyle/>
          <a:p>
            <a:r>
              <a:rPr lang="fr-FR" dirty="0" err="1"/>
              <a:t>nftables</a:t>
            </a:r>
            <a:r>
              <a:rPr lang="fr-FR" dirty="0"/>
              <a:t> on Ubuntu</a:t>
            </a:r>
          </a:p>
        </p:txBody>
      </p:sp>
      <p:sp>
        <p:nvSpPr>
          <p:cNvPr id="5" name="Content Placeholder 4">
            <a:extLst>
              <a:ext uri="{FF2B5EF4-FFF2-40B4-BE49-F238E27FC236}">
                <a16:creationId xmlns:a16="http://schemas.microsoft.com/office/drawing/2014/main" id="{873F9BC0-CC55-F4F4-EBC7-27D7A49C9546}"/>
              </a:ext>
            </a:extLst>
          </p:cNvPr>
          <p:cNvSpPr>
            <a:spLocks noGrp="1"/>
          </p:cNvSpPr>
          <p:nvPr>
            <p:ph idx="1"/>
          </p:nvPr>
        </p:nvSpPr>
        <p:spPr/>
        <p:txBody>
          <a:bodyPr/>
          <a:lstStyle/>
          <a:p>
            <a:r>
              <a:rPr lang="en-US" dirty="0"/>
              <a:t>Restore your Ubuntu virtual machine to a clean snapshot to clear out any firewall configurations that you created previously. (Or, if you prefer, start with a new virtual machine.) Disable </a:t>
            </a:r>
            <a:r>
              <a:rPr lang="en-US" dirty="0" err="1"/>
              <a:t>ufw</a:t>
            </a:r>
            <a:r>
              <a:rPr lang="en-US" dirty="0"/>
              <a:t> and verify that no firewall rules are present:</a:t>
            </a:r>
          </a:p>
          <a:p>
            <a:pPr lvl="1"/>
            <a:r>
              <a:rPr lang="en-US" dirty="0" err="1"/>
              <a:t>sudo</a:t>
            </a:r>
            <a:r>
              <a:rPr lang="en-US" dirty="0"/>
              <a:t> </a:t>
            </a:r>
            <a:r>
              <a:rPr lang="en-US" dirty="0" err="1"/>
              <a:t>systemctl</a:t>
            </a:r>
            <a:r>
              <a:rPr lang="en-US" dirty="0"/>
              <a:t> disable ––now </a:t>
            </a:r>
            <a:r>
              <a:rPr lang="en-US" dirty="0" err="1"/>
              <a:t>ufw</a:t>
            </a:r>
            <a:endParaRPr lang="en-US" dirty="0"/>
          </a:p>
          <a:p>
            <a:pPr lvl="1"/>
            <a:r>
              <a:rPr lang="en-US" dirty="0" err="1"/>
              <a:t>sudo</a:t>
            </a:r>
            <a:r>
              <a:rPr lang="en-US" dirty="0"/>
              <a:t> iptables –L</a:t>
            </a:r>
          </a:p>
          <a:p>
            <a:r>
              <a:rPr lang="en-US" dirty="0"/>
              <a:t>You should see no rules listed for </a:t>
            </a:r>
            <a:r>
              <a:rPr lang="en-US" dirty="0" err="1"/>
              <a:t>nftables</a:t>
            </a:r>
            <a:r>
              <a:rPr lang="en-US" dirty="0"/>
              <a:t>. Copy the </a:t>
            </a:r>
            <a:r>
              <a:rPr lang="en-US" dirty="0" err="1"/>
              <a:t>workstation.nft</a:t>
            </a:r>
            <a:r>
              <a:rPr lang="en-US" dirty="0"/>
              <a:t> template over to the /</a:t>
            </a:r>
            <a:r>
              <a:rPr lang="en-US" dirty="0" err="1"/>
              <a:t>etc</a:t>
            </a:r>
            <a:r>
              <a:rPr lang="en-US" dirty="0"/>
              <a:t>/ directory and rename it </a:t>
            </a:r>
            <a:r>
              <a:rPr lang="en-US" dirty="0" err="1"/>
              <a:t>nftables.conf</a:t>
            </a:r>
            <a:r>
              <a:rPr lang="en-US" dirty="0"/>
              <a:t>:</a:t>
            </a:r>
          </a:p>
          <a:p>
            <a:pPr lvl="1"/>
            <a:r>
              <a:rPr lang="fr-FR" dirty="0" err="1"/>
              <a:t>sudo</a:t>
            </a:r>
            <a:r>
              <a:rPr lang="fr-FR" dirty="0"/>
              <a:t> </a:t>
            </a:r>
            <a:r>
              <a:rPr lang="fr-FR" dirty="0" err="1"/>
              <a:t>cp</a:t>
            </a:r>
            <a:r>
              <a:rPr lang="fr-FR" dirty="0"/>
              <a:t> /</a:t>
            </a:r>
            <a:r>
              <a:rPr lang="fr-FR" dirty="0" err="1"/>
              <a:t>usr</a:t>
            </a:r>
            <a:r>
              <a:rPr lang="fr-FR" dirty="0"/>
              <a:t>/</a:t>
            </a:r>
            <a:r>
              <a:rPr lang="fr-FR" dirty="0" err="1"/>
              <a:t>share</a:t>
            </a:r>
            <a:r>
              <a:rPr lang="fr-FR" dirty="0"/>
              <a:t>/doc/</a:t>
            </a:r>
            <a:r>
              <a:rPr lang="fr-FR" dirty="0" err="1"/>
              <a:t>nftables</a:t>
            </a:r>
            <a:r>
              <a:rPr lang="fr-FR" dirty="0"/>
              <a:t>/</a:t>
            </a:r>
            <a:r>
              <a:rPr lang="fr-FR" dirty="0" err="1"/>
              <a:t>examples</a:t>
            </a:r>
            <a:r>
              <a:rPr lang="fr-FR" dirty="0"/>
              <a:t>/</a:t>
            </a:r>
            <a:r>
              <a:rPr lang="fr-FR" dirty="0" err="1"/>
              <a:t>syntax</a:t>
            </a:r>
            <a:r>
              <a:rPr lang="fr-FR" dirty="0"/>
              <a:t>/</a:t>
            </a:r>
            <a:r>
              <a:rPr lang="fr-FR" dirty="0" err="1"/>
              <a:t>workstation</a:t>
            </a:r>
            <a:r>
              <a:rPr lang="fr-FR" dirty="0"/>
              <a:t> /</a:t>
            </a:r>
            <a:r>
              <a:rPr lang="fr-FR" dirty="0" err="1"/>
              <a:t>etc</a:t>
            </a:r>
            <a:r>
              <a:rPr lang="fr-FR" dirty="0"/>
              <a:t>/</a:t>
            </a:r>
            <a:r>
              <a:rPr lang="fr-FR" dirty="0" err="1"/>
              <a:t>nftables.conf</a:t>
            </a:r>
            <a:endParaRPr lang="fr-FR" dirty="0"/>
          </a:p>
          <a:p>
            <a:pPr marL="0" indent="0">
              <a:buNone/>
            </a:pPr>
            <a:endParaRPr lang="fr-FR" dirty="0"/>
          </a:p>
        </p:txBody>
      </p:sp>
    </p:spTree>
    <p:extLst>
      <p:ext uri="{BB962C8B-B14F-4D97-AF65-F5344CB8AC3E}">
        <p14:creationId xmlns:p14="http://schemas.microsoft.com/office/powerpoint/2010/main" val="39025765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52ABCD-B767-AE5A-6F87-79243FE39617}"/>
              </a:ext>
            </a:extLst>
          </p:cNvPr>
          <p:cNvSpPr>
            <a:spLocks noGrp="1"/>
          </p:cNvSpPr>
          <p:nvPr>
            <p:ph type="title"/>
          </p:nvPr>
        </p:nvSpPr>
        <p:spPr/>
        <p:txBody>
          <a:bodyPr/>
          <a:lstStyle/>
          <a:p>
            <a:r>
              <a:rPr lang="fr-FR" dirty="0" err="1"/>
              <a:t>nftables</a:t>
            </a:r>
            <a:r>
              <a:rPr lang="fr-FR" dirty="0"/>
              <a:t> on Ubuntu</a:t>
            </a:r>
          </a:p>
        </p:txBody>
      </p:sp>
      <p:sp>
        <p:nvSpPr>
          <p:cNvPr id="5" name="Content Placeholder 4">
            <a:extLst>
              <a:ext uri="{FF2B5EF4-FFF2-40B4-BE49-F238E27FC236}">
                <a16:creationId xmlns:a16="http://schemas.microsoft.com/office/drawing/2014/main" id="{873F9BC0-CC55-F4F4-EBC7-27D7A49C9546}"/>
              </a:ext>
            </a:extLst>
          </p:cNvPr>
          <p:cNvSpPr>
            <a:spLocks noGrp="1"/>
          </p:cNvSpPr>
          <p:nvPr>
            <p:ph idx="1"/>
          </p:nvPr>
        </p:nvSpPr>
        <p:spPr/>
        <p:txBody>
          <a:bodyPr/>
          <a:lstStyle/>
          <a:p>
            <a:pPr algn="just"/>
            <a:r>
              <a:rPr lang="en-US" dirty="0"/>
              <a:t>Edit the /</a:t>
            </a:r>
            <a:r>
              <a:rPr lang="en-US" dirty="0" err="1"/>
              <a:t>etc</a:t>
            </a:r>
            <a:r>
              <a:rPr lang="en-US" dirty="0"/>
              <a:t>/</a:t>
            </a:r>
            <a:r>
              <a:rPr lang="en-US" dirty="0" err="1"/>
              <a:t>nftables.conf</a:t>
            </a:r>
            <a:r>
              <a:rPr lang="en-US" dirty="0"/>
              <a:t> file to create your new configuration. (Note that due to formatting constraints, I have to break this into three different code blocks.) Make the top portion of the file look like this:</a:t>
            </a:r>
          </a:p>
          <a:p>
            <a:pPr algn="just"/>
            <a:endParaRPr lang="en-US" dirty="0"/>
          </a:p>
          <a:p>
            <a:pPr algn="just"/>
            <a:endParaRPr lang="en-US" dirty="0"/>
          </a:p>
          <a:p>
            <a:pPr algn="just"/>
            <a:endParaRPr lang="en-US" dirty="0"/>
          </a:p>
          <a:p>
            <a:pPr algn="just"/>
            <a:endParaRPr lang="en-US" dirty="0"/>
          </a:p>
          <a:p>
            <a:pPr marL="0" indent="0" algn="just">
              <a:buNone/>
            </a:pPr>
            <a:endParaRPr lang="en-US" dirty="0"/>
          </a:p>
        </p:txBody>
      </p:sp>
      <p:pic>
        <p:nvPicPr>
          <p:cNvPr id="3" name="Picture 2">
            <a:extLst>
              <a:ext uri="{FF2B5EF4-FFF2-40B4-BE49-F238E27FC236}">
                <a16:creationId xmlns:a16="http://schemas.microsoft.com/office/drawing/2014/main" id="{72398D2D-9915-D4A5-C338-DAD007508C24}"/>
              </a:ext>
            </a:extLst>
          </p:cNvPr>
          <p:cNvPicPr>
            <a:picLocks noChangeAspect="1"/>
          </p:cNvPicPr>
          <p:nvPr/>
        </p:nvPicPr>
        <p:blipFill>
          <a:blip r:embed="rId2"/>
          <a:stretch>
            <a:fillRect/>
          </a:stretch>
        </p:blipFill>
        <p:spPr>
          <a:xfrm>
            <a:off x="2583501" y="3743282"/>
            <a:ext cx="7652836" cy="2100305"/>
          </a:xfrm>
          <a:prstGeom prst="rect">
            <a:avLst/>
          </a:prstGeom>
        </p:spPr>
      </p:pic>
    </p:spTree>
    <p:extLst>
      <p:ext uri="{BB962C8B-B14F-4D97-AF65-F5344CB8AC3E}">
        <p14:creationId xmlns:p14="http://schemas.microsoft.com/office/powerpoint/2010/main" val="9332142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52ABCD-B767-AE5A-6F87-79243FE39617}"/>
              </a:ext>
            </a:extLst>
          </p:cNvPr>
          <p:cNvSpPr>
            <a:spLocks noGrp="1"/>
          </p:cNvSpPr>
          <p:nvPr>
            <p:ph type="title"/>
          </p:nvPr>
        </p:nvSpPr>
        <p:spPr/>
        <p:txBody>
          <a:bodyPr/>
          <a:lstStyle/>
          <a:p>
            <a:r>
              <a:rPr lang="fr-FR" dirty="0" err="1"/>
              <a:t>nftables</a:t>
            </a:r>
            <a:r>
              <a:rPr lang="fr-FR" dirty="0"/>
              <a:t> on Ubuntu</a:t>
            </a:r>
          </a:p>
        </p:txBody>
      </p:sp>
      <p:sp>
        <p:nvSpPr>
          <p:cNvPr id="5" name="Content Placeholder 4">
            <a:extLst>
              <a:ext uri="{FF2B5EF4-FFF2-40B4-BE49-F238E27FC236}">
                <a16:creationId xmlns:a16="http://schemas.microsoft.com/office/drawing/2014/main" id="{873F9BC0-CC55-F4F4-EBC7-27D7A49C9546}"/>
              </a:ext>
            </a:extLst>
          </p:cNvPr>
          <p:cNvSpPr>
            <a:spLocks noGrp="1"/>
          </p:cNvSpPr>
          <p:nvPr>
            <p:ph idx="1"/>
          </p:nvPr>
        </p:nvSpPr>
        <p:spPr/>
        <p:txBody>
          <a:bodyPr/>
          <a:lstStyle/>
          <a:p>
            <a:pPr algn="just"/>
            <a:r>
              <a:rPr lang="en-US" dirty="0"/>
              <a:t>Make the second portion of the file look like this:</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0" indent="0" algn="just">
              <a:buNone/>
            </a:pPr>
            <a:endParaRPr lang="en-US" dirty="0"/>
          </a:p>
          <a:p>
            <a:pPr algn="just"/>
            <a:endParaRPr lang="en-US" dirty="0"/>
          </a:p>
          <a:p>
            <a:pPr algn="just"/>
            <a:endParaRPr lang="en-US" dirty="0"/>
          </a:p>
          <a:p>
            <a:pPr marL="0" indent="0" algn="just">
              <a:buNone/>
            </a:pPr>
            <a:endParaRPr lang="en-US" dirty="0"/>
          </a:p>
        </p:txBody>
      </p:sp>
      <p:pic>
        <p:nvPicPr>
          <p:cNvPr id="6" name="Picture 5">
            <a:extLst>
              <a:ext uri="{FF2B5EF4-FFF2-40B4-BE49-F238E27FC236}">
                <a16:creationId xmlns:a16="http://schemas.microsoft.com/office/drawing/2014/main" id="{7345EF56-247C-EEBB-21B2-8385D9D6D292}"/>
              </a:ext>
            </a:extLst>
          </p:cNvPr>
          <p:cNvPicPr>
            <a:picLocks noChangeAspect="1"/>
          </p:cNvPicPr>
          <p:nvPr/>
        </p:nvPicPr>
        <p:blipFill>
          <a:blip r:embed="rId2"/>
          <a:stretch>
            <a:fillRect/>
          </a:stretch>
        </p:blipFill>
        <p:spPr>
          <a:xfrm>
            <a:off x="2975611" y="2511356"/>
            <a:ext cx="6140766" cy="2692538"/>
          </a:xfrm>
          <a:prstGeom prst="rect">
            <a:avLst/>
          </a:prstGeom>
        </p:spPr>
      </p:pic>
    </p:spTree>
    <p:extLst>
      <p:ext uri="{BB962C8B-B14F-4D97-AF65-F5344CB8AC3E}">
        <p14:creationId xmlns:p14="http://schemas.microsoft.com/office/powerpoint/2010/main" val="30129409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52ABCD-B767-AE5A-6F87-79243FE39617}"/>
              </a:ext>
            </a:extLst>
          </p:cNvPr>
          <p:cNvSpPr>
            <a:spLocks noGrp="1"/>
          </p:cNvSpPr>
          <p:nvPr>
            <p:ph type="title"/>
          </p:nvPr>
        </p:nvSpPr>
        <p:spPr/>
        <p:txBody>
          <a:bodyPr/>
          <a:lstStyle/>
          <a:p>
            <a:r>
              <a:rPr lang="fr-FR" dirty="0" err="1"/>
              <a:t>nftables</a:t>
            </a:r>
            <a:r>
              <a:rPr lang="fr-FR" dirty="0"/>
              <a:t> on Ubuntu</a:t>
            </a:r>
          </a:p>
        </p:txBody>
      </p:sp>
      <p:sp>
        <p:nvSpPr>
          <p:cNvPr id="5" name="Content Placeholder 4">
            <a:extLst>
              <a:ext uri="{FF2B5EF4-FFF2-40B4-BE49-F238E27FC236}">
                <a16:creationId xmlns:a16="http://schemas.microsoft.com/office/drawing/2014/main" id="{873F9BC0-CC55-F4F4-EBC7-27D7A49C9546}"/>
              </a:ext>
            </a:extLst>
          </p:cNvPr>
          <p:cNvSpPr>
            <a:spLocks noGrp="1"/>
          </p:cNvSpPr>
          <p:nvPr>
            <p:ph idx="1"/>
          </p:nvPr>
        </p:nvSpPr>
        <p:spPr>
          <a:xfrm>
            <a:off x="838200" y="1593056"/>
            <a:ext cx="10515600" cy="5586413"/>
          </a:xfrm>
        </p:spPr>
        <p:txBody>
          <a:bodyPr>
            <a:normAutofit fontScale="92500" lnSpcReduction="10000"/>
          </a:bodyPr>
          <a:lstStyle/>
          <a:p>
            <a:pPr algn="just"/>
            <a:r>
              <a:rPr lang="en-US" dirty="0"/>
              <a:t>Make the final portion of the file look like this:</a:t>
            </a:r>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Save the file and reload </a:t>
            </a:r>
            <a:r>
              <a:rPr lang="en-US" dirty="0" err="1"/>
              <a:t>nftables</a:t>
            </a:r>
            <a:r>
              <a:rPr lang="en-US" dirty="0"/>
              <a:t>:</a:t>
            </a:r>
          </a:p>
          <a:p>
            <a:pPr lvl="1" algn="just"/>
            <a:r>
              <a:rPr lang="en-US" dirty="0" err="1"/>
              <a:t>sudo</a:t>
            </a:r>
            <a:r>
              <a:rPr lang="en-US" dirty="0"/>
              <a:t> </a:t>
            </a:r>
            <a:r>
              <a:rPr lang="en-US" dirty="0" err="1"/>
              <a:t>systemctl</a:t>
            </a:r>
            <a:r>
              <a:rPr lang="en-US" dirty="0"/>
              <a:t> reload </a:t>
            </a:r>
            <a:r>
              <a:rPr lang="en-US" dirty="0" err="1"/>
              <a:t>nftables</a:t>
            </a:r>
            <a:endParaRPr lang="en-US" dirty="0"/>
          </a:p>
          <a:p>
            <a:pPr algn="just"/>
            <a:r>
              <a:rPr lang="en-US" dirty="0"/>
              <a:t>View the results:</a:t>
            </a:r>
          </a:p>
          <a:p>
            <a:pPr lvl="1" algn="just"/>
            <a:r>
              <a:rPr lang="en-US" dirty="0" err="1"/>
              <a:t>sudo</a:t>
            </a:r>
            <a:r>
              <a:rPr lang="en-US" dirty="0"/>
              <a:t> </a:t>
            </a:r>
            <a:r>
              <a:rPr lang="en-US" dirty="0" err="1"/>
              <a:t>nft</a:t>
            </a:r>
            <a:r>
              <a:rPr lang="en-US" dirty="0"/>
              <a:t> list tables</a:t>
            </a:r>
          </a:p>
          <a:p>
            <a:pPr lvl="1" algn="just"/>
            <a:r>
              <a:rPr lang="en-US" dirty="0" err="1"/>
              <a:t>sudo</a:t>
            </a:r>
            <a:r>
              <a:rPr lang="en-US" dirty="0"/>
              <a:t> </a:t>
            </a:r>
            <a:r>
              <a:rPr lang="en-US" dirty="0" err="1"/>
              <a:t>nft</a:t>
            </a:r>
            <a:r>
              <a:rPr lang="en-US" dirty="0"/>
              <a:t> list tables</a:t>
            </a:r>
          </a:p>
          <a:p>
            <a:pPr lvl="1" algn="just"/>
            <a:r>
              <a:rPr lang="en-US" dirty="0" err="1"/>
              <a:t>sudo</a:t>
            </a:r>
            <a:r>
              <a:rPr lang="en-US" dirty="0"/>
              <a:t> </a:t>
            </a:r>
            <a:r>
              <a:rPr lang="en-US" dirty="0" err="1"/>
              <a:t>nft</a:t>
            </a:r>
            <a:r>
              <a:rPr lang="en-US" dirty="0"/>
              <a:t> list table </a:t>
            </a:r>
            <a:r>
              <a:rPr lang="en-US" dirty="0" err="1"/>
              <a:t>inet</a:t>
            </a:r>
            <a:r>
              <a:rPr lang="en-US" dirty="0"/>
              <a:t> filter</a:t>
            </a:r>
          </a:p>
          <a:p>
            <a:pPr lvl="1" algn="just"/>
            <a:r>
              <a:rPr lang="en-US" dirty="0" err="1"/>
              <a:t>sudo</a:t>
            </a:r>
            <a:r>
              <a:rPr lang="en-US" dirty="0"/>
              <a:t> </a:t>
            </a:r>
            <a:r>
              <a:rPr lang="en-US" dirty="0" err="1"/>
              <a:t>nft</a:t>
            </a:r>
            <a:r>
              <a:rPr lang="en-US" dirty="0"/>
              <a:t> list ruleset</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0" indent="0" algn="just">
              <a:buNone/>
            </a:pPr>
            <a:endParaRPr lang="en-US" dirty="0"/>
          </a:p>
          <a:p>
            <a:pPr algn="just"/>
            <a:endParaRPr lang="en-US" dirty="0"/>
          </a:p>
          <a:p>
            <a:pPr algn="just"/>
            <a:endParaRPr lang="en-US" dirty="0"/>
          </a:p>
          <a:p>
            <a:pPr marL="0" indent="0" algn="just">
              <a:buNone/>
            </a:pPr>
            <a:endParaRPr lang="en-US" dirty="0"/>
          </a:p>
        </p:txBody>
      </p:sp>
      <p:pic>
        <p:nvPicPr>
          <p:cNvPr id="3" name="Picture 2">
            <a:extLst>
              <a:ext uri="{FF2B5EF4-FFF2-40B4-BE49-F238E27FC236}">
                <a16:creationId xmlns:a16="http://schemas.microsoft.com/office/drawing/2014/main" id="{CB11D54B-8FC5-9E42-AE9B-0AF553984765}"/>
              </a:ext>
            </a:extLst>
          </p:cNvPr>
          <p:cNvPicPr>
            <a:picLocks noChangeAspect="1"/>
          </p:cNvPicPr>
          <p:nvPr/>
        </p:nvPicPr>
        <p:blipFill>
          <a:blip r:embed="rId2"/>
          <a:stretch>
            <a:fillRect/>
          </a:stretch>
        </p:blipFill>
        <p:spPr>
          <a:xfrm>
            <a:off x="3000216" y="2068511"/>
            <a:ext cx="6191568" cy="2095608"/>
          </a:xfrm>
          <a:prstGeom prst="rect">
            <a:avLst/>
          </a:prstGeom>
        </p:spPr>
      </p:pic>
    </p:spTree>
    <p:extLst>
      <p:ext uri="{BB962C8B-B14F-4D97-AF65-F5344CB8AC3E}">
        <p14:creationId xmlns:p14="http://schemas.microsoft.com/office/powerpoint/2010/main" val="42856480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52ABCD-B767-AE5A-6F87-79243FE39617}"/>
              </a:ext>
            </a:extLst>
          </p:cNvPr>
          <p:cNvSpPr>
            <a:spLocks noGrp="1"/>
          </p:cNvSpPr>
          <p:nvPr>
            <p:ph type="title"/>
          </p:nvPr>
        </p:nvSpPr>
        <p:spPr/>
        <p:txBody>
          <a:bodyPr/>
          <a:lstStyle/>
          <a:p>
            <a:r>
              <a:rPr lang="fr-FR" dirty="0" err="1"/>
              <a:t>nftables</a:t>
            </a:r>
            <a:r>
              <a:rPr lang="fr-FR" dirty="0"/>
              <a:t> on Ubuntu</a:t>
            </a:r>
          </a:p>
        </p:txBody>
      </p:sp>
      <p:sp>
        <p:nvSpPr>
          <p:cNvPr id="5" name="Content Placeholder 4">
            <a:extLst>
              <a:ext uri="{FF2B5EF4-FFF2-40B4-BE49-F238E27FC236}">
                <a16:creationId xmlns:a16="http://schemas.microsoft.com/office/drawing/2014/main" id="{873F9BC0-CC55-F4F4-EBC7-27D7A49C9546}"/>
              </a:ext>
            </a:extLst>
          </p:cNvPr>
          <p:cNvSpPr>
            <a:spLocks noGrp="1"/>
          </p:cNvSpPr>
          <p:nvPr>
            <p:ph idx="1"/>
          </p:nvPr>
        </p:nvSpPr>
        <p:spPr>
          <a:xfrm>
            <a:off x="838200" y="1593057"/>
            <a:ext cx="10515600" cy="5193506"/>
          </a:xfrm>
        </p:spPr>
        <p:txBody>
          <a:bodyPr>
            <a:normAutofit fontScale="92500" lnSpcReduction="20000"/>
          </a:bodyPr>
          <a:lstStyle/>
          <a:p>
            <a:pPr algn="just"/>
            <a:r>
              <a:rPr lang="en-US" dirty="0"/>
              <a:t>From either your host computer or from another virtual machine, do a Windows scan against the Ubuntu virtual machine:</a:t>
            </a:r>
          </a:p>
          <a:p>
            <a:pPr lvl="1" algn="just"/>
            <a:r>
              <a:rPr lang="en-US" dirty="0" err="1"/>
              <a:t>sudo</a:t>
            </a:r>
            <a:r>
              <a:rPr lang="en-US" dirty="0"/>
              <a:t> </a:t>
            </a:r>
            <a:r>
              <a:rPr lang="en-US" dirty="0" err="1"/>
              <a:t>nmap</a:t>
            </a:r>
            <a:r>
              <a:rPr lang="en-US" dirty="0"/>
              <a:t> -</a:t>
            </a:r>
            <a:r>
              <a:rPr lang="en-US" dirty="0" err="1"/>
              <a:t>sW</a:t>
            </a:r>
            <a:r>
              <a:rPr lang="en-US" dirty="0"/>
              <a:t> </a:t>
            </a:r>
            <a:r>
              <a:rPr lang="en-US" dirty="0" err="1"/>
              <a:t>ip_address_of_UbuntuVM</a:t>
            </a:r>
            <a:endParaRPr lang="en-US" dirty="0"/>
          </a:p>
          <a:p>
            <a:pPr algn="just"/>
            <a:r>
              <a:rPr lang="en-US" dirty="0"/>
              <a:t>Look at the packet counters to see which blocking rule was triggered. (Hint: It’s in the </a:t>
            </a:r>
            <a:r>
              <a:rPr lang="en-US" dirty="0" err="1"/>
              <a:t>prerouting</a:t>
            </a:r>
            <a:r>
              <a:rPr lang="en-US" dirty="0"/>
              <a:t> chain.):</a:t>
            </a:r>
          </a:p>
          <a:p>
            <a:pPr lvl="1" algn="just"/>
            <a:r>
              <a:rPr lang="en-US" dirty="0" err="1"/>
              <a:t>sudo</a:t>
            </a:r>
            <a:r>
              <a:rPr lang="en-US" dirty="0"/>
              <a:t> </a:t>
            </a:r>
            <a:r>
              <a:rPr lang="en-US" dirty="0" err="1"/>
              <a:t>nft</a:t>
            </a:r>
            <a:r>
              <a:rPr lang="en-US" dirty="0"/>
              <a:t> list ruleset</a:t>
            </a:r>
          </a:p>
          <a:p>
            <a:pPr algn="just"/>
            <a:r>
              <a:rPr lang="en-US" dirty="0"/>
              <a:t>This time, do a null scan of the virtual machine:</a:t>
            </a:r>
          </a:p>
          <a:p>
            <a:pPr lvl="1" algn="just"/>
            <a:r>
              <a:rPr lang="en-US" dirty="0" err="1"/>
              <a:t>sudo</a:t>
            </a:r>
            <a:r>
              <a:rPr lang="en-US" dirty="0"/>
              <a:t> </a:t>
            </a:r>
            <a:r>
              <a:rPr lang="en-US" dirty="0" err="1"/>
              <a:t>nmap</a:t>
            </a:r>
            <a:r>
              <a:rPr lang="en-US" dirty="0"/>
              <a:t> -</a:t>
            </a:r>
            <a:r>
              <a:rPr lang="en-US" dirty="0" err="1"/>
              <a:t>sN</a:t>
            </a:r>
            <a:r>
              <a:rPr lang="en-US" dirty="0"/>
              <a:t> </a:t>
            </a:r>
            <a:r>
              <a:rPr lang="en-US" dirty="0" err="1"/>
              <a:t>ip_address_of_UbuntuVM</a:t>
            </a:r>
            <a:endParaRPr lang="en-US" dirty="0"/>
          </a:p>
          <a:p>
            <a:pPr algn="just"/>
            <a:r>
              <a:rPr lang="en-US" dirty="0"/>
              <a:t>Finally, look at which rule was triggered this time. (Hint: It’s the other one in the </a:t>
            </a:r>
            <a:r>
              <a:rPr lang="en-US" dirty="0" err="1"/>
              <a:t>prerouting</a:t>
            </a:r>
            <a:r>
              <a:rPr lang="en-US" dirty="0"/>
              <a:t> chain.):</a:t>
            </a:r>
          </a:p>
          <a:p>
            <a:pPr lvl="1" algn="just"/>
            <a:r>
              <a:rPr lang="en-US" dirty="0" err="1"/>
              <a:t>sudo</a:t>
            </a:r>
            <a:r>
              <a:rPr lang="en-US" dirty="0"/>
              <a:t> </a:t>
            </a:r>
            <a:r>
              <a:rPr lang="en-US" dirty="0" err="1"/>
              <a:t>nft</a:t>
            </a:r>
            <a:r>
              <a:rPr lang="en-US" dirty="0"/>
              <a:t> list ruleset</a:t>
            </a:r>
          </a:p>
          <a:p>
            <a:pPr algn="just"/>
            <a:r>
              <a:rPr lang="en-US" dirty="0"/>
              <a:t>In the /var/log/kern.log file, search for the Invalid Packets text string to view the messages about the dropped invalid packets.</a:t>
            </a:r>
          </a:p>
          <a:p>
            <a:pPr algn="just"/>
            <a:r>
              <a:rPr lang="en-US" dirty="0"/>
              <a:t>End of this lab</a:t>
            </a:r>
          </a:p>
        </p:txBody>
      </p:sp>
    </p:spTree>
    <p:extLst>
      <p:ext uri="{BB962C8B-B14F-4D97-AF65-F5344CB8AC3E}">
        <p14:creationId xmlns:p14="http://schemas.microsoft.com/office/powerpoint/2010/main" val="38172518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20</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7488944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1ED4-AF52-DAD9-83FB-D75FDB1FBB71}"/>
              </a:ext>
            </a:extLst>
          </p:cNvPr>
          <p:cNvSpPr>
            <a:spLocks noGrp="1"/>
          </p:cNvSpPr>
          <p:nvPr>
            <p:ph type="title"/>
          </p:nvPr>
        </p:nvSpPr>
        <p:spPr/>
        <p:txBody>
          <a:bodyPr/>
          <a:lstStyle/>
          <a:p>
            <a:r>
              <a:rPr lang="en-US" dirty="0"/>
              <a:t>Hands-on lab for basic </a:t>
            </a:r>
            <a:r>
              <a:rPr lang="en-US" dirty="0" err="1"/>
              <a:t>ufw</a:t>
            </a:r>
            <a:r>
              <a:rPr lang="en-US" dirty="0"/>
              <a:t> usage</a:t>
            </a:r>
            <a:endParaRPr lang="fr-FR" dirty="0"/>
          </a:p>
        </p:txBody>
      </p:sp>
      <p:sp>
        <p:nvSpPr>
          <p:cNvPr id="3" name="Content Placeholder 2">
            <a:extLst>
              <a:ext uri="{FF2B5EF4-FFF2-40B4-BE49-F238E27FC236}">
                <a16:creationId xmlns:a16="http://schemas.microsoft.com/office/drawing/2014/main" id="{0E6B17BB-3961-0201-7410-B0430C3B0963}"/>
              </a:ext>
            </a:extLst>
          </p:cNvPr>
          <p:cNvSpPr>
            <a:spLocks noGrp="1"/>
          </p:cNvSpPr>
          <p:nvPr>
            <p:ph idx="1"/>
          </p:nvPr>
        </p:nvSpPr>
        <p:spPr/>
        <p:txBody>
          <a:bodyPr>
            <a:normAutofit fontScale="92500" lnSpcReduction="10000"/>
          </a:bodyPr>
          <a:lstStyle/>
          <a:p>
            <a:r>
              <a:rPr lang="en-US" dirty="0"/>
              <a:t>Shut down your Ubuntu virtual machine and restore the snapshot to get rid of all of the iptables  or </a:t>
            </a:r>
            <a:r>
              <a:rPr lang="en-US" dirty="0" err="1"/>
              <a:t>nftables</a:t>
            </a:r>
            <a:r>
              <a:rPr lang="en-US" dirty="0"/>
              <a:t> stuff that you just did. (Or, if you prefer, just start with a fresh virtual machine.)</a:t>
            </a:r>
          </a:p>
          <a:p>
            <a:pPr lvl="1"/>
            <a:r>
              <a:rPr lang="en-US" dirty="0"/>
              <a:t>When you’ve restarted the virtual machine, verify that the iptables rules are now gone. On Ubuntu 20.04 do:</a:t>
            </a:r>
          </a:p>
          <a:p>
            <a:pPr lvl="2"/>
            <a:r>
              <a:rPr lang="fr-FR" dirty="0" err="1"/>
              <a:t>sudo</a:t>
            </a:r>
            <a:r>
              <a:rPr lang="fr-FR" dirty="0"/>
              <a:t> </a:t>
            </a:r>
            <a:r>
              <a:rPr lang="fr-FR" dirty="0" err="1"/>
              <a:t>iptables</a:t>
            </a:r>
            <a:r>
              <a:rPr lang="fr-FR" dirty="0"/>
              <a:t> –L</a:t>
            </a:r>
          </a:p>
          <a:p>
            <a:pPr lvl="1"/>
            <a:r>
              <a:rPr lang="fr-FR" dirty="0"/>
              <a:t>On Ubuntu 22.04, do:</a:t>
            </a:r>
          </a:p>
          <a:p>
            <a:pPr lvl="2"/>
            <a:r>
              <a:rPr lang="fr-FR" dirty="0" err="1"/>
              <a:t>sudo</a:t>
            </a:r>
            <a:r>
              <a:rPr lang="fr-FR" dirty="0"/>
              <a:t> </a:t>
            </a:r>
            <a:r>
              <a:rPr lang="fr-FR" dirty="0" err="1"/>
              <a:t>nft</a:t>
            </a:r>
            <a:r>
              <a:rPr lang="fr-FR" dirty="0"/>
              <a:t> </a:t>
            </a:r>
            <a:r>
              <a:rPr lang="fr-FR" dirty="0" err="1"/>
              <a:t>list</a:t>
            </a:r>
            <a:r>
              <a:rPr lang="fr-FR" dirty="0"/>
              <a:t> </a:t>
            </a:r>
            <a:r>
              <a:rPr lang="fr-FR" dirty="0" err="1"/>
              <a:t>ruleset</a:t>
            </a:r>
            <a:endParaRPr lang="fr-FR" dirty="0"/>
          </a:p>
          <a:p>
            <a:pPr lvl="1"/>
            <a:r>
              <a:rPr lang="en-US" dirty="0"/>
              <a:t>View the status of </a:t>
            </a:r>
            <a:r>
              <a:rPr lang="en-US" dirty="0" err="1"/>
              <a:t>ufw</a:t>
            </a:r>
            <a:r>
              <a:rPr lang="en-US" dirty="0"/>
              <a:t>. Open port 22/TCP and then enable </a:t>
            </a:r>
            <a:r>
              <a:rPr lang="en-US" dirty="0" err="1"/>
              <a:t>ufw</a:t>
            </a:r>
            <a:r>
              <a:rPr lang="en-US" dirty="0"/>
              <a:t>. Then, view the results:</a:t>
            </a:r>
          </a:p>
          <a:p>
            <a:pPr lvl="2"/>
            <a:r>
              <a:rPr lang="fr-FR" dirty="0" err="1"/>
              <a:t>sudo</a:t>
            </a:r>
            <a:r>
              <a:rPr lang="fr-FR" dirty="0"/>
              <a:t> </a:t>
            </a:r>
            <a:r>
              <a:rPr lang="fr-FR" dirty="0" err="1"/>
              <a:t>ufw</a:t>
            </a:r>
            <a:r>
              <a:rPr lang="fr-FR" dirty="0"/>
              <a:t> </a:t>
            </a:r>
            <a:r>
              <a:rPr lang="fr-FR" dirty="0" err="1"/>
              <a:t>status</a:t>
            </a:r>
            <a:endParaRPr lang="fr-FR" dirty="0"/>
          </a:p>
          <a:p>
            <a:pPr lvl="2"/>
            <a:r>
              <a:rPr lang="fr-FR" dirty="0" err="1"/>
              <a:t>sudo</a:t>
            </a:r>
            <a:r>
              <a:rPr lang="fr-FR" dirty="0"/>
              <a:t> </a:t>
            </a:r>
            <a:r>
              <a:rPr lang="fr-FR" dirty="0" err="1"/>
              <a:t>ufw</a:t>
            </a:r>
            <a:r>
              <a:rPr lang="fr-FR" dirty="0"/>
              <a:t> </a:t>
            </a:r>
            <a:r>
              <a:rPr lang="fr-FR" dirty="0" err="1"/>
              <a:t>allow</a:t>
            </a:r>
            <a:r>
              <a:rPr lang="fr-FR" dirty="0"/>
              <a:t> 22/</a:t>
            </a:r>
            <a:r>
              <a:rPr lang="fr-FR" dirty="0" err="1"/>
              <a:t>tcp</a:t>
            </a:r>
            <a:endParaRPr lang="fr-FR" dirty="0"/>
          </a:p>
          <a:p>
            <a:pPr lvl="2"/>
            <a:r>
              <a:rPr lang="fr-FR" dirty="0" err="1"/>
              <a:t>sudo</a:t>
            </a:r>
            <a:r>
              <a:rPr lang="fr-FR" dirty="0"/>
              <a:t> </a:t>
            </a:r>
            <a:r>
              <a:rPr lang="fr-FR" dirty="0" err="1"/>
              <a:t>ufw</a:t>
            </a:r>
            <a:r>
              <a:rPr lang="fr-FR" dirty="0"/>
              <a:t> enable</a:t>
            </a:r>
          </a:p>
          <a:p>
            <a:pPr lvl="2"/>
            <a:r>
              <a:rPr lang="fr-FR" dirty="0" err="1"/>
              <a:t>sudo</a:t>
            </a:r>
            <a:r>
              <a:rPr lang="fr-FR" dirty="0"/>
              <a:t> </a:t>
            </a:r>
            <a:r>
              <a:rPr lang="fr-FR" dirty="0" err="1"/>
              <a:t>ufw</a:t>
            </a:r>
            <a:r>
              <a:rPr lang="fr-FR" dirty="0"/>
              <a:t> </a:t>
            </a:r>
            <a:r>
              <a:rPr lang="fr-FR" dirty="0" err="1"/>
              <a:t>status</a:t>
            </a:r>
            <a:endParaRPr lang="fr-FR" dirty="0"/>
          </a:p>
        </p:txBody>
      </p:sp>
    </p:spTree>
    <p:extLst>
      <p:ext uri="{BB962C8B-B14F-4D97-AF65-F5344CB8AC3E}">
        <p14:creationId xmlns:p14="http://schemas.microsoft.com/office/powerpoint/2010/main" val="14343962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1ED4-AF52-DAD9-83FB-D75FDB1FBB71}"/>
              </a:ext>
            </a:extLst>
          </p:cNvPr>
          <p:cNvSpPr>
            <a:spLocks noGrp="1"/>
          </p:cNvSpPr>
          <p:nvPr>
            <p:ph type="title"/>
          </p:nvPr>
        </p:nvSpPr>
        <p:spPr/>
        <p:txBody>
          <a:bodyPr/>
          <a:lstStyle/>
          <a:p>
            <a:r>
              <a:rPr lang="en-US" dirty="0"/>
              <a:t>Hands-on lab for basic </a:t>
            </a:r>
            <a:r>
              <a:rPr lang="en-US" dirty="0" err="1"/>
              <a:t>ufw</a:t>
            </a:r>
            <a:r>
              <a:rPr lang="en-US" dirty="0"/>
              <a:t> usage</a:t>
            </a:r>
            <a:endParaRPr lang="fr-FR" dirty="0"/>
          </a:p>
        </p:txBody>
      </p:sp>
      <p:sp>
        <p:nvSpPr>
          <p:cNvPr id="3" name="Content Placeholder 2">
            <a:extLst>
              <a:ext uri="{FF2B5EF4-FFF2-40B4-BE49-F238E27FC236}">
                <a16:creationId xmlns:a16="http://schemas.microsoft.com/office/drawing/2014/main" id="{0E6B17BB-3961-0201-7410-B0430C3B0963}"/>
              </a:ext>
            </a:extLst>
          </p:cNvPr>
          <p:cNvSpPr>
            <a:spLocks noGrp="1"/>
          </p:cNvSpPr>
          <p:nvPr>
            <p:ph idx="1"/>
          </p:nvPr>
        </p:nvSpPr>
        <p:spPr/>
        <p:txBody>
          <a:bodyPr>
            <a:normAutofit fontScale="85000" lnSpcReduction="20000"/>
          </a:bodyPr>
          <a:lstStyle/>
          <a:p>
            <a:r>
              <a:rPr lang="fr-FR" dirty="0"/>
              <a:t>On Ubuntu 20.04, do:</a:t>
            </a:r>
          </a:p>
          <a:p>
            <a:pPr lvl="1"/>
            <a:r>
              <a:rPr lang="fr-FR" dirty="0" err="1"/>
              <a:t>sudo</a:t>
            </a:r>
            <a:r>
              <a:rPr lang="fr-FR" dirty="0"/>
              <a:t> </a:t>
            </a:r>
            <a:r>
              <a:rPr lang="fr-FR" dirty="0" err="1"/>
              <a:t>iptables</a:t>
            </a:r>
            <a:r>
              <a:rPr lang="fr-FR" dirty="0"/>
              <a:t> -L</a:t>
            </a:r>
          </a:p>
          <a:p>
            <a:pPr lvl="1"/>
            <a:r>
              <a:rPr lang="fr-FR" dirty="0" err="1"/>
              <a:t>sudo</a:t>
            </a:r>
            <a:r>
              <a:rPr lang="fr-FR" dirty="0"/>
              <a:t> ip6tables –L</a:t>
            </a:r>
          </a:p>
          <a:p>
            <a:r>
              <a:rPr lang="en-US" dirty="0"/>
              <a:t>On Ubuntu 22.04, do:</a:t>
            </a:r>
          </a:p>
          <a:p>
            <a:pPr lvl="1"/>
            <a:r>
              <a:rPr lang="en-US" dirty="0" err="1"/>
              <a:t>sudo</a:t>
            </a:r>
            <a:r>
              <a:rPr lang="en-US" dirty="0"/>
              <a:t> </a:t>
            </a:r>
            <a:r>
              <a:rPr lang="en-US" dirty="0" err="1"/>
              <a:t>nft</a:t>
            </a:r>
            <a:r>
              <a:rPr lang="en-US" dirty="0"/>
              <a:t> list ruleset</a:t>
            </a:r>
          </a:p>
          <a:p>
            <a:r>
              <a:rPr lang="en-US" dirty="0"/>
              <a:t>This time, open port 53 for both TCP and UDP:</a:t>
            </a:r>
          </a:p>
          <a:p>
            <a:pPr lvl="1"/>
            <a:r>
              <a:rPr lang="en-US" dirty="0" err="1"/>
              <a:t>sudo</a:t>
            </a:r>
            <a:r>
              <a:rPr lang="en-US" dirty="0"/>
              <a:t> </a:t>
            </a:r>
            <a:r>
              <a:rPr lang="en-US" dirty="0" err="1"/>
              <a:t>ufw</a:t>
            </a:r>
            <a:r>
              <a:rPr lang="en-US" dirty="0"/>
              <a:t> allow 53</a:t>
            </a:r>
          </a:p>
          <a:p>
            <a:pPr lvl="1"/>
            <a:r>
              <a:rPr lang="en-US" dirty="0" err="1"/>
              <a:t>sudo</a:t>
            </a:r>
            <a:r>
              <a:rPr lang="en-US" dirty="0"/>
              <a:t> </a:t>
            </a:r>
            <a:r>
              <a:rPr lang="en-US" dirty="0" err="1"/>
              <a:t>ufw</a:t>
            </a:r>
            <a:r>
              <a:rPr lang="en-US" dirty="0"/>
              <a:t> status</a:t>
            </a:r>
          </a:p>
          <a:p>
            <a:r>
              <a:rPr lang="fr-FR" dirty="0"/>
              <a:t>On Ubuntu 20.04, do:</a:t>
            </a:r>
          </a:p>
          <a:p>
            <a:pPr lvl="1"/>
            <a:r>
              <a:rPr lang="fr-FR" dirty="0" err="1"/>
              <a:t>sudo</a:t>
            </a:r>
            <a:r>
              <a:rPr lang="fr-FR" dirty="0"/>
              <a:t> </a:t>
            </a:r>
            <a:r>
              <a:rPr lang="fr-FR" dirty="0" err="1"/>
              <a:t>iptables</a:t>
            </a:r>
            <a:r>
              <a:rPr lang="fr-FR" dirty="0"/>
              <a:t> -L</a:t>
            </a:r>
          </a:p>
          <a:p>
            <a:pPr lvl="1"/>
            <a:r>
              <a:rPr lang="fr-FR" dirty="0" err="1"/>
              <a:t>sudo</a:t>
            </a:r>
            <a:r>
              <a:rPr lang="fr-FR" dirty="0"/>
              <a:t> ip6tables –L</a:t>
            </a:r>
          </a:p>
          <a:p>
            <a:r>
              <a:rPr lang="en-US" dirty="0"/>
              <a:t>On Ubuntu 22.04, do:</a:t>
            </a:r>
          </a:p>
          <a:p>
            <a:pPr lvl="1"/>
            <a:r>
              <a:rPr lang="en-US" dirty="0" err="1"/>
              <a:t>sudo</a:t>
            </a:r>
            <a:r>
              <a:rPr lang="en-US" dirty="0"/>
              <a:t> </a:t>
            </a:r>
            <a:r>
              <a:rPr lang="en-US" dirty="0" err="1"/>
              <a:t>nft</a:t>
            </a:r>
            <a:r>
              <a:rPr lang="en-US" dirty="0"/>
              <a:t> list ruleset</a:t>
            </a:r>
            <a:endParaRPr lang="fr-FR" dirty="0"/>
          </a:p>
        </p:txBody>
      </p:sp>
    </p:spTree>
    <p:extLst>
      <p:ext uri="{BB962C8B-B14F-4D97-AF65-F5344CB8AC3E}">
        <p14:creationId xmlns:p14="http://schemas.microsoft.com/office/powerpoint/2010/main" val="41366754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1ED4-AF52-DAD9-83FB-D75FDB1FBB71}"/>
              </a:ext>
            </a:extLst>
          </p:cNvPr>
          <p:cNvSpPr>
            <a:spLocks noGrp="1"/>
          </p:cNvSpPr>
          <p:nvPr>
            <p:ph type="title"/>
          </p:nvPr>
        </p:nvSpPr>
        <p:spPr/>
        <p:txBody>
          <a:bodyPr/>
          <a:lstStyle/>
          <a:p>
            <a:r>
              <a:rPr lang="en-US" dirty="0"/>
              <a:t>Hands-on lab for basic </a:t>
            </a:r>
            <a:r>
              <a:rPr lang="en-US" dirty="0" err="1"/>
              <a:t>ufw</a:t>
            </a:r>
            <a:r>
              <a:rPr lang="en-US" dirty="0"/>
              <a:t> usage</a:t>
            </a:r>
            <a:endParaRPr lang="fr-FR" dirty="0"/>
          </a:p>
        </p:txBody>
      </p:sp>
      <p:sp>
        <p:nvSpPr>
          <p:cNvPr id="3" name="Content Placeholder 2">
            <a:extLst>
              <a:ext uri="{FF2B5EF4-FFF2-40B4-BE49-F238E27FC236}">
                <a16:creationId xmlns:a16="http://schemas.microsoft.com/office/drawing/2014/main" id="{0E6B17BB-3961-0201-7410-B0430C3B0963}"/>
              </a:ext>
            </a:extLst>
          </p:cNvPr>
          <p:cNvSpPr>
            <a:spLocks noGrp="1"/>
          </p:cNvSpPr>
          <p:nvPr>
            <p:ph idx="1"/>
          </p:nvPr>
        </p:nvSpPr>
        <p:spPr/>
        <p:txBody>
          <a:bodyPr>
            <a:normAutofit/>
          </a:bodyPr>
          <a:lstStyle/>
          <a:p>
            <a:r>
              <a:rPr lang="en-US" dirty="0"/>
              <a:t>cd into the /</a:t>
            </a:r>
            <a:r>
              <a:rPr lang="en-US" dirty="0" err="1"/>
              <a:t>etc</a:t>
            </a:r>
            <a:r>
              <a:rPr lang="en-US" dirty="0"/>
              <a:t>/</a:t>
            </a:r>
            <a:r>
              <a:rPr lang="en-US" dirty="0" err="1"/>
              <a:t>ufw</a:t>
            </a:r>
            <a:r>
              <a:rPr lang="en-US" dirty="0"/>
              <a:t>/ directory. Familiarize yourself with the contents of the files that are there</a:t>
            </a:r>
          </a:p>
          <a:p>
            <a:pPr lvl="1"/>
            <a:endParaRPr lang="fr-FR" dirty="0"/>
          </a:p>
        </p:txBody>
      </p:sp>
      <p:pic>
        <p:nvPicPr>
          <p:cNvPr id="5" name="Picture 4">
            <a:extLst>
              <a:ext uri="{FF2B5EF4-FFF2-40B4-BE49-F238E27FC236}">
                <a16:creationId xmlns:a16="http://schemas.microsoft.com/office/drawing/2014/main" id="{C9DBF3D3-DC0F-EEC5-1557-3B0B5C7CE4FB}"/>
              </a:ext>
            </a:extLst>
          </p:cNvPr>
          <p:cNvPicPr>
            <a:picLocks noChangeAspect="1"/>
          </p:cNvPicPr>
          <p:nvPr/>
        </p:nvPicPr>
        <p:blipFill>
          <a:blip r:embed="rId2"/>
          <a:stretch>
            <a:fillRect/>
          </a:stretch>
        </p:blipFill>
        <p:spPr>
          <a:xfrm>
            <a:off x="3273280" y="2978869"/>
            <a:ext cx="5645440" cy="2857647"/>
          </a:xfrm>
          <a:prstGeom prst="rect">
            <a:avLst/>
          </a:prstGeom>
        </p:spPr>
      </p:pic>
    </p:spTree>
    <p:extLst>
      <p:ext uri="{BB962C8B-B14F-4D97-AF65-F5344CB8AC3E}">
        <p14:creationId xmlns:p14="http://schemas.microsoft.com/office/powerpoint/2010/main" val="40038903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1ED4-AF52-DAD9-83FB-D75FDB1FBB71}"/>
              </a:ext>
            </a:extLst>
          </p:cNvPr>
          <p:cNvSpPr>
            <a:spLocks noGrp="1"/>
          </p:cNvSpPr>
          <p:nvPr>
            <p:ph type="title"/>
          </p:nvPr>
        </p:nvSpPr>
        <p:spPr/>
        <p:txBody>
          <a:bodyPr/>
          <a:lstStyle/>
          <a:p>
            <a:r>
              <a:rPr lang="en-US" dirty="0"/>
              <a:t>Hands-on lab for basic </a:t>
            </a:r>
            <a:r>
              <a:rPr lang="en-US" dirty="0" err="1"/>
              <a:t>ufw</a:t>
            </a:r>
            <a:r>
              <a:rPr lang="en-US" dirty="0"/>
              <a:t> usage</a:t>
            </a:r>
            <a:endParaRPr lang="fr-FR" dirty="0"/>
          </a:p>
        </p:txBody>
      </p:sp>
      <p:sp>
        <p:nvSpPr>
          <p:cNvPr id="3" name="Content Placeholder 2">
            <a:extLst>
              <a:ext uri="{FF2B5EF4-FFF2-40B4-BE49-F238E27FC236}">
                <a16:creationId xmlns:a16="http://schemas.microsoft.com/office/drawing/2014/main" id="{0E6B17BB-3961-0201-7410-B0430C3B0963}"/>
              </a:ext>
            </a:extLst>
          </p:cNvPr>
          <p:cNvSpPr>
            <a:spLocks noGrp="1"/>
          </p:cNvSpPr>
          <p:nvPr>
            <p:ph idx="1"/>
          </p:nvPr>
        </p:nvSpPr>
        <p:spPr>
          <a:xfrm>
            <a:off x="838200" y="1825624"/>
            <a:ext cx="10515600" cy="4746625"/>
          </a:xfrm>
        </p:spPr>
        <p:txBody>
          <a:bodyPr>
            <a:normAutofit fontScale="92500" lnSpcReduction="20000"/>
          </a:bodyPr>
          <a:lstStyle/>
          <a:p>
            <a:r>
              <a:rPr lang="en-US" dirty="0"/>
              <a:t>Repeat the previous step for the /</a:t>
            </a:r>
            <a:r>
              <a:rPr lang="en-US" dirty="0" err="1"/>
              <a:t>etc</a:t>
            </a:r>
            <a:r>
              <a:rPr lang="en-US" dirty="0"/>
              <a:t>/</a:t>
            </a:r>
            <a:r>
              <a:rPr lang="en-US" dirty="0" err="1"/>
              <a:t>ufw</a:t>
            </a:r>
            <a:r>
              <a:rPr lang="en-US" dirty="0"/>
              <a:t>/before6.rules file.</a:t>
            </a:r>
          </a:p>
          <a:p>
            <a:r>
              <a:rPr lang="en-US" dirty="0"/>
              <a:t>Reload the firewall with this command:</a:t>
            </a:r>
          </a:p>
          <a:p>
            <a:pPr lvl="1"/>
            <a:r>
              <a:rPr lang="en-US" dirty="0" err="1"/>
              <a:t>sudo</a:t>
            </a:r>
            <a:r>
              <a:rPr lang="en-US" dirty="0"/>
              <a:t> </a:t>
            </a:r>
            <a:r>
              <a:rPr lang="en-US" dirty="0" err="1"/>
              <a:t>ufw</a:t>
            </a:r>
            <a:r>
              <a:rPr lang="en-US" dirty="0"/>
              <a:t> reload</a:t>
            </a:r>
          </a:p>
          <a:p>
            <a:r>
              <a:rPr lang="en-US" dirty="0"/>
              <a:t>On Ubuntu 20.04, observe the rules by doing:</a:t>
            </a:r>
          </a:p>
          <a:p>
            <a:pPr lvl="1"/>
            <a:r>
              <a:rPr lang="fr-FR" dirty="0" err="1"/>
              <a:t>sudo</a:t>
            </a:r>
            <a:r>
              <a:rPr lang="fr-FR" dirty="0"/>
              <a:t> </a:t>
            </a:r>
            <a:r>
              <a:rPr lang="fr-FR" dirty="0" err="1"/>
              <a:t>iptables</a:t>
            </a:r>
            <a:r>
              <a:rPr lang="fr-FR" dirty="0"/>
              <a:t> -L</a:t>
            </a:r>
          </a:p>
          <a:p>
            <a:pPr lvl="1"/>
            <a:r>
              <a:rPr lang="fr-FR" dirty="0" err="1"/>
              <a:t>sudo</a:t>
            </a:r>
            <a:r>
              <a:rPr lang="fr-FR" dirty="0"/>
              <a:t> </a:t>
            </a:r>
            <a:r>
              <a:rPr lang="fr-FR" dirty="0" err="1"/>
              <a:t>iptables</a:t>
            </a:r>
            <a:r>
              <a:rPr lang="fr-FR" dirty="0"/>
              <a:t> -t mangle -L</a:t>
            </a:r>
          </a:p>
          <a:p>
            <a:pPr lvl="1"/>
            <a:r>
              <a:rPr lang="fr-FR" dirty="0" err="1"/>
              <a:t>sudo</a:t>
            </a:r>
            <a:r>
              <a:rPr lang="fr-FR" dirty="0"/>
              <a:t> ip6tables -L</a:t>
            </a:r>
          </a:p>
          <a:p>
            <a:pPr lvl="1"/>
            <a:r>
              <a:rPr lang="fr-FR" dirty="0" err="1"/>
              <a:t>sudo</a:t>
            </a:r>
            <a:r>
              <a:rPr lang="fr-FR" dirty="0"/>
              <a:t> ip6tables -t mangle –L</a:t>
            </a:r>
          </a:p>
          <a:p>
            <a:r>
              <a:rPr lang="en-US" dirty="0"/>
              <a:t>On Ubuntu 22.04, observe the rules by doing:</a:t>
            </a:r>
          </a:p>
          <a:p>
            <a:pPr lvl="1"/>
            <a:r>
              <a:rPr lang="fr-FR" dirty="0" err="1"/>
              <a:t>sudo</a:t>
            </a:r>
            <a:r>
              <a:rPr lang="fr-FR" dirty="0"/>
              <a:t> </a:t>
            </a:r>
            <a:r>
              <a:rPr lang="fr-FR" dirty="0" err="1"/>
              <a:t>nft</a:t>
            </a:r>
            <a:r>
              <a:rPr lang="fr-FR" dirty="0"/>
              <a:t> </a:t>
            </a:r>
            <a:r>
              <a:rPr lang="fr-FR" dirty="0" err="1"/>
              <a:t>list</a:t>
            </a:r>
            <a:r>
              <a:rPr lang="fr-FR" dirty="0"/>
              <a:t> </a:t>
            </a:r>
            <a:r>
              <a:rPr lang="fr-FR" dirty="0" err="1"/>
              <a:t>ruleset</a:t>
            </a:r>
            <a:endParaRPr lang="fr-FR" dirty="0"/>
          </a:p>
          <a:p>
            <a:r>
              <a:rPr lang="en-US" dirty="0"/>
              <a:t>Take a quick look at the </a:t>
            </a:r>
            <a:r>
              <a:rPr lang="en-US" dirty="0" err="1"/>
              <a:t>ufw</a:t>
            </a:r>
            <a:r>
              <a:rPr lang="en-US" dirty="0"/>
              <a:t> status:</a:t>
            </a:r>
          </a:p>
          <a:p>
            <a:pPr lvl="1"/>
            <a:r>
              <a:rPr lang="fr-FR" dirty="0" err="1"/>
              <a:t>sudo</a:t>
            </a:r>
            <a:r>
              <a:rPr lang="fr-FR" dirty="0"/>
              <a:t> </a:t>
            </a:r>
            <a:r>
              <a:rPr lang="fr-FR" dirty="0" err="1"/>
              <a:t>ufw</a:t>
            </a:r>
            <a:r>
              <a:rPr lang="fr-FR" dirty="0"/>
              <a:t> </a:t>
            </a:r>
            <a:r>
              <a:rPr lang="fr-FR" dirty="0" err="1"/>
              <a:t>status</a:t>
            </a:r>
            <a:endParaRPr lang="fr-FR" dirty="0"/>
          </a:p>
          <a:p>
            <a:r>
              <a:rPr lang="fr-FR" dirty="0"/>
              <a:t>End of the </a:t>
            </a:r>
            <a:r>
              <a:rPr lang="fr-FR" dirty="0" err="1"/>
              <a:t>lab</a:t>
            </a:r>
            <a:endParaRPr lang="fr-FR" dirty="0"/>
          </a:p>
        </p:txBody>
      </p:sp>
    </p:spTree>
    <p:extLst>
      <p:ext uri="{BB962C8B-B14F-4D97-AF65-F5344CB8AC3E}">
        <p14:creationId xmlns:p14="http://schemas.microsoft.com/office/powerpoint/2010/main" val="33303232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21</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8442451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p:txBody>
          <a:bodyPr>
            <a:normAutofit/>
          </a:bodyPr>
          <a:lstStyle/>
          <a:p>
            <a:r>
              <a:rPr lang="fr-FR" dirty="0" err="1"/>
              <a:t>Dogtag</a:t>
            </a:r>
            <a:r>
              <a:rPr lang="fr-FR" dirty="0"/>
              <a:t> PKI </a:t>
            </a:r>
            <a:r>
              <a:rPr lang="fr-FR" dirty="0" err="1"/>
              <a:t>is</a:t>
            </a:r>
            <a:r>
              <a:rPr lang="fr-FR" dirty="0"/>
              <a:t> </a:t>
            </a:r>
            <a:r>
              <a:rPr lang="fr-FR" dirty="0" err="1"/>
              <a:t>much</a:t>
            </a:r>
            <a:r>
              <a:rPr lang="fr-FR" dirty="0"/>
              <a:t> </a:t>
            </a:r>
            <a:r>
              <a:rPr lang="fr-FR" dirty="0" err="1"/>
              <a:t>simpler</a:t>
            </a:r>
            <a:r>
              <a:rPr lang="fr-FR" dirty="0"/>
              <a:t> to set up, and </a:t>
            </a:r>
            <a:r>
              <a:rPr lang="fr-FR" dirty="0" err="1"/>
              <a:t>it</a:t>
            </a:r>
            <a:r>
              <a:rPr lang="fr-FR" dirty="0"/>
              <a:t> has a </a:t>
            </a:r>
            <a:r>
              <a:rPr lang="fr-FR" dirty="0" err="1"/>
              <a:t>nice</a:t>
            </a:r>
            <a:r>
              <a:rPr lang="fr-FR" dirty="0"/>
              <a:t> web interface </a:t>
            </a:r>
            <a:r>
              <a:rPr lang="fr-FR" dirty="0" err="1"/>
              <a:t>that</a:t>
            </a:r>
            <a:r>
              <a:rPr lang="fr-FR" dirty="0"/>
              <a:t> </a:t>
            </a:r>
            <a:r>
              <a:rPr lang="fr-FR" dirty="0" err="1"/>
              <a:t>OpenSSL</a:t>
            </a:r>
            <a:r>
              <a:rPr lang="fr-FR" dirty="0"/>
              <a:t> </a:t>
            </a:r>
            <a:r>
              <a:rPr lang="fr-FR" dirty="0" err="1"/>
              <a:t>doesn’t</a:t>
            </a:r>
            <a:r>
              <a:rPr lang="fr-FR" dirty="0"/>
              <a:t> have. </a:t>
            </a:r>
            <a:r>
              <a:rPr lang="fr-FR" dirty="0" err="1"/>
              <a:t>It’s</a:t>
            </a:r>
            <a:r>
              <a:rPr lang="fr-FR" dirty="0"/>
              <a:t> </a:t>
            </a:r>
            <a:r>
              <a:rPr lang="fr-FR" dirty="0" err="1"/>
              <a:t>available</a:t>
            </a:r>
            <a:r>
              <a:rPr lang="fr-FR" dirty="0"/>
              <a:t> in the normal repositories of Debian/Ubuntu and RHEL/</a:t>
            </a:r>
            <a:r>
              <a:rPr lang="fr-FR" dirty="0" err="1"/>
              <a:t>AlmaLinux</a:t>
            </a:r>
            <a:r>
              <a:rPr lang="fr-FR" dirty="0"/>
              <a:t>, but </a:t>
            </a:r>
            <a:r>
              <a:rPr lang="fr-FR" dirty="0" err="1"/>
              <a:t>under</a:t>
            </a:r>
            <a:r>
              <a:rPr lang="fr-FR" dirty="0"/>
              <a:t> </a:t>
            </a:r>
            <a:r>
              <a:rPr lang="fr-FR" dirty="0" err="1"/>
              <a:t>different</a:t>
            </a:r>
            <a:r>
              <a:rPr lang="fr-FR" dirty="0"/>
              <a:t> package </a:t>
            </a:r>
            <a:r>
              <a:rPr lang="fr-FR" dirty="0" err="1"/>
              <a:t>names</a:t>
            </a:r>
            <a:r>
              <a:rPr lang="fr-FR" dirty="0"/>
              <a:t>. </a:t>
            </a:r>
          </a:p>
          <a:p>
            <a:r>
              <a:rPr lang="fr-FR" dirty="0"/>
              <a:t>In the Debian/Ubuntu repositories, the package </a:t>
            </a:r>
            <a:r>
              <a:rPr lang="fr-FR" dirty="0" err="1"/>
              <a:t>name</a:t>
            </a:r>
            <a:r>
              <a:rPr lang="fr-FR" dirty="0"/>
              <a:t> </a:t>
            </a:r>
            <a:r>
              <a:rPr lang="fr-FR" dirty="0" err="1"/>
              <a:t>is</a:t>
            </a:r>
            <a:r>
              <a:rPr lang="fr-FR" dirty="0"/>
              <a:t> </a:t>
            </a:r>
            <a:r>
              <a:rPr lang="fr-FR" b="1" dirty="0" err="1"/>
              <a:t>dogtag-pki</a:t>
            </a:r>
            <a:r>
              <a:rPr lang="fr-FR" dirty="0"/>
              <a:t>. In the RHEL/ </a:t>
            </a:r>
            <a:r>
              <a:rPr lang="fr-FR" dirty="0" err="1"/>
              <a:t>AlmaLinux</a:t>
            </a:r>
            <a:r>
              <a:rPr lang="fr-FR" dirty="0"/>
              <a:t> repositories, the </a:t>
            </a:r>
            <a:r>
              <a:rPr lang="fr-FR" dirty="0" err="1"/>
              <a:t>name</a:t>
            </a:r>
            <a:r>
              <a:rPr lang="fr-FR" dirty="0"/>
              <a:t> </a:t>
            </a:r>
            <a:r>
              <a:rPr lang="fr-FR" dirty="0" err="1"/>
              <a:t>is</a:t>
            </a:r>
            <a:r>
              <a:rPr lang="fr-FR" dirty="0"/>
              <a:t> </a:t>
            </a:r>
            <a:r>
              <a:rPr lang="fr-FR" dirty="0" err="1"/>
              <a:t>pki</a:t>
            </a:r>
            <a:r>
              <a:rPr lang="fr-FR" dirty="0"/>
              <a:t>-ca. </a:t>
            </a:r>
          </a:p>
          <a:p>
            <a:pPr lvl="1"/>
            <a:r>
              <a:rPr lang="en-US" dirty="0"/>
              <a:t>Before we install the </a:t>
            </a:r>
            <a:r>
              <a:rPr lang="en-US" dirty="0" err="1"/>
              <a:t>Dogtag</a:t>
            </a:r>
            <a:r>
              <a:rPr lang="en-US" dirty="0"/>
              <a:t> packages, we need to do a couple of simple chores:</a:t>
            </a:r>
          </a:p>
          <a:p>
            <a:pPr lvl="2"/>
            <a:r>
              <a:rPr lang="en-US" dirty="0"/>
              <a:t>Set a Fully Qualified Domain Name (FQDN) on the server.</a:t>
            </a:r>
          </a:p>
          <a:p>
            <a:pPr lvl="2"/>
            <a:r>
              <a:rPr lang="en-US" dirty="0"/>
              <a:t>Either create a record in a local DNS server for the </a:t>
            </a:r>
            <a:r>
              <a:rPr lang="en-US" dirty="0" err="1"/>
              <a:t>Dogtag</a:t>
            </a:r>
            <a:r>
              <a:rPr lang="en-US" dirty="0"/>
              <a:t> server, or create an entry for it in its own /</a:t>
            </a:r>
            <a:r>
              <a:rPr lang="en-US" dirty="0" err="1"/>
              <a:t>etc</a:t>
            </a:r>
            <a:r>
              <a:rPr lang="en-US" dirty="0"/>
              <a:t>/hosts file.</a:t>
            </a:r>
            <a:endParaRPr lang="fr-FR" dirty="0"/>
          </a:p>
        </p:txBody>
      </p:sp>
    </p:spTree>
    <p:extLst>
      <p:ext uri="{BB962C8B-B14F-4D97-AF65-F5344CB8AC3E}">
        <p14:creationId xmlns:p14="http://schemas.microsoft.com/office/powerpoint/2010/main" val="4450827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p:txBody>
          <a:bodyPr>
            <a:normAutofit/>
          </a:bodyPr>
          <a:lstStyle/>
          <a:p>
            <a:r>
              <a:rPr lang="en-US" dirty="0"/>
              <a:t>You can do this lab on either your </a:t>
            </a:r>
            <a:r>
              <a:rPr lang="en-US" dirty="0" err="1"/>
              <a:t>AlmaLinux</a:t>
            </a:r>
            <a:r>
              <a:rPr lang="en-US" dirty="0"/>
              <a:t> 9 or your Ubuntu 22.04 VM.</a:t>
            </a:r>
          </a:p>
          <a:p>
            <a:r>
              <a:rPr lang="en-US" dirty="0"/>
              <a:t>To access the </a:t>
            </a:r>
            <a:r>
              <a:rPr lang="en-US" dirty="0" err="1"/>
              <a:t>Dogtag</a:t>
            </a:r>
            <a:r>
              <a:rPr lang="en-US" dirty="0"/>
              <a:t> dashboard, you’ll use a second Linux VM with a desktop environment installed.</a:t>
            </a:r>
          </a:p>
          <a:p>
            <a:pPr lvl="1"/>
            <a:r>
              <a:rPr lang="en-US" dirty="0"/>
              <a:t>1. On your server virtual machine, set an FQDN, substituting your own for the one that I’m using:	</a:t>
            </a:r>
          </a:p>
          <a:p>
            <a:pPr marL="457200" lvl="1" indent="0">
              <a:buNone/>
            </a:pPr>
            <a:r>
              <a:rPr lang="en-US" dirty="0"/>
              <a:t>              </a:t>
            </a:r>
            <a:r>
              <a:rPr lang="fr-FR" dirty="0" err="1"/>
              <a:t>sudo</a:t>
            </a:r>
            <a:r>
              <a:rPr lang="fr-FR" dirty="0"/>
              <a:t> </a:t>
            </a:r>
            <a:r>
              <a:rPr lang="fr-FR" dirty="0" err="1"/>
              <a:t>hostnamectl</a:t>
            </a:r>
            <a:r>
              <a:rPr lang="fr-FR" dirty="0"/>
              <a:t> set-</a:t>
            </a:r>
            <a:r>
              <a:rPr lang="fr-FR" dirty="0" err="1"/>
              <a:t>hostname</a:t>
            </a:r>
            <a:r>
              <a:rPr lang="fr-FR" dirty="0"/>
              <a:t> </a:t>
            </a:r>
            <a:r>
              <a:rPr lang="fr-FR" dirty="0" err="1"/>
              <a:t>donnie-ca.local</a:t>
            </a:r>
            <a:endParaRPr lang="fr-FR" dirty="0"/>
          </a:p>
          <a:p>
            <a:pPr lvl="1"/>
            <a:r>
              <a:rPr lang="en-US" dirty="0"/>
              <a:t>2. Edit the /</a:t>
            </a:r>
            <a:r>
              <a:rPr lang="en-US" dirty="0" err="1"/>
              <a:t>etc</a:t>
            </a:r>
            <a:r>
              <a:rPr lang="en-US" dirty="0"/>
              <a:t>/hosts file to add a line like the following:</a:t>
            </a:r>
          </a:p>
          <a:p>
            <a:pPr marL="914400" lvl="2" indent="0">
              <a:buNone/>
            </a:pPr>
            <a:r>
              <a:rPr lang="fr-FR" dirty="0"/>
              <a:t>       192.168.0.53 </a:t>
            </a:r>
            <a:r>
              <a:rPr lang="fr-FR" dirty="0" err="1"/>
              <a:t>donnie-ca.local</a:t>
            </a:r>
            <a:endParaRPr lang="fr-FR" dirty="0"/>
          </a:p>
          <a:p>
            <a:pPr marL="914400" lvl="2" indent="0">
              <a:buNone/>
            </a:pPr>
            <a:endParaRPr lang="fr-FR" dirty="0"/>
          </a:p>
        </p:txBody>
      </p:sp>
    </p:spTree>
    <p:extLst>
      <p:ext uri="{BB962C8B-B14F-4D97-AF65-F5344CB8AC3E}">
        <p14:creationId xmlns:p14="http://schemas.microsoft.com/office/powerpoint/2010/main" val="16523688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p:txBody>
          <a:bodyPr>
            <a:normAutofit/>
          </a:bodyPr>
          <a:lstStyle/>
          <a:p>
            <a:r>
              <a:rPr lang="en-US" dirty="0"/>
              <a:t>3. Use your virtual machine’s own IP address and FQDN.</a:t>
            </a:r>
          </a:p>
          <a:p>
            <a:r>
              <a:rPr lang="en-US" dirty="0"/>
              <a:t>4. Next, increase the number of file descriptors that your system can have open at one time. (Otherwise, you’ll get a warning message when you run the Directory Server installer.) </a:t>
            </a:r>
          </a:p>
          <a:p>
            <a:r>
              <a:rPr lang="en-US" dirty="0"/>
              <a:t>Do that by editing the /</a:t>
            </a:r>
            <a:r>
              <a:rPr lang="en-US" dirty="0" err="1"/>
              <a:t>etc</a:t>
            </a:r>
            <a:r>
              <a:rPr lang="en-US" dirty="0"/>
              <a:t>/security/</a:t>
            </a:r>
            <a:r>
              <a:rPr lang="en-US" dirty="0" err="1"/>
              <a:t>limits.conf</a:t>
            </a:r>
            <a:r>
              <a:rPr lang="en-US" dirty="0"/>
              <a:t> file. At the end of the file, add these two lines:</a:t>
            </a:r>
          </a:p>
          <a:p>
            <a:pPr marL="0" indent="0">
              <a:buNone/>
            </a:pPr>
            <a:r>
              <a:rPr lang="fr-FR" dirty="0"/>
              <a:t>			root hard </a:t>
            </a:r>
            <a:r>
              <a:rPr lang="fr-FR" dirty="0" err="1"/>
              <a:t>nofile</a:t>
            </a:r>
            <a:r>
              <a:rPr lang="fr-FR" dirty="0"/>
              <a:t> 4096</a:t>
            </a:r>
          </a:p>
          <a:p>
            <a:pPr marL="0" indent="0">
              <a:buNone/>
            </a:pPr>
            <a:r>
              <a:rPr lang="fr-FR" dirty="0"/>
              <a:t>			root soft </a:t>
            </a:r>
            <a:r>
              <a:rPr lang="fr-FR" dirty="0" err="1"/>
              <a:t>nofile</a:t>
            </a:r>
            <a:r>
              <a:rPr lang="fr-FR" dirty="0"/>
              <a:t> 4096</a:t>
            </a:r>
          </a:p>
        </p:txBody>
      </p:sp>
    </p:spTree>
    <p:extLst>
      <p:ext uri="{BB962C8B-B14F-4D97-AF65-F5344CB8AC3E}">
        <p14:creationId xmlns:p14="http://schemas.microsoft.com/office/powerpoint/2010/main" val="22148649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p:txBody>
          <a:bodyPr>
            <a:normAutofit fontScale="92500" lnSpcReduction="10000"/>
          </a:bodyPr>
          <a:lstStyle/>
          <a:p>
            <a:r>
              <a:rPr lang="en-US" dirty="0"/>
              <a:t>5. Reboot the machine so that the new hostname and file descriptor limits can take effect.</a:t>
            </a:r>
          </a:p>
          <a:p>
            <a:r>
              <a:rPr lang="en-US" dirty="0"/>
              <a:t>6. </a:t>
            </a:r>
            <a:r>
              <a:rPr lang="en-US" dirty="0" err="1"/>
              <a:t>Dogtag</a:t>
            </a:r>
            <a:r>
              <a:rPr lang="en-US" dirty="0"/>
              <a:t> stores its certificate and user information in an LDAP database. In this step, you’ll install the LDAP server package, along with the </a:t>
            </a:r>
            <a:r>
              <a:rPr lang="en-US" dirty="0" err="1"/>
              <a:t>Dogtag</a:t>
            </a:r>
            <a:r>
              <a:rPr lang="en-US" dirty="0"/>
              <a:t> package. For </a:t>
            </a:r>
            <a:r>
              <a:rPr lang="en-US" dirty="0" err="1"/>
              <a:t>AlmaLinux</a:t>
            </a:r>
            <a:r>
              <a:rPr lang="en-US" dirty="0"/>
              <a:t> 9, do this:</a:t>
            </a:r>
          </a:p>
          <a:p>
            <a:pPr marL="0" indent="0">
              <a:buNone/>
            </a:pPr>
            <a:r>
              <a:rPr lang="fr-FR" dirty="0"/>
              <a:t>		</a:t>
            </a:r>
            <a:r>
              <a:rPr lang="fr-FR" dirty="0" err="1"/>
              <a:t>sudo</a:t>
            </a:r>
            <a:r>
              <a:rPr lang="fr-FR" dirty="0"/>
              <a:t> </a:t>
            </a:r>
            <a:r>
              <a:rPr lang="fr-FR" dirty="0" err="1"/>
              <a:t>dnf</a:t>
            </a:r>
            <a:r>
              <a:rPr lang="fr-FR" dirty="0"/>
              <a:t> </a:t>
            </a:r>
            <a:r>
              <a:rPr lang="fr-FR" dirty="0" err="1"/>
              <a:t>install</a:t>
            </a:r>
            <a:r>
              <a:rPr lang="fr-FR" dirty="0"/>
              <a:t> 389-ds-base </a:t>
            </a:r>
            <a:r>
              <a:rPr lang="fr-FR" dirty="0" err="1"/>
              <a:t>pki</a:t>
            </a:r>
            <a:r>
              <a:rPr lang="fr-FR" dirty="0"/>
              <a:t>-ca</a:t>
            </a:r>
          </a:p>
          <a:p>
            <a:r>
              <a:rPr lang="en-US" dirty="0"/>
              <a:t>7. For Ubuntu 22.04, do this:</a:t>
            </a:r>
          </a:p>
          <a:p>
            <a:pPr marL="0" indent="0">
              <a:buNone/>
            </a:pPr>
            <a:r>
              <a:rPr lang="fr-FR" dirty="0"/>
              <a:t>		</a:t>
            </a:r>
            <a:r>
              <a:rPr lang="fr-FR" dirty="0" err="1"/>
              <a:t>sudo</a:t>
            </a:r>
            <a:r>
              <a:rPr lang="fr-FR" dirty="0"/>
              <a:t> </a:t>
            </a:r>
            <a:r>
              <a:rPr lang="fr-FR" dirty="0" err="1"/>
              <a:t>apt</a:t>
            </a:r>
            <a:r>
              <a:rPr lang="fr-FR" dirty="0"/>
              <a:t> </a:t>
            </a:r>
            <a:r>
              <a:rPr lang="fr-FR" dirty="0" err="1"/>
              <a:t>install</a:t>
            </a:r>
            <a:r>
              <a:rPr lang="fr-FR" dirty="0"/>
              <a:t> 389-ds-base </a:t>
            </a:r>
            <a:r>
              <a:rPr lang="fr-FR" dirty="0" err="1"/>
              <a:t>dogtag-pki</a:t>
            </a:r>
            <a:endParaRPr lang="fr-FR" dirty="0"/>
          </a:p>
          <a:p>
            <a:r>
              <a:rPr lang="en-US" dirty="0"/>
              <a:t>8. Next, create an LDAP Directory Server (DS) instance by first creating an instance.inf file in the root user’s home directory:</a:t>
            </a:r>
          </a:p>
          <a:p>
            <a:pPr marL="0" indent="0">
              <a:buNone/>
            </a:pPr>
            <a:r>
              <a:rPr lang="en-US" dirty="0"/>
              <a:t>		</a:t>
            </a:r>
            <a:r>
              <a:rPr lang="en-US" dirty="0" err="1"/>
              <a:t>sudo</a:t>
            </a:r>
            <a:r>
              <a:rPr lang="en-US" dirty="0"/>
              <a:t> vim /root/instance.inf</a:t>
            </a:r>
            <a:endParaRPr lang="fr-FR" dirty="0"/>
          </a:p>
        </p:txBody>
      </p:sp>
    </p:spTree>
    <p:extLst>
      <p:ext uri="{BB962C8B-B14F-4D97-AF65-F5344CB8AC3E}">
        <p14:creationId xmlns:p14="http://schemas.microsoft.com/office/powerpoint/2010/main" val="34507720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a:xfrm>
            <a:off x="838200" y="1825624"/>
            <a:ext cx="10515600" cy="4810125"/>
          </a:xfrm>
        </p:spPr>
        <p:txBody>
          <a:bodyPr>
            <a:normAutofit fontScale="92500" lnSpcReduction="20000"/>
          </a:bodyPr>
          <a:lstStyle/>
          <a:p>
            <a:r>
              <a:rPr lang="en-US" dirty="0"/>
              <a:t>9. Make its contents look something like this, using your own suffix and </a:t>
            </a:r>
            <a:r>
              <a:rPr lang="en-US" dirty="0" err="1"/>
              <a:t>root_password</a:t>
            </a:r>
            <a:r>
              <a:rPr lang="en-US" dirty="0"/>
              <a:t>:</a:t>
            </a:r>
          </a:p>
          <a:p>
            <a:endParaRPr lang="en-US" dirty="0"/>
          </a:p>
          <a:p>
            <a:endParaRPr lang="en-US" dirty="0"/>
          </a:p>
          <a:p>
            <a:endParaRPr lang="en-US" dirty="0"/>
          </a:p>
          <a:p>
            <a:endParaRPr lang="en-US" dirty="0"/>
          </a:p>
          <a:p>
            <a:endParaRPr lang="en-US" dirty="0"/>
          </a:p>
          <a:p>
            <a:endParaRPr lang="en-US" dirty="0"/>
          </a:p>
          <a:p>
            <a:r>
              <a:rPr lang="en-US" dirty="0"/>
              <a:t>10. passwords into plain-text: bad practice</a:t>
            </a:r>
          </a:p>
          <a:p>
            <a:r>
              <a:rPr lang="en-US" dirty="0"/>
              <a:t>11. We can now use this instance.inf file, along with the </a:t>
            </a:r>
            <a:r>
              <a:rPr lang="en-US" dirty="0" err="1"/>
              <a:t>dscreate</a:t>
            </a:r>
            <a:r>
              <a:rPr lang="en-US" dirty="0"/>
              <a:t> utility, to create the Directory Server instance:</a:t>
            </a:r>
          </a:p>
          <a:p>
            <a:pPr marL="0" indent="0">
              <a:buNone/>
            </a:pPr>
            <a:r>
              <a:rPr lang="en-US" dirty="0"/>
              <a:t>		</a:t>
            </a:r>
            <a:r>
              <a:rPr lang="en-US" dirty="0" err="1"/>
              <a:t>sudo</a:t>
            </a:r>
            <a:r>
              <a:rPr lang="en-US" dirty="0"/>
              <a:t> </a:t>
            </a:r>
            <a:r>
              <a:rPr lang="en-US" dirty="0" err="1"/>
              <a:t>dscreate</a:t>
            </a:r>
            <a:r>
              <a:rPr lang="en-US" dirty="0"/>
              <a:t> from-file /root/instance.inf</a:t>
            </a:r>
            <a:endParaRPr lang="fr-FR" dirty="0"/>
          </a:p>
        </p:txBody>
      </p:sp>
      <p:pic>
        <p:nvPicPr>
          <p:cNvPr id="3" name="Picture 2">
            <a:extLst>
              <a:ext uri="{FF2B5EF4-FFF2-40B4-BE49-F238E27FC236}">
                <a16:creationId xmlns:a16="http://schemas.microsoft.com/office/drawing/2014/main" id="{DA2053E7-6F52-E589-BFDB-8D724B18BBC9}"/>
              </a:ext>
            </a:extLst>
          </p:cNvPr>
          <p:cNvPicPr>
            <a:picLocks noChangeAspect="1"/>
          </p:cNvPicPr>
          <p:nvPr/>
        </p:nvPicPr>
        <p:blipFill>
          <a:blip r:embed="rId2"/>
          <a:stretch>
            <a:fillRect/>
          </a:stretch>
        </p:blipFill>
        <p:spPr>
          <a:xfrm>
            <a:off x="3206611" y="2508196"/>
            <a:ext cx="5410478" cy="2095608"/>
          </a:xfrm>
          <a:prstGeom prst="rect">
            <a:avLst/>
          </a:prstGeom>
        </p:spPr>
      </p:pic>
    </p:spTree>
    <p:extLst>
      <p:ext uri="{BB962C8B-B14F-4D97-AF65-F5344CB8AC3E}">
        <p14:creationId xmlns:p14="http://schemas.microsoft.com/office/powerpoint/2010/main" val="33473031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a:xfrm>
            <a:off x="838200" y="1825624"/>
            <a:ext cx="10515600" cy="4810125"/>
          </a:xfrm>
        </p:spPr>
        <p:txBody>
          <a:bodyPr>
            <a:normAutofit fontScale="92500" lnSpcReduction="20000"/>
          </a:bodyPr>
          <a:lstStyle/>
          <a:p>
            <a:r>
              <a:rPr lang="en-US" dirty="0"/>
              <a:t>12. Finally, it’s time to create the CA:</a:t>
            </a:r>
          </a:p>
          <a:p>
            <a:pPr marL="0" indent="0">
              <a:buNone/>
            </a:pPr>
            <a:r>
              <a:rPr lang="en-US" dirty="0"/>
              <a:t>			</a:t>
            </a:r>
            <a:r>
              <a:rPr lang="en-US" dirty="0" err="1"/>
              <a:t>sudo</a:t>
            </a:r>
            <a:r>
              <a:rPr lang="en-US" dirty="0"/>
              <a:t> </a:t>
            </a:r>
            <a:r>
              <a:rPr lang="en-US" dirty="0" err="1"/>
              <a:t>pkispawn</a:t>
            </a:r>
            <a:endParaRPr lang="en-US" dirty="0"/>
          </a:p>
          <a:p>
            <a:pPr algn="just"/>
            <a:r>
              <a:rPr lang="en-US" dirty="0"/>
              <a:t>Accept all the defaults until you get to the very end. When it asks Begin Installation?, type Yes. When you get to the Directory Server part, enter the password that you used to create the DS instance in the previous step. Note that you’ll be offered the choice to access the LDAP DS instance via a secure port. But since we’re setting up LDAP and </a:t>
            </a:r>
            <a:r>
              <a:rPr lang="en-US" dirty="0" err="1"/>
              <a:t>Dogtag</a:t>
            </a:r>
            <a:r>
              <a:rPr lang="en-US" dirty="0"/>
              <a:t> on the same machine, this isn’t necessary.</a:t>
            </a:r>
          </a:p>
          <a:p>
            <a:pPr algn="just"/>
            <a:r>
              <a:rPr lang="en-US" dirty="0"/>
              <a:t>13. Ensure that the </a:t>
            </a:r>
            <a:r>
              <a:rPr lang="en-US" dirty="0" err="1"/>
              <a:t>Dogtag</a:t>
            </a:r>
            <a:r>
              <a:rPr lang="en-US" dirty="0"/>
              <a:t> service will automatically start by enabling the </a:t>
            </a:r>
            <a:r>
              <a:rPr lang="en-US" dirty="0" err="1"/>
              <a:t>pki-tomcatd.target</a:t>
            </a:r>
            <a:r>
              <a:rPr lang="en-US" dirty="0"/>
              <a:t>.</a:t>
            </a:r>
          </a:p>
          <a:p>
            <a:pPr algn="just"/>
            <a:r>
              <a:rPr lang="en-US" dirty="0"/>
              <a:t>Do that with:</a:t>
            </a:r>
          </a:p>
          <a:p>
            <a:pPr marL="0" indent="0" algn="just">
              <a:buNone/>
            </a:pPr>
            <a:r>
              <a:rPr lang="en-US" dirty="0"/>
              <a:t>                              </a:t>
            </a:r>
            <a:r>
              <a:rPr lang="en-US" dirty="0" err="1"/>
              <a:t>sudo</a:t>
            </a:r>
            <a:r>
              <a:rPr lang="en-US" dirty="0"/>
              <a:t> </a:t>
            </a:r>
            <a:r>
              <a:rPr lang="en-US" dirty="0" err="1"/>
              <a:t>systemctl</a:t>
            </a:r>
            <a:r>
              <a:rPr lang="en-US" dirty="0"/>
              <a:t> enable </a:t>
            </a:r>
            <a:r>
              <a:rPr lang="en-US" dirty="0" err="1"/>
              <a:t>pki-tomcatd.target</a:t>
            </a:r>
            <a:endParaRPr lang="en-US" dirty="0"/>
          </a:p>
          <a:p>
            <a:pPr marL="0" indent="0" algn="just">
              <a:buNone/>
            </a:pPr>
            <a:r>
              <a:rPr lang="en-US" dirty="0"/>
              <a:t>		     </a:t>
            </a:r>
            <a:r>
              <a:rPr lang="en-US" dirty="0" err="1"/>
              <a:t>sudo</a:t>
            </a:r>
            <a:r>
              <a:rPr lang="en-US" dirty="0"/>
              <a:t> shutdown -r now</a:t>
            </a:r>
            <a:endParaRPr lang="fr-FR" dirty="0"/>
          </a:p>
        </p:txBody>
      </p:sp>
    </p:spTree>
    <p:extLst>
      <p:ext uri="{BB962C8B-B14F-4D97-AF65-F5344CB8AC3E}">
        <p14:creationId xmlns:p14="http://schemas.microsoft.com/office/powerpoint/2010/main" val="1877612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a:xfrm>
            <a:off x="838200" y="1825624"/>
            <a:ext cx="10515600" cy="4810125"/>
          </a:xfrm>
        </p:spPr>
        <p:txBody>
          <a:bodyPr>
            <a:normAutofit fontScale="92500" lnSpcReduction="20000"/>
          </a:bodyPr>
          <a:lstStyle/>
          <a:p>
            <a:r>
              <a:rPr lang="en-US" dirty="0"/>
              <a:t>14. After everything is set up, you will no longer need the instance.inf file that holds your password in plain-text. Get rid of it by doing:</a:t>
            </a:r>
          </a:p>
          <a:p>
            <a:pPr marL="0" indent="0">
              <a:buNone/>
            </a:pPr>
            <a:r>
              <a:rPr lang="en-US" dirty="0"/>
              <a:t>		</a:t>
            </a:r>
            <a:r>
              <a:rPr lang="en-US" dirty="0" err="1"/>
              <a:t>sudo</a:t>
            </a:r>
            <a:r>
              <a:rPr lang="en-US" dirty="0"/>
              <a:t> shred -u -z /root/instance.inf</a:t>
            </a:r>
          </a:p>
          <a:p>
            <a:pPr marL="0" indent="0">
              <a:buNone/>
            </a:pPr>
            <a:endParaRPr lang="en-US" dirty="0"/>
          </a:p>
          <a:p>
            <a:pPr marL="0" indent="0">
              <a:buNone/>
            </a:pPr>
            <a:r>
              <a:rPr lang="fr-FR" dirty="0"/>
              <a:t>15. </a:t>
            </a:r>
            <a:r>
              <a:rPr lang="fr-FR" dirty="0" err="1"/>
              <a:t>You’ll</a:t>
            </a:r>
            <a:r>
              <a:rPr lang="fr-FR" dirty="0"/>
              <a:t> </a:t>
            </a:r>
            <a:r>
              <a:rPr lang="fr-FR" dirty="0" err="1"/>
              <a:t>access</a:t>
            </a:r>
            <a:r>
              <a:rPr lang="fr-FR" dirty="0"/>
              <a:t> the </a:t>
            </a:r>
            <a:r>
              <a:rPr lang="fr-FR" dirty="0" err="1"/>
              <a:t>Dogtag</a:t>
            </a:r>
            <a:r>
              <a:rPr lang="fr-FR" dirty="0"/>
              <a:t> web interface via port 8443/</a:t>
            </a:r>
            <a:r>
              <a:rPr lang="fr-FR" dirty="0" err="1"/>
              <a:t>tcp</a:t>
            </a:r>
            <a:r>
              <a:rPr lang="fr-FR" dirty="0"/>
              <a:t>. On the </a:t>
            </a:r>
            <a:r>
              <a:rPr lang="fr-FR" dirty="0" err="1"/>
              <a:t>AlmaLinux</a:t>
            </a:r>
            <a:r>
              <a:rPr lang="fr-FR" dirty="0"/>
              <a:t> machine, open </a:t>
            </a:r>
            <a:r>
              <a:rPr lang="fr-FR" dirty="0" err="1"/>
              <a:t>that</a:t>
            </a:r>
            <a:r>
              <a:rPr lang="fr-FR" dirty="0"/>
              <a:t> port like </a:t>
            </a:r>
            <a:r>
              <a:rPr lang="fr-FR" dirty="0" err="1"/>
              <a:t>this</a:t>
            </a:r>
            <a:r>
              <a:rPr lang="fr-FR" dirty="0"/>
              <a:t>:</a:t>
            </a:r>
          </a:p>
          <a:p>
            <a:pPr marL="0" indent="0">
              <a:buNone/>
            </a:pPr>
            <a:r>
              <a:rPr lang="fr-FR" dirty="0"/>
              <a:t>	</a:t>
            </a:r>
            <a:r>
              <a:rPr lang="fr-FR" dirty="0" err="1"/>
              <a:t>sudo</a:t>
            </a:r>
            <a:r>
              <a:rPr lang="fr-FR" dirty="0"/>
              <a:t> firewall-cmd --permanent --</a:t>
            </a:r>
            <a:r>
              <a:rPr lang="fr-FR" dirty="0" err="1"/>
              <a:t>add</a:t>
            </a:r>
            <a:r>
              <a:rPr lang="fr-FR" dirty="0"/>
              <a:t>-port=8443/</a:t>
            </a:r>
            <a:r>
              <a:rPr lang="fr-FR" dirty="0" err="1"/>
              <a:t>tcp</a:t>
            </a:r>
            <a:endParaRPr lang="fr-FR" dirty="0"/>
          </a:p>
          <a:p>
            <a:pPr marL="0" indent="0">
              <a:buNone/>
            </a:pPr>
            <a:r>
              <a:rPr lang="fr-FR" dirty="0"/>
              <a:t>	</a:t>
            </a:r>
            <a:r>
              <a:rPr lang="fr-FR" dirty="0" err="1"/>
              <a:t>sudo</a:t>
            </a:r>
            <a:r>
              <a:rPr lang="fr-FR" dirty="0"/>
              <a:t> firewall-cmd –</a:t>
            </a:r>
            <a:r>
              <a:rPr lang="fr-FR" dirty="0" err="1"/>
              <a:t>reload</a:t>
            </a:r>
            <a:endParaRPr lang="fr-FR" dirty="0"/>
          </a:p>
          <a:p>
            <a:pPr marL="0" indent="0">
              <a:buNone/>
            </a:pPr>
            <a:endParaRPr lang="fr-FR" dirty="0"/>
          </a:p>
          <a:p>
            <a:pPr marL="0" indent="0">
              <a:buNone/>
            </a:pPr>
            <a:r>
              <a:rPr lang="en-US" dirty="0"/>
              <a:t>16. On the Ubuntu machine, assuming that you’re using the Uncomplicated Firewall, open the port like this:</a:t>
            </a:r>
          </a:p>
          <a:p>
            <a:pPr marL="0" indent="0">
              <a:buNone/>
            </a:pPr>
            <a:r>
              <a:rPr lang="en-US" dirty="0"/>
              <a:t>	</a:t>
            </a:r>
            <a:r>
              <a:rPr lang="en-US" dirty="0" err="1"/>
              <a:t>sudo</a:t>
            </a:r>
            <a:r>
              <a:rPr lang="en-US" dirty="0"/>
              <a:t> </a:t>
            </a:r>
            <a:r>
              <a:rPr lang="en-US" dirty="0" err="1"/>
              <a:t>ufw</a:t>
            </a:r>
            <a:r>
              <a:rPr lang="en-US" dirty="0"/>
              <a:t> allow 8443/</a:t>
            </a:r>
            <a:r>
              <a:rPr lang="en-US" dirty="0" err="1"/>
              <a:t>tcp</a:t>
            </a:r>
            <a:endParaRPr lang="fr-FR" dirty="0"/>
          </a:p>
        </p:txBody>
      </p:sp>
    </p:spTree>
    <p:extLst>
      <p:ext uri="{BB962C8B-B14F-4D97-AF65-F5344CB8AC3E}">
        <p14:creationId xmlns:p14="http://schemas.microsoft.com/office/powerpoint/2010/main" val="20842429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a:xfrm>
            <a:off x="838200" y="1825624"/>
            <a:ext cx="10515600" cy="4810125"/>
          </a:xfrm>
        </p:spPr>
        <p:txBody>
          <a:bodyPr>
            <a:normAutofit/>
          </a:bodyPr>
          <a:lstStyle/>
          <a:p>
            <a:r>
              <a:rPr lang="en-US" dirty="0"/>
              <a:t>17. On another Linux virtual machine that has a desktop interface, edit the /</a:t>
            </a:r>
            <a:r>
              <a:rPr lang="en-US" dirty="0" err="1"/>
              <a:t>etc</a:t>
            </a:r>
            <a:r>
              <a:rPr lang="en-US" dirty="0"/>
              <a:t>/hosts file to add the same line that you added to the server hosts file in step 2. Then, open the Firefox web browser on that machine and navigate to the </a:t>
            </a:r>
            <a:r>
              <a:rPr lang="en-US" dirty="0" err="1"/>
              <a:t>Dogtag</a:t>
            </a:r>
            <a:r>
              <a:rPr lang="en-US" dirty="0"/>
              <a:t> dashboard. In keeping with the example in this scenario, the URL would look like this:</a:t>
            </a:r>
          </a:p>
          <a:p>
            <a:pPr marL="0" indent="0">
              <a:buNone/>
            </a:pPr>
            <a:r>
              <a:rPr lang="en-US" dirty="0"/>
              <a:t>		https://donnie-ca.local:8443</a:t>
            </a:r>
            <a:endParaRPr lang="fr-FR" dirty="0"/>
          </a:p>
        </p:txBody>
      </p:sp>
    </p:spTree>
    <p:extLst>
      <p:ext uri="{BB962C8B-B14F-4D97-AF65-F5344CB8AC3E}">
        <p14:creationId xmlns:p14="http://schemas.microsoft.com/office/powerpoint/2010/main" val="28255285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646739-87D1-0B14-5CB4-F275407369F6}"/>
              </a:ext>
            </a:extLst>
          </p:cNvPr>
          <p:cNvSpPr>
            <a:spLocks noGrp="1"/>
          </p:cNvSpPr>
          <p:nvPr>
            <p:ph type="title"/>
          </p:nvPr>
        </p:nvSpPr>
        <p:spPr/>
        <p:txBody>
          <a:bodyPr/>
          <a:lstStyle/>
          <a:p>
            <a:r>
              <a:rPr lang="en-US" dirty="0"/>
              <a:t>Hands-on lab – setting up a </a:t>
            </a:r>
            <a:r>
              <a:rPr lang="en-US" dirty="0" err="1"/>
              <a:t>Dogtag</a:t>
            </a:r>
            <a:r>
              <a:rPr lang="en-US" dirty="0"/>
              <a:t> CA</a:t>
            </a:r>
            <a:endParaRPr lang="fr-FR" dirty="0"/>
          </a:p>
        </p:txBody>
      </p:sp>
      <p:sp>
        <p:nvSpPr>
          <p:cNvPr id="5" name="Content Placeholder 4">
            <a:extLst>
              <a:ext uri="{FF2B5EF4-FFF2-40B4-BE49-F238E27FC236}">
                <a16:creationId xmlns:a16="http://schemas.microsoft.com/office/drawing/2014/main" id="{4A1925E4-F456-22C3-C18F-D8F7C3923E01}"/>
              </a:ext>
            </a:extLst>
          </p:cNvPr>
          <p:cNvSpPr>
            <a:spLocks noGrp="1"/>
          </p:cNvSpPr>
          <p:nvPr>
            <p:ph idx="1"/>
          </p:nvPr>
        </p:nvSpPr>
        <p:spPr>
          <a:xfrm>
            <a:off x="838200" y="1825624"/>
            <a:ext cx="10515600" cy="4810125"/>
          </a:xfrm>
        </p:spPr>
        <p:txBody>
          <a:bodyPr>
            <a:normAutofit/>
          </a:bodyPr>
          <a:lstStyle/>
          <a:p>
            <a:r>
              <a:rPr lang="en-US" dirty="0"/>
              <a:t>You’ll receive a warning about the certificate being invalid because it’s self-signed. </a:t>
            </a:r>
          </a:p>
          <a:p>
            <a:pPr algn="just"/>
            <a:r>
              <a:rPr lang="en-US" dirty="0"/>
              <a:t>That’s normal, because every CA has to start with a self-signed certificate, and you haven’t yet imported this certificate into your trust store. Temporarily add the exception and continue. (In other words, clear the checkmark from the Add permanently box. You’ll see why in the next lab.) Click through the links until you reach this screen:</a:t>
            </a:r>
            <a:endParaRPr lang="fr-FR" dirty="0"/>
          </a:p>
        </p:txBody>
      </p:sp>
      <p:pic>
        <p:nvPicPr>
          <p:cNvPr id="3" name="Picture 2">
            <a:extLst>
              <a:ext uri="{FF2B5EF4-FFF2-40B4-BE49-F238E27FC236}">
                <a16:creationId xmlns:a16="http://schemas.microsoft.com/office/drawing/2014/main" id="{1C854D53-C7C0-5D80-67E6-E88891203913}"/>
              </a:ext>
            </a:extLst>
          </p:cNvPr>
          <p:cNvPicPr>
            <a:picLocks noChangeAspect="1"/>
          </p:cNvPicPr>
          <p:nvPr/>
        </p:nvPicPr>
        <p:blipFill>
          <a:blip r:embed="rId2"/>
          <a:stretch>
            <a:fillRect/>
          </a:stretch>
        </p:blipFill>
        <p:spPr>
          <a:xfrm>
            <a:off x="4127499" y="4721479"/>
            <a:ext cx="4708405" cy="2089818"/>
          </a:xfrm>
          <a:prstGeom prst="rect">
            <a:avLst/>
          </a:prstGeom>
        </p:spPr>
      </p:pic>
    </p:spTree>
    <p:extLst>
      <p:ext uri="{BB962C8B-B14F-4D97-AF65-F5344CB8AC3E}">
        <p14:creationId xmlns:p14="http://schemas.microsoft.com/office/powerpoint/2010/main" val="1620686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22</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8165727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58CB9D-F629-81F1-722B-934F60A87828}"/>
              </a:ext>
            </a:extLst>
          </p:cNvPr>
          <p:cNvSpPr>
            <a:spLocks noGrp="1"/>
          </p:cNvSpPr>
          <p:nvPr>
            <p:ph type="title"/>
          </p:nvPr>
        </p:nvSpPr>
        <p:spPr/>
        <p:txBody>
          <a:bodyPr/>
          <a:lstStyle/>
          <a:p>
            <a:r>
              <a:rPr lang="en-US" dirty="0"/>
              <a:t>Hands-on lab – creating and transferring SSH keys</a:t>
            </a:r>
            <a:endParaRPr lang="fr-FR" dirty="0"/>
          </a:p>
        </p:txBody>
      </p:sp>
      <p:sp>
        <p:nvSpPr>
          <p:cNvPr id="5" name="Content Placeholder 4">
            <a:extLst>
              <a:ext uri="{FF2B5EF4-FFF2-40B4-BE49-F238E27FC236}">
                <a16:creationId xmlns:a16="http://schemas.microsoft.com/office/drawing/2014/main" id="{EB192951-A0D4-D2F6-792C-C2F89A713241}"/>
              </a:ext>
            </a:extLst>
          </p:cNvPr>
          <p:cNvSpPr>
            <a:spLocks noGrp="1"/>
          </p:cNvSpPr>
          <p:nvPr>
            <p:ph idx="1"/>
          </p:nvPr>
        </p:nvSpPr>
        <p:spPr>
          <a:xfrm>
            <a:off x="838200" y="1825624"/>
            <a:ext cx="10515600" cy="4582319"/>
          </a:xfrm>
        </p:spPr>
        <p:txBody>
          <a:bodyPr>
            <a:normAutofit fontScale="92500" lnSpcReduction="20000"/>
          </a:bodyPr>
          <a:lstStyle/>
          <a:p>
            <a:r>
              <a:rPr lang="en-US" dirty="0"/>
              <a:t>You will use one virtual machine (VM) as your client, and one VM as the server. Alternatively, if you are using a Windows host machine, you can use Cygwin, PowerShell, or the built-in Windows Bash shell for the client.</a:t>
            </a:r>
          </a:p>
          <a:p>
            <a:r>
              <a:rPr lang="en-US" dirty="0"/>
              <a:t>For the server VM, use either Ubuntu 22.04 or CentOS 7.</a:t>
            </a:r>
          </a:p>
          <a:p>
            <a:r>
              <a:rPr lang="en-US" dirty="0"/>
              <a:t>On the client machine, create a pair of 384-bit elliptic curve keys. Accept the default filename and location and create a passphrase:</a:t>
            </a:r>
          </a:p>
          <a:p>
            <a:pPr lvl="1"/>
            <a:r>
              <a:rPr lang="de-DE" dirty="0" err="1"/>
              <a:t>ssh-keygen</a:t>
            </a:r>
            <a:r>
              <a:rPr lang="de-DE" dirty="0"/>
              <a:t> -t </a:t>
            </a:r>
            <a:r>
              <a:rPr lang="de-DE" dirty="0" err="1"/>
              <a:t>ecdsa</a:t>
            </a:r>
            <a:r>
              <a:rPr lang="de-DE" dirty="0"/>
              <a:t> -b 384</a:t>
            </a:r>
          </a:p>
          <a:p>
            <a:r>
              <a:rPr lang="en-US" dirty="0"/>
              <a:t>Observe the keys, taking note of the permissions settings:</a:t>
            </a:r>
          </a:p>
          <a:p>
            <a:pPr lvl="1"/>
            <a:r>
              <a:rPr lang="fr-FR" dirty="0"/>
              <a:t>ls -l ./</a:t>
            </a:r>
            <a:r>
              <a:rPr lang="fr-FR" dirty="0" err="1"/>
              <a:t>ssh</a:t>
            </a:r>
            <a:endParaRPr lang="fr-FR" dirty="0"/>
          </a:p>
          <a:p>
            <a:r>
              <a:rPr lang="en-US" dirty="0"/>
              <a:t>Add your private key to your session keyring. Enter your passphrase when prompted:</a:t>
            </a:r>
          </a:p>
          <a:p>
            <a:pPr lvl="1"/>
            <a:r>
              <a:rPr lang="en-US" dirty="0"/>
              <a:t>exec /</a:t>
            </a:r>
            <a:r>
              <a:rPr lang="en-US" dirty="0" err="1"/>
              <a:t>usr</a:t>
            </a:r>
            <a:r>
              <a:rPr lang="en-US" dirty="0"/>
              <a:t>/bin/ssh-agent $SHELL</a:t>
            </a:r>
          </a:p>
          <a:p>
            <a:pPr lvl="1"/>
            <a:r>
              <a:rPr lang="en-US" dirty="0"/>
              <a:t>ssh-add</a:t>
            </a:r>
            <a:endParaRPr lang="fr-FR" dirty="0"/>
          </a:p>
        </p:txBody>
      </p:sp>
    </p:spTree>
    <p:extLst>
      <p:ext uri="{BB962C8B-B14F-4D97-AF65-F5344CB8AC3E}">
        <p14:creationId xmlns:p14="http://schemas.microsoft.com/office/powerpoint/2010/main" val="23911449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58CB9D-F629-81F1-722B-934F60A87828}"/>
              </a:ext>
            </a:extLst>
          </p:cNvPr>
          <p:cNvSpPr>
            <a:spLocks noGrp="1"/>
          </p:cNvSpPr>
          <p:nvPr>
            <p:ph type="title"/>
          </p:nvPr>
        </p:nvSpPr>
        <p:spPr/>
        <p:txBody>
          <a:bodyPr/>
          <a:lstStyle/>
          <a:p>
            <a:r>
              <a:rPr lang="en-US" dirty="0"/>
              <a:t>Hands-on lab – creating and transferring SSH keys</a:t>
            </a:r>
            <a:endParaRPr lang="fr-FR" dirty="0"/>
          </a:p>
        </p:txBody>
      </p:sp>
      <p:sp>
        <p:nvSpPr>
          <p:cNvPr id="5" name="Content Placeholder 4">
            <a:extLst>
              <a:ext uri="{FF2B5EF4-FFF2-40B4-BE49-F238E27FC236}">
                <a16:creationId xmlns:a16="http://schemas.microsoft.com/office/drawing/2014/main" id="{EB192951-A0D4-D2F6-792C-C2F89A713241}"/>
              </a:ext>
            </a:extLst>
          </p:cNvPr>
          <p:cNvSpPr>
            <a:spLocks noGrp="1"/>
          </p:cNvSpPr>
          <p:nvPr>
            <p:ph idx="1"/>
          </p:nvPr>
        </p:nvSpPr>
        <p:spPr>
          <a:xfrm>
            <a:off x="838200" y="1825624"/>
            <a:ext cx="10515600" cy="4582319"/>
          </a:xfrm>
        </p:spPr>
        <p:txBody>
          <a:bodyPr>
            <a:normAutofit lnSpcReduction="10000"/>
          </a:bodyPr>
          <a:lstStyle/>
          <a:p>
            <a:r>
              <a:rPr lang="en-US" dirty="0"/>
              <a:t>Transfer the public key to the server VM. When prompted, enter the password for your user account on the server VM. (Substitute your own username and IP address in the following command.):</a:t>
            </a:r>
          </a:p>
          <a:p>
            <a:pPr marL="0" indent="0" algn="ctr">
              <a:buNone/>
            </a:pPr>
            <a:r>
              <a:rPr lang="fr-FR" dirty="0" err="1"/>
              <a:t>ssh</a:t>
            </a:r>
            <a:r>
              <a:rPr lang="fr-FR" dirty="0"/>
              <a:t>-copy-id donnie@192.168.0.7</a:t>
            </a:r>
            <a:endParaRPr lang="en-US" dirty="0"/>
          </a:p>
          <a:p>
            <a:r>
              <a:rPr lang="en-US" dirty="0"/>
              <a:t>Log in to the server VM as you normally would:</a:t>
            </a:r>
          </a:p>
          <a:p>
            <a:pPr marL="0" indent="0">
              <a:buNone/>
            </a:pPr>
            <a:r>
              <a:rPr lang="fr-FR" dirty="0"/>
              <a:t>                                   </a:t>
            </a:r>
            <a:r>
              <a:rPr lang="fr-FR" dirty="0" err="1"/>
              <a:t>ssh</a:t>
            </a:r>
            <a:r>
              <a:rPr lang="fr-FR" dirty="0"/>
              <a:t> donnie@192.168.0.7</a:t>
            </a:r>
            <a:endParaRPr lang="en-US" dirty="0"/>
          </a:p>
          <a:p>
            <a:r>
              <a:rPr lang="en-US" dirty="0"/>
              <a:t>Observe the </a:t>
            </a:r>
            <a:r>
              <a:rPr lang="en-US" dirty="0" err="1"/>
              <a:t>authorized_keys</a:t>
            </a:r>
            <a:r>
              <a:rPr lang="en-US" dirty="0"/>
              <a:t> file that was created on the server VM:</a:t>
            </a:r>
          </a:p>
          <a:p>
            <a:pPr marL="0" indent="0">
              <a:buNone/>
            </a:pPr>
            <a:r>
              <a:rPr lang="en-US" dirty="0"/>
              <a:t>			ls -l .ssh</a:t>
            </a:r>
          </a:p>
          <a:p>
            <a:pPr marL="0" indent="0">
              <a:buNone/>
            </a:pPr>
            <a:r>
              <a:rPr lang="en-US" dirty="0"/>
              <a:t>			cat .ssh/</a:t>
            </a:r>
            <a:r>
              <a:rPr lang="en-US" dirty="0" err="1"/>
              <a:t>authorized_keys</a:t>
            </a:r>
            <a:endParaRPr lang="en-US" dirty="0"/>
          </a:p>
          <a:p>
            <a:pPr marL="0" indent="0" algn="ctr">
              <a:buNone/>
            </a:pPr>
            <a:r>
              <a:rPr lang="fr-FR" dirty="0"/>
              <a:t>	</a:t>
            </a:r>
          </a:p>
        </p:txBody>
      </p:sp>
    </p:spTree>
    <p:extLst>
      <p:ext uri="{BB962C8B-B14F-4D97-AF65-F5344CB8AC3E}">
        <p14:creationId xmlns:p14="http://schemas.microsoft.com/office/powerpoint/2010/main" val="934840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58CB9D-F629-81F1-722B-934F60A87828}"/>
              </a:ext>
            </a:extLst>
          </p:cNvPr>
          <p:cNvSpPr>
            <a:spLocks noGrp="1"/>
          </p:cNvSpPr>
          <p:nvPr>
            <p:ph type="title"/>
          </p:nvPr>
        </p:nvSpPr>
        <p:spPr/>
        <p:txBody>
          <a:bodyPr/>
          <a:lstStyle/>
          <a:p>
            <a:r>
              <a:rPr lang="en-US" dirty="0"/>
              <a:t>Hands-on lab – creating and transferring SSH keys</a:t>
            </a:r>
            <a:endParaRPr lang="fr-FR" dirty="0"/>
          </a:p>
        </p:txBody>
      </p:sp>
      <p:sp>
        <p:nvSpPr>
          <p:cNvPr id="5" name="Content Placeholder 4">
            <a:extLst>
              <a:ext uri="{FF2B5EF4-FFF2-40B4-BE49-F238E27FC236}">
                <a16:creationId xmlns:a16="http://schemas.microsoft.com/office/drawing/2014/main" id="{EB192951-A0D4-D2F6-792C-C2F89A713241}"/>
              </a:ext>
            </a:extLst>
          </p:cNvPr>
          <p:cNvSpPr>
            <a:spLocks noGrp="1"/>
          </p:cNvSpPr>
          <p:nvPr>
            <p:ph idx="1"/>
          </p:nvPr>
        </p:nvSpPr>
        <p:spPr>
          <a:xfrm>
            <a:off x="838200" y="1825624"/>
            <a:ext cx="10515600" cy="4667251"/>
          </a:xfrm>
        </p:spPr>
        <p:txBody>
          <a:bodyPr>
            <a:normAutofit fontScale="92500" lnSpcReduction="10000"/>
          </a:bodyPr>
          <a:lstStyle/>
          <a:p>
            <a:r>
              <a:rPr lang="en-US" dirty="0"/>
              <a:t>Log out of the server VM and close the terminal window on the client. Open another terminal window and try to log in to the server again. This time, you should be prompted to enter the passphrase for your private key.</a:t>
            </a:r>
          </a:p>
          <a:p>
            <a:r>
              <a:rPr lang="en-US" dirty="0"/>
              <a:t>Log back out of the server VM and add your private key back to the session keyring of your client. Enter the passphrase for your private key when prompted:</a:t>
            </a:r>
            <a:r>
              <a:rPr lang="fr-FR" dirty="0"/>
              <a:t>	</a:t>
            </a:r>
          </a:p>
          <a:p>
            <a:pPr lvl="1"/>
            <a:r>
              <a:rPr lang="en-US" dirty="0"/>
              <a:t>exec /</a:t>
            </a:r>
            <a:r>
              <a:rPr lang="en-US" dirty="0" err="1"/>
              <a:t>usr</a:t>
            </a:r>
            <a:r>
              <a:rPr lang="en-US" dirty="0"/>
              <a:t>/bin/ssh-agent $SHELL</a:t>
            </a:r>
          </a:p>
          <a:p>
            <a:pPr lvl="1"/>
            <a:r>
              <a:rPr lang="en-US" dirty="0"/>
              <a:t>ssh-add</a:t>
            </a:r>
          </a:p>
          <a:p>
            <a:pPr algn="l"/>
            <a:r>
              <a:rPr lang="en-US" dirty="0"/>
              <a:t>As long as you keep this terminal window open on your client, you’ll be able to log in to the server VM as many times as you want without having to enter a password. However, when you close the terminal window, your private key will be removed from your session keyring.</a:t>
            </a:r>
          </a:p>
          <a:p>
            <a:pPr algn="l"/>
            <a:r>
              <a:rPr lang="en-US" dirty="0"/>
              <a:t>You have reached the end of the lab</a:t>
            </a:r>
            <a:endParaRPr lang="fr-FR" dirty="0"/>
          </a:p>
        </p:txBody>
      </p:sp>
    </p:spTree>
    <p:extLst>
      <p:ext uri="{BB962C8B-B14F-4D97-AF65-F5344CB8AC3E}">
        <p14:creationId xmlns:p14="http://schemas.microsoft.com/office/powerpoint/2010/main" val="36826292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D3591-E848-2F70-239F-C08DE1D613A6}"/>
              </a:ext>
            </a:extLst>
          </p:cNvPr>
          <p:cNvSpPr>
            <a:spLocks noGrp="1"/>
          </p:cNvSpPr>
          <p:nvPr>
            <p:ph type="title"/>
          </p:nvPr>
        </p:nvSpPr>
        <p:spPr/>
        <p:txBody>
          <a:bodyPr/>
          <a:lstStyle/>
          <a:p>
            <a:r>
              <a:rPr lang="fr-FR" dirty="0" err="1"/>
              <a:t>Lab</a:t>
            </a:r>
            <a:r>
              <a:rPr lang="fr-FR" dirty="0"/>
              <a:t> 22</a:t>
            </a:r>
          </a:p>
        </p:txBody>
      </p:sp>
      <p:sp>
        <p:nvSpPr>
          <p:cNvPr id="5" name="Text Placeholder 4">
            <a:extLst>
              <a:ext uri="{FF2B5EF4-FFF2-40B4-BE49-F238E27FC236}">
                <a16:creationId xmlns:a16="http://schemas.microsoft.com/office/drawing/2014/main" id="{65AE380E-6BB5-5D32-4AFE-451EC666C06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0050214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1E772-1855-3E6B-1342-EC549B0DC56F}"/>
              </a:ext>
            </a:extLst>
          </p:cNvPr>
          <p:cNvSpPr>
            <a:spLocks noGrp="1"/>
          </p:cNvSpPr>
          <p:nvPr>
            <p:ph type="title"/>
          </p:nvPr>
        </p:nvSpPr>
        <p:spPr/>
        <p:txBody>
          <a:bodyPr/>
          <a:lstStyle/>
          <a:p>
            <a:r>
              <a:rPr lang="en-US" dirty="0"/>
              <a:t>Hands-on lab — Setting up two-factor authentication on </a:t>
            </a:r>
            <a:r>
              <a:rPr lang="en-US" dirty="0" err="1"/>
              <a:t>AlmaLinux</a:t>
            </a:r>
            <a:r>
              <a:rPr lang="en-US" dirty="0"/>
              <a:t> 8</a:t>
            </a:r>
            <a:endParaRPr lang="fr-FR" dirty="0"/>
          </a:p>
        </p:txBody>
      </p:sp>
      <p:sp>
        <p:nvSpPr>
          <p:cNvPr id="3" name="Content Placeholder 2">
            <a:extLst>
              <a:ext uri="{FF2B5EF4-FFF2-40B4-BE49-F238E27FC236}">
                <a16:creationId xmlns:a16="http://schemas.microsoft.com/office/drawing/2014/main" id="{6E94B542-6F09-0482-F0C3-BB5C2C16CDE3}"/>
              </a:ext>
            </a:extLst>
          </p:cNvPr>
          <p:cNvSpPr>
            <a:spLocks noGrp="1"/>
          </p:cNvSpPr>
          <p:nvPr>
            <p:ph idx="1"/>
          </p:nvPr>
        </p:nvSpPr>
        <p:spPr/>
        <p:txBody>
          <a:bodyPr/>
          <a:lstStyle/>
          <a:p>
            <a:r>
              <a:rPr lang="en-US" dirty="0"/>
              <a:t>For this lab, we assume that you have already installed the Google Authenticator app on your smart phone.</a:t>
            </a:r>
          </a:p>
          <a:p>
            <a:r>
              <a:rPr lang="en-US" dirty="0"/>
              <a:t>The Authenticator PAM module is not in any of the repositories for the RHEL 9 distros, but it is in the EPEL repository for the RHEL 8 distros. </a:t>
            </a:r>
          </a:p>
          <a:p>
            <a:r>
              <a:rPr lang="en-US" dirty="0"/>
              <a:t>Fire up a fresh </a:t>
            </a:r>
            <a:r>
              <a:rPr lang="en-US" dirty="0" err="1"/>
              <a:t>AlmaLinux</a:t>
            </a:r>
            <a:r>
              <a:rPr lang="en-US" dirty="0"/>
              <a:t> 8 VM to start</a:t>
            </a:r>
          </a:p>
          <a:p>
            <a:pPr lvl="1"/>
            <a:r>
              <a:rPr lang="en-US" dirty="0"/>
              <a:t>Install the PAM module like this:</a:t>
            </a:r>
          </a:p>
          <a:p>
            <a:pPr lvl="2"/>
            <a:r>
              <a:rPr lang="fr-FR" dirty="0" err="1"/>
              <a:t>sudo</a:t>
            </a:r>
            <a:r>
              <a:rPr lang="fr-FR" dirty="0"/>
              <a:t> </a:t>
            </a:r>
            <a:r>
              <a:rPr lang="fr-FR" dirty="0" err="1"/>
              <a:t>dnf</a:t>
            </a:r>
            <a:r>
              <a:rPr lang="fr-FR" dirty="0"/>
              <a:t> </a:t>
            </a:r>
            <a:r>
              <a:rPr lang="fr-FR" dirty="0" err="1"/>
              <a:t>install</a:t>
            </a:r>
            <a:r>
              <a:rPr lang="fr-FR" dirty="0"/>
              <a:t> </a:t>
            </a:r>
            <a:r>
              <a:rPr lang="fr-FR" dirty="0" err="1"/>
              <a:t>epel</a:t>
            </a:r>
            <a:r>
              <a:rPr lang="fr-FR" dirty="0"/>
              <a:t>-release</a:t>
            </a:r>
          </a:p>
          <a:p>
            <a:pPr lvl="2"/>
            <a:r>
              <a:rPr lang="fr-FR" dirty="0" err="1"/>
              <a:t>sudo</a:t>
            </a:r>
            <a:r>
              <a:rPr lang="fr-FR" dirty="0"/>
              <a:t> </a:t>
            </a:r>
            <a:r>
              <a:rPr lang="fr-FR" dirty="0" err="1"/>
              <a:t>dnf</a:t>
            </a:r>
            <a:r>
              <a:rPr lang="fr-FR" dirty="0"/>
              <a:t> </a:t>
            </a:r>
            <a:r>
              <a:rPr lang="fr-FR" dirty="0" err="1"/>
              <a:t>install</a:t>
            </a:r>
            <a:r>
              <a:rPr lang="fr-FR" dirty="0"/>
              <a:t> google-</a:t>
            </a:r>
            <a:r>
              <a:rPr lang="fr-FR" dirty="0" err="1"/>
              <a:t>authenticator</a:t>
            </a:r>
            <a:r>
              <a:rPr lang="fr-FR" dirty="0"/>
              <a:t> </a:t>
            </a:r>
            <a:r>
              <a:rPr lang="fr-FR" dirty="0" err="1"/>
              <a:t>qrencode-libs</a:t>
            </a:r>
            <a:endParaRPr lang="fr-FR" dirty="0"/>
          </a:p>
        </p:txBody>
      </p:sp>
    </p:spTree>
    <p:extLst>
      <p:ext uri="{BB962C8B-B14F-4D97-AF65-F5344CB8AC3E}">
        <p14:creationId xmlns:p14="http://schemas.microsoft.com/office/powerpoint/2010/main" val="16119648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1E772-1855-3E6B-1342-EC549B0DC56F}"/>
              </a:ext>
            </a:extLst>
          </p:cNvPr>
          <p:cNvSpPr>
            <a:spLocks noGrp="1"/>
          </p:cNvSpPr>
          <p:nvPr>
            <p:ph type="title"/>
          </p:nvPr>
        </p:nvSpPr>
        <p:spPr/>
        <p:txBody>
          <a:bodyPr/>
          <a:lstStyle/>
          <a:p>
            <a:r>
              <a:rPr lang="en-US" dirty="0"/>
              <a:t>Hands-on lab — Setting up two-factor authentication on </a:t>
            </a:r>
            <a:r>
              <a:rPr lang="en-US" dirty="0" err="1"/>
              <a:t>AlmaLinux</a:t>
            </a:r>
            <a:r>
              <a:rPr lang="en-US" dirty="0"/>
              <a:t> 8</a:t>
            </a:r>
            <a:endParaRPr lang="fr-FR" dirty="0"/>
          </a:p>
        </p:txBody>
      </p:sp>
      <p:sp>
        <p:nvSpPr>
          <p:cNvPr id="3" name="Content Placeholder 2">
            <a:extLst>
              <a:ext uri="{FF2B5EF4-FFF2-40B4-BE49-F238E27FC236}">
                <a16:creationId xmlns:a16="http://schemas.microsoft.com/office/drawing/2014/main" id="{6E94B542-6F09-0482-F0C3-BB5C2C16CDE3}"/>
              </a:ext>
            </a:extLst>
          </p:cNvPr>
          <p:cNvSpPr>
            <a:spLocks noGrp="1"/>
          </p:cNvSpPr>
          <p:nvPr>
            <p:ph idx="1"/>
          </p:nvPr>
        </p:nvSpPr>
        <p:spPr>
          <a:xfrm>
            <a:off x="838200" y="1825625"/>
            <a:ext cx="10515600" cy="4825206"/>
          </a:xfrm>
        </p:spPr>
        <p:txBody>
          <a:bodyPr>
            <a:normAutofit lnSpcReduction="10000"/>
          </a:bodyPr>
          <a:lstStyle/>
          <a:p>
            <a:r>
              <a:rPr lang="en-US" dirty="0"/>
              <a:t>Note that you need the </a:t>
            </a:r>
            <a:r>
              <a:rPr lang="en-US" b="1" dirty="0" err="1"/>
              <a:t>qrencode</a:t>
            </a:r>
            <a:r>
              <a:rPr lang="en-US" b="1" dirty="0"/>
              <a:t>-libs</a:t>
            </a:r>
            <a:r>
              <a:rPr lang="en-US" dirty="0"/>
              <a:t> package in order to produce a QR code.</a:t>
            </a:r>
          </a:p>
          <a:p>
            <a:r>
              <a:rPr lang="en-US" dirty="0"/>
              <a:t>From the GUI terminal of your host machine, use SSH to remotely log in to the </a:t>
            </a:r>
            <a:r>
              <a:rPr lang="en-US" dirty="0" err="1"/>
              <a:t>AlmaLinux</a:t>
            </a:r>
            <a:r>
              <a:rPr lang="en-US" dirty="0"/>
              <a:t> 8 VM. This will allow you to resize the QR code image so that you can take a picture of it with your smart phone. Then, run the google-authenticator:</a:t>
            </a:r>
          </a:p>
          <a:p>
            <a:pPr marL="0" indent="0">
              <a:buNone/>
            </a:pPr>
            <a:r>
              <a:rPr lang="en-US" dirty="0"/>
              <a:t>     google-authenticator -s ~/.ssh/</a:t>
            </a:r>
            <a:r>
              <a:rPr lang="en-US" dirty="0" err="1"/>
              <a:t>google_authenticator</a:t>
            </a:r>
            <a:endParaRPr lang="en-US" dirty="0"/>
          </a:p>
          <a:p>
            <a:r>
              <a:rPr lang="en-US" dirty="0"/>
              <a:t>Now, we are creating the </a:t>
            </a:r>
            <a:r>
              <a:rPr lang="en-US" b="1" dirty="0" err="1"/>
              <a:t>google_authenticator</a:t>
            </a:r>
            <a:r>
              <a:rPr lang="en-US" b="1" dirty="0"/>
              <a:t> </a:t>
            </a:r>
            <a:r>
              <a:rPr lang="en-US" dirty="0"/>
              <a:t>file within the .ssh directory because </a:t>
            </a:r>
            <a:r>
              <a:rPr lang="en-US" dirty="0" err="1"/>
              <a:t>AlmaLinux</a:t>
            </a:r>
            <a:r>
              <a:rPr lang="en-US" dirty="0"/>
              <a:t> is set up to use </a:t>
            </a:r>
            <a:r>
              <a:rPr lang="en-US" dirty="0" err="1"/>
              <a:t>SELinux</a:t>
            </a:r>
            <a:r>
              <a:rPr lang="en-US" dirty="0"/>
              <a:t>. When you try to log in remotely with Authenticator enabled, the SSH daemon will try to write to the </a:t>
            </a:r>
            <a:r>
              <a:rPr lang="en-US" dirty="0" err="1"/>
              <a:t>google_authenticator</a:t>
            </a:r>
            <a:r>
              <a:rPr lang="en-US" dirty="0"/>
              <a:t> file. </a:t>
            </a:r>
            <a:r>
              <a:rPr lang="en-US" dirty="0" err="1"/>
              <a:t>SELinux</a:t>
            </a:r>
            <a:r>
              <a:rPr lang="en-US" dirty="0"/>
              <a:t> prevents SSH from writing to files that are outside of the .ssh directory.</a:t>
            </a:r>
            <a:endParaRPr lang="fr-FR" dirty="0"/>
          </a:p>
        </p:txBody>
      </p:sp>
    </p:spTree>
    <p:extLst>
      <p:ext uri="{BB962C8B-B14F-4D97-AF65-F5344CB8AC3E}">
        <p14:creationId xmlns:p14="http://schemas.microsoft.com/office/powerpoint/2010/main" val="36494339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1E772-1855-3E6B-1342-EC549B0DC56F}"/>
              </a:ext>
            </a:extLst>
          </p:cNvPr>
          <p:cNvSpPr>
            <a:spLocks noGrp="1"/>
          </p:cNvSpPr>
          <p:nvPr>
            <p:ph type="title"/>
          </p:nvPr>
        </p:nvSpPr>
        <p:spPr/>
        <p:txBody>
          <a:bodyPr/>
          <a:lstStyle/>
          <a:p>
            <a:r>
              <a:rPr lang="en-US" dirty="0"/>
              <a:t>Hands-on lab — Setting up two-factor authentication on </a:t>
            </a:r>
            <a:r>
              <a:rPr lang="en-US" dirty="0" err="1"/>
              <a:t>AlmaLinux</a:t>
            </a:r>
            <a:r>
              <a:rPr lang="en-US" dirty="0"/>
              <a:t> 8</a:t>
            </a:r>
            <a:endParaRPr lang="fr-FR" dirty="0"/>
          </a:p>
        </p:txBody>
      </p:sp>
      <p:sp>
        <p:nvSpPr>
          <p:cNvPr id="3" name="Content Placeholder 2">
            <a:extLst>
              <a:ext uri="{FF2B5EF4-FFF2-40B4-BE49-F238E27FC236}">
                <a16:creationId xmlns:a16="http://schemas.microsoft.com/office/drawing/2014/main" id="{6E94B542-6F09-0482-F0C3-BB5C2C16CDE3}"/>
              </a:ext>
            </a:extLst>
          </p:cNvPr>
          <p:cNvSpPr>
            <a:spLocks noGrp="1"/>
          </p:cNvSpPr>
          <p:nvPr>
            <p:ph idx="1"/>
          </p:nvPr>
        </p:nvSpPr>
        <p:spPr>
          <a:xfrm>
            <a:off x="838200" y="1825625"/>
            <a:ext cx="10515600" cy="4825206"/>
          </a:xfrm>
        </p:spPr>
        <p:txBody>
          <a:bodyPr>
            <a:normAutofit fontScale="92500"/>
          </a:bodyPr>
          <a:lstStyle/>
          <a:p>
            <a:pPr algn="just"/>
            <a:r>
              <a:rPr lang="en-US" dirty="0"/>
              <a:t>Follow through on the Authenticator setup, the same as you did in steps 4 through 8 of the Setting up two-factor authentication on Ubuntu 22.04 lab.</a:t>
            </a:r>
          </a:p>
          <a:p>
            <a:pPr algn="just"/>
            <a:r>
              <a:rPr lang="en-US" dirty="0"/>
              <a:t>Open the /</a:t>
            </a:r>
            <a:r>
              <a:rPr lang="en-US" dirty="0" err="1"/>
              <a:t>etc</a:t>
            </a:r>
            <a:r>
              <a:rPr lang="en-US" dirty="0"/>
              <a:t>/</a:t>
            </a:r>
            <a:r>
              <a:rPr lang="en-US" dirty="0" err="1"/>
              <a:t>pam.d</a:t>
            </a:r>
            <a:r>
              <a:rPr lang="en-US" dirty="0"/>
              <a:t>/</a:t>
            </a:r>
            <a:r>
              <a:rPr lang="en-US" dirty="0" err="1"/>
              <a:t>sshd</a:t>
            </a:r>
            <a:r>
              <a:rPr lang="en-US" dirty="0"/>
              <a:t> file in your text editor. Add this line to the very bottom of the file:</a:t>
            </a:r>
          </a:p>
          <a:p>
            <a:pPr algn="just"/>
            <a:endParaRPr lang="en-US" dirty="0"/>
          </a:p>
          <a:p>
            <a:pPr algn="just"/>
            <a:endParaRPr lang="en-US" dirty="0"/>
          </a:p>
          <a:p>
            <a:pPr algn="just"/>
            <a:r>
              <a:rPr lang="en-US" dirty="0"/>
              <a:t>Open the /</a:t>
            </a:r>
            <a:r>
              <a:rPr lang="en-US" dirty="0" err="1"/>
              <a:t>etc</a:t>
            </a:r>
            <a:r>
              <a:rPr lang="en-US" dirty="0"/>
              <a:t>/ssh/</a:t>
            </a:r>
            <a:r>
              <a:rPr lang="en-US" dirty="0" err="1"/>
              <a:t>sshd_config</a:t>
            </a:r>
            <a:r>
              <a:rPr lang="en-US" dirty="0"/>
              <a:t> file in your text editor. Find the line that says </a:t>
            </a:r>
            <a:r>
              <a:rPr lang="en-US" i="1" dirty="0"/>
              <a:t>#ChallengeResponseAuthentication no </a:t>
            </a:r>
            <a:r>
              <a:rPr lang="en-US" dirty="0"/>
              <a:t>and change it to </a:t>
            </a:r>
            <a:r>
              <a:rPr lang="en-US" i="1" dirty="0" err="1"/>
              <a:t>ChallengeResponseAuthentication</a:t>
            </a:r>
            <a:r>
              <a:rPr lang="en-US" i="1" dirty="0"/>
              <a:t> yes</a:t>
            </a:r>
            <a:r>
              <a:rPr lang="en-US" dirty="0"/>
              <a:t>.</a:t>
            </a:r>
          </a:p>
          <a:p>
            <a:pPr algn="just"/>
            <a:r>
              <a:rPr lang="en-US" dirty="0"/>
              <a:t>Reload or restart the </a:t>
            </a:r>
            <a:r>
              <a:rPr lang="en-US" dirty="0" err="1"/>
              <a:t>sshd</a:t>
            </a:r>
            <a:r>
              <a:rPr lang="en-US" dirty="0"/>
              <a:t> service:</a:t>
            </a:r>
          </a:p>
          <a:p>
            <a:pPr marL="0" indent="0" algn="just">
              <a:buNone/>
            </a:pPr>
            <a:r>
              <a:rPr lang="fr-FR" dirty="0"/>
              <a:t>		</a:t>
            </a:r>
            <a:r>
              <a:rPr lang="fr-FR" dirty="0" err="1"/>
              <a:t>sudo</a:t>
            </a:r>
            <a:r>
              <a:rPr lang="fr-FR" dirty="0"/>
              <a:t> </a:t>
            </a:r>
            <a:r>
              <a:rPr lang="fr-FR" dirty="0" err="1"/>
              <a:t>systemctl</a:t>
            </a:r>
            <a:r>
              <a:rPr lang="fr-FR" dirty="0"/>
              <a:t> </a:t>
            </a:r>
            <a:r>
              <a:rPr lang="fr-FR" dirty="0" err="1"/>
              <a:t>reload</a:t>
            </a:r>
            <a:r>
              <a:rPr lang="fr-FR" dirty="0"/>
              <a:t> </a:t>
            </a:r>
            <a:r>
              <a:rPr lang="fr-FR" dirty="0" err="1"/>
              <a:t>sshd</a:t>
            </a:r>
            <a:endParaRPr lang="fr-FR" dirty="0"/>
          </a:p>
        </p:txBody>
      </p:sp>
      <p:pic>
        <p:nvPicPr>
          <p:cNvPr id="5" name="Picture 4">
            <a:extLst>
              <a:ext uri="{FF2B5EF4-FFF2-40B4-BE49-F238E27FC236}">
                <a16:creationId xmlns:a16="http://schemas.microsoft.com/office/drawing/2014/main" id="{42DA3E82-DCE8-F7BB-0CB0-5EC618DDC870}"/>
              </a:ext>
            </a:extLst>
          </p:cNvPr>
          <p:cNvPicPr>
            <a:picLocks noChangeAspect="1"/>
          </p:cNvPicPr>
          <p:nvPr/>
        </p:nvPicPr>
        <p:blipFill>
          <a:blip r:embed="rId3"/>
          <a:stretch>
            <a:fillRect/>
          </a:stretch>
        </p:blipFill>
        <p:spPr>
          <a:xfrm>
            <a:off x="2643188" y="3542095"/>
            <a:ext cx="6275536" cy="636999"/>
          </a:xfrm>
          <a:prstGeom prst="rect">
            <a:avLst/>
          </a:prstGeom>
        </p:spPr>
      </p:pic>
    </p:spTree>
    <p:extLst>
      <p:ext uri="{BB962C8B-B14F-4D97-AF65-F5344CB8AC3E}">
        <p14:creationId xmlns:p14="http://schemas.microsoft.com/office/powerpoint/2010/main" val="32232278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1E772-1855-3E6B-1342-EC549B0DC56F}"/>
              </a:ext>
            </a:extLst>
          </p:cNvPr>
          <p:cNvSpPr>
            <a:spLocks noGrp="1"/>
          </p:cNvSpPr>
          <p:nvPr>
            <p:ph type="title"/>
          </p:nvPr>
        </p:nvSpPr>
        <p:spPr/>
        <p:txBody>
          <a:bodyPr/>
          <a:lstStyle/>
          <a:p>
            <a:r>
              <a:rPr lang="en-US" dirty="0"/>
              <a:t>Hands-on lab — Setting up two-factor authentication on </a:t>
            </a:r>
            <a:r>
              <a:rPr lang="en-US" dirty="0" err="1"/>
              <a:t>AlmaLinux</a:t>
            </a:r>
            <a:r>
              <a:rPr lang="en-US" dirty="0"/>
              <a:t> 8</a:t>
            </a:r>
            <a:endParaRPr lang="fr-FR" dirty="0"/>
          </a:p>
        </p:txBody>
      </p:sp>
      <p:sp>
        <p:nvSpPr>
          <p:cNvPr id="3" name="Content Placeholder 2">
            <a:extLst>
              <a:ext uri="{FF2B5EF4-FFF2-40B4-BE49-F238E27FC236}">
                <a16:creationId xmlns:a16="http://schemas.microsoft.com/office/drawing/2014/main" id="{6E94B542-6F09-0482-F0C3-BB5C2C16CDE3}"/>
              </a:ext>
            </a:extLst>
          </p:cNvPr>
          <p:cNvSpPr>
            <a:spLocks noGrp="1"/>
          </p:cNvSpPr>
          <p:nvPr>
            <p:ph idx="1"/>
          </p:nvPr>
        </p:nvSpPr>
        <p:spPr>
          <a:xfrm>
            <a:off x="838200" y="1825625"/>
            <a:ext cx="10515600" cy="4825206"/>
          </a:xfrm>
        </p:spPr>
        <p:txBody>
          <a:bodyPr>
            <a:normAutofit/>
          </a:bodyPr>
          <a:lstStyle/>
          <a:p>
            <a:pPr algn="just"/>
            <a:r>
              <a:rPr lang="en-US" dirty="0"/>
              <a:t>Set the proper </a:t>
            </a:r>
            <a:r>
              <a:rPr lang="en-US" dirty="0" err="1"/>
              <a:t>SELinux</a:t>
            </a:r>
            <a:r>
              <a:rPr lang="en-US" dirty="0"/>
              <a:t> security context on the </a:t>
            </a:r>
            <a:r>
              <a:rPr lang="en-US" b="1" dirty="0" err="1"/>
              <a:t>google_authenticator</a:t>
            </a:r>
            <a:r>
              <a:rPr lang="en-US" b="1" dirty="0"/>
              <a:t> </a:t>
            </a:r>
            <a:r>
              <a:rPr lang="en-US" dirty="0"/>
              <a:t>file that you created:</a:t>
            </a:r>
          </a:p>
          <a:p>
            <a:pPr lvl="1" algn="just"/>
            <a:r>
              <a:rPr lang="fr-FR" dirty="0"/>
              <a:t>cd</a:t>
            </a:r>
          </a:p>
          <a:p>
            <a:pPr lvl="1" algn="just"/>
            <a:r>
              <a:rPr lang="fr-FR" dirty="0" err="1"/>
              <a:t>sudo</a:t>
            </a:r>
            <a:r>
              <a:rPr lang="fr-FR" dirty="0"/>
              <a:t> </a:t>
            </a:r>
            <a:r>
              <a:rPr lang="fr-FR" dirty="0" err="1"/>
              <a:t>restorecon</a:t>
            </a:r>
            <a:r>
              <a:rPr lang="fr-FR" dirty="0"/>
              <a:t> .</a:t>
            </a:r>
            <a:r>
              <a:rPr lang="fr-FR" dirty="0" err="1"/>
              <a:t>ssh</a:t>
            </a:r>
            <a:r>
              <a:rPr lang="fr-FR" dirty="0"/>
              <a:t>/</a:t>
            </a:r>
            <a:r>
              <a:rPr lang="fr-FR" dirty="0" err="1"/>
              <a:t>google_authenticator</a:t>
            </a:r>
            <a:endParaRPr lang="fr-FR" dirty="0"/>
          </a:p>
          <a:p>
            <a:pPr lvl="1" algn="just"/>
            <a:endParaRPr lang="fr-FR" dirty="0"/>
          </a:p>
          <a:p>
            <a:pPr algn="just"/>
            <a:r>
              <a:rPr lang="en-US" dirty="0"/>
              <a:t>Log out of the remote session, and try logging back in. This time, you should be prompted to enter a verification code.</a:t>
            </a:r>
            <a:endParaRPr lang="fr-FR" dirty="0"/>
          </a:p>
        </p:txBody>
      </p:sp>
    </p:spTree>
    <p:extLst>
      <p:ext uri="{BB962C8B-B14F-4D97-AF65-F5344CB8AC3E}">
        <p14:creationId xmlns:p14="http://schemas.microsoft.com/office/powerpoint/2010/main" val="33967589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195C-4B34-02CB-D6D1-14CE3C2168AE}"/>
              </a:ext>
            </a:extLst>
          </p:cNvPr>
          <p:cNvSpPr>
            <a:spLocks noGrp="1"/>
          </p:cNvSpPr>
          <p:nvPr>
            <p:ph type="title"/>
          </p:nvPr>
        </p:nvSpPr>
        <p:spPr/>
        <p:txBody>
          <a:bodyPr>
            <a:normAutofit/>
          </a:bodyPr>
          <a:lstStyle/>
          <a:p>
            <a:r>
              <a:rPr lang="en-US" dirty="0"/>
              <a:t>Hand-on lab — Using Google Authenticator with key exchange on </a:t>
            </a:r>
            <a:r>
              <a:rPr lang="en-US" dirty="0" err="1"/>
              <a:t>AlmaLinux</a:t>
            </a:r>
            <a:r>
              <a:rPr lang="en-US" dirty="0"/>
              <a:t> 8</a:t>
            </a:r>
            <a:endParaRPr lang="fr-FR" dirty="0"/>
          </a:p>
        </p:txBody>
      </p:sp>
      <p:sp>
        <p:nvSpPr>
          <p:cNvPr id="3" name="Content Placeholder 2">
            <a:extLst>
              <a:ext uri="{FF2B5EF4-FFF2-40B4-BE49-F238E27FC236}">
                <a16:creationId xmlns:a16="http://schemas.microsoft.com/office/drawing/2014/main" id="{F803DB3B-900F-04C1-E3B8-9E89CD2D5C5D}"/>
              </a:ext>
            </a:extLst>
          </p:cNvPr>
          <p:cNvSpPr>
            <a:spLocks noGrp="1"/>
          </p:cNvSpPr>
          <p:nvPr>
            <p:ph idx="1"/>
          </p:nvPr>
        </p:nvSpPr>
        <p:spPr/>
        <p:txBody>
          <a:bodyPr>
            <a:normAutofit/>
          </a:bodyPr>
          <a:lstStyle/>
          <a:p>
            <a:r>
              <a:rPr lang="en-US" dirty="0"/>
              <a:t>Transfer the public key from your host machine to the </a:t>
            </a:r>
            <a:r>
              <a:rPr lang="en-US" dirty="0" err="1"/>
              <a:t>AlmaLinux</a:t>
            </a:r>
            <a:r>
              <a:rPr lang="en-US" dirty="0"/>
              <a:t> 8 machine as you did in the </a:t>
            </a:r>
            <a:r>
              <a:rPr lang="en-US" i="1" dirty="0"/>
              <a:t>Creating and transferring SSH keys </a:t>
            </a:r>
            <a:r>
              <a:rPr lang="en-US" dirty="0"/>
              <a:t>lab.</a:t>
            </a:r>
          </a:p>
          <a:p>
            <a:pPr algn="just"/>
            <a:r>
              <a:rPr lang="en-US" dirty="0"/>
              <a:t>In the /</a:t>
            </a:r>
            <a:r>
              <a:rPr lang="en-US" dirty="0" err="1"/>
              <a:t>etc</a:t>
            </a:r>
            <a:r>
              <a:rPr lang="en-US" dirty="0"/>
              <a:t>/ssh/</a:t>
            </a:r>
            <a:r>
              <a:rPr lang="en-US" dirty="0" err="1"/>
              <a:t>sshd_config</a:t>
            </a:r>
            <a:r>
              <a:rPr lang="en-US" dirty="0"/>
              <a:t> file, change the #PasswordAuthentication yes line to </a:t>
            </a:r>
            <a:r>
              <a:rPr lang="en-US" dirty="0" err="1"/>
              <a:t>PasswordAuthentication</a:t>
            </a:r>
            <a:r>
              <a:rPr lang="en-US" dirty="0"/>
              <a:t> no, and reload the SSH configuration. Now, you will only be using key exchange to log in, which will completely bypass the Authenticator. Let’s fix things so that you can be using both.</a:t>
            </a:r>
          </a:p>
          <a:p>
            <a:pPr algn="just"/>
            <a:r>
              <a:rPr lang="en-US" dirty="0"/>
              <a:t>In the /</a:t>
            </a:r>
            <a:r>
              <a:rPr lang="en-US" dirty="0" err="1"/>
              <a:t>etc</a:t>
            </a:r>
            <a:r>
              <a:rPr lang="en-US" dirty="0"/>
              <a:t>/ssh/</a:t>
            </a:r>
            <a:r>
              <a:rPr lang="en-US" dirty="0" err="1"/>
              <a:t>sshd_config</a:t>
            </a:r>
            <a:r>
              <a:rPr lang="en-US" dirty="0"/>
              <a:t> file, add the following line just beneath the </a:t>
            </a:r>
            <a:r>
              <a:rPr lang="en-US" dirty="0" err="1"/>
              <a:t>PasswordAuthentication</a:t>
            </a:r>
            <a:r>
              <a:rPr lang="en-US" dirty="0"/>
              <a:t> no line:</a:t>
            </a:r>
            <a:endParaRPr lang="fr-FR" dirty="0"/>
          </a:p>
        </p:txBody>
      </p:sp>
      <p:pic>
        <p:nvPicPr>
          <p:cNvPr id="5" name="Picture 4">
            <a:extLst>
              <a:ext uri="{FF2B5EF4-FFF2-40B4-BE49-F238E27FC236}">
                <a16:creationId xmlns:a16="http://schemas.microsoft.com/office/drawing/2014/main" id="{2953E55C-7ED2-C520-ECDB-2199F59C1320}"/>
              </a:ext>
            </a:extLst>
          </p:cNvPr>
          <p:cNvPicPr>
            <a:picLocks noChangeAspect="1"/>
          </p:cNvPicPr>
          <p:nvPr/>
        </p:nvPicPr>
        <p:blipFill>
          <a:blip r:embed="rId2"/>
          <a:stretch>
            <a:fillRect/>
          </a:stretch>
        </p:blipFill>
        <p:spPr>
          <a:xfrm>
            <a:off x="1128713" y="5900611"/>
            <a:ext cx="10918970" cy="552704"/>
          </a:xfrm>
          <a:prstGeom prst="rect">
            <a:avLst/>
          </a:prstGeom>
        </p:spPr>
      </p:pic>
    </p:spTree>
    <p:extLst>
      <p:ext uri="{BB962C8B-B14F-4D97-AF65-F5344CB8AC3E}">
        <p14:creationId xmlns:p14="http://schemas.microsoft.com/office/powerpoint/2010/main" val="6139638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195C-4B34-02CB-D6D1-14CE3C2168AE}"/>
              </a:ext>
            </a:extLst>
          </p:cNvPr>
          <p:cNvSpPr>
            <a:spLocks noGrp="1"/>
          </p:cNvSpPr>
          <p:nvPr>
            <p:ph type="title"/>
          </p:nvPr>
        </p:nvSpPr>
        <p:spPr/>
        <p:txBody>
          <a:bodyPr>
            <a:normAutofit/>
          </a:bodyPr>
          <a:lstStyle/>
          <a:p>
            <a:r>
              <a:rPr lang="en-US" dirty="0"/>
              <a:t>Hand-on lab — Using Google Authenticator with key exchange on </a:t>
            </a:r>
            <a:r>
              <a:rPr lang="en-US" dirty="0" err="1"/>
              <a:t>AlmaLinux</a:t>
            </a:r>
            <a:r>
              <a:rPr lang="en-US" dirty="0"/>
              <a:t> 8</a:t>
            </a:r>
            <a:endParaRPr lang="fr-FR" dirty="0"/>
          </a:p>
        </p:txBody>
      </p:sp>
      <p:sp>
        <p:nvSpPr>
          <p:cNvPr id="3" name="Content Placeholder 2">
            <a:extLst>
              <a:ext uri="{FF2B5EF4-FFF2-40B4-BE49-F238E27FC236}">
                <a16:creationId xmlns:a16="http://schemas.microsoft.com/office/drawing/2014/main" id="{F803DB3B-900F-04C1-E3B8-9E89CD2D5C5D}"/>
              </a:ext>
            </a:extLst>
          </p:cNvPr>
          <p:cNvSpPr>
            <a:spLocks noGrp="1"/>
          </p:cNvSpPr>
          <p:nvPr>
            <p:ph idx="1"/>
          </p:nvPr>
        </p:nvSpPr>
        <p:spPr/>
        <p:txBody>
          <a:bodyPr>
            <a:normAutofit lnSpcReduction="10000"/>
          </a:bodyPr>
          <a:lstStyle/>
          <a:p>
            <a:pPr algn="just"/>
            <a:r>
              <a:rPr lang="en-US" dirty="0"/>
              <a:t>After reloading the SSH configuration, you will have three-factor authentication, because you will need to enter both your password and a verification code along with the key exchange.</a:t>
            </a:r>
          </a:p>
          <a:p>
            <a:pPr algn="just"/>
            <a:endParaRPr lang="en-US" dirty="0"/>
          </a:p>
          <a:p>
            <a:pPr algn="just"/>
            <a:r>
              <a:rPr lang="en-US" dirty="0"/>
              <a:t>If desired, you can easily disable the password prompt and just use the key exchange and verification code. In the /</a:t>
            </a:r>
            <a:r>
              <a:rPr lang="en-US" dirty="0" err="1"/>
              <a:t>etc</a:t>
            </a:r>
            <a:r>
              <a:rPr lang="en-US" dirty="0"/>
              <a:t>/</a:t>
            </a:r>
            <a:r>
              <a:rPr lang="en-US" dirty="0" err="1"/>
              <a:t>pam.d</a:t>
            </a:r>
            <a:r>
              <a:rPr lang="en-US" dirty="0"/>
              <a:t>/</a:t>
            </a:r>
            <a:r>
              <a:rPr lang="en-US" dirty="0" err="1"/>
              <a:t>sshd</a:t>
            </a:r>
            <a:r>
              <a:rPr lang="en-US" dirty="0"/>
              <a:t> file, find the auth </a:t>
            </a:r>
            <a:r>
              <a:rPr lang="en-US" dirty="0" err="1"/>
              <a:t>substack</a:t>
            </a:r>
            <a:r>
              <a:rPr lang="en-US" dirty="0"/>
              <a:t> password-auth line at the top of the file, and change it to #auth </a:t>
            </a:r>
            <a:r>
              <a:rPr lang="en-US" dirty="0" err="1"/>
              <a:t>substack</a:t>
            </a:r>
            <a:r>
              <a:rPr lang="en-US" dirty="0"/>
              <a:t> password-auth.</a:t>
            </a:r>
          </a:p>
          <a:p>
            <a:pPr algn="just"/>
            <a:endParaRPr lang="en-US" dirty="0"/>
          </a:p>
          <a:p>
            <a:pPr algn="just"/>
            <a:r>
              <a:rPr lang="en-US" dirty="0"/>
              <a:t>That’s all there is to Google Authenticator.</a:t>
            </a:r>
            <a:endParaRPr lang="fr-FR" dirty="0"/>
          </a:p>
        </p:txBody>
      </p:sp>
    </p:spTree>
    <p:extLst>
      <p:ext uri="{BB962C8B-B14F-4D97-AF65-F5344CB8AC3E}">
        <p14:creationId xmlns:p14="http://schemas.microsoft.com/office/powerpoint/2010/main" val="990489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4817</TotalTime>
  <Words>7334</Words>
  <Application>Microsoft Office PowerPoint</Application>
  <PresentationFormat>Widescreen</PresentationFormat>
  <Paragraphs>663</Paragraphs>
  <Slides>91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91</vt:i4>
      </vt:variant>
    </vt:vector>
  </HeadingPairs>
  <TitlesOfParts>
    <vt:vector size="97" baseType="lpstr">
      <vt:lpstr>Arial</vt:lpstr>
      <vt:lpstr>Calibri</vt:lpstr>
      <vt:lpstr>Calibri Light</vt:lpstr>
      <vt:lpstr>Consolas</vt:lpstr>
      <vt:lpstr>SourceSerif4-Regular</vt:lpstr>
      <vt:lpstr>Office Theme</vt:lpstr>
      <vt:lpstr>Hands on Labs</vt:lpstr>
      <vt:lpstr>Lab 1</vt:lpstr>
      <vt:lpstr>Hands-on lab for assigning limited sudo privileges</vt:lpstr>
      <vt:lpstr>Hands-on lab for assigning limited sudo privileges</vt:lpstr>
      <vt:lpstr>Hands-on lab for assigning limited sudo privileges</vt:lpstr>
      <vt:lpstr>Hands-on lab for assigning limited sudo privileges</vt:lpstr>
      <vt:lpstr>Hands-on lab for assigning limited sudo privileges</vt:lpstr>
      <vt:lpstr>Lab 2</vt:lpstr>
      <vt:lpstr>Hands-on lab for disabling the sudo timer</vt:lpstr>
      <vt:lpstr>Hands-on lab for disabling the sudo timer</vt:lpstr>
      <vt:lpstr>Hands-on lab for disabling the sudo timer</vt:lpstr>
      <vt:lpstr>Hands-on lab for disabling the sudo timer</vt:lpstr>
      <vt:lpstr>Lab 3</vt:lpstr>
      <vt:lpstr>Hands-on lab for creating an encrypted home directory with adduser</vt:lpstr>
      <vt:lpstr>Lab 4</vt:lpstr>
      <vt:lpstr>Hands-on lab for setting password complexity criteria</vt:lpstr>
      <vt:lpstr>Lab 5</vt:lpstr>
      <vt:lpstr>Hands-on lab for setting account and password expiry data</vt:lpstr>
      <vt:lpstr>Hands-on lab for setting account and password expiry data</vt:lpstr>
      <vt:lpstr>Lab 6</vt:lpstr>
      <vt:lpstr>Hands-on lab for detecting compromised passwords</vt:lpstr>
      <vt:lpstr>Lab 7</vt:lpstr>
      <vt:lpstr>Hands-on lab for configuring pam_tally2</vt:lpstr>
      <vt:lpstr>Hands-on lab for configuring pam_tally2</vt:lpstr>
      <vt:lpstr>Hands-on lab for configuring pam_tally2</vt:lpstr>
      <vt:lpstr>Lab 8</vt:lpstr>
      <vt:lpstr>Distributed Identity Management</vt:lpstr>
      <vt:lpstr>Lab 9</vt:lpstr>
      <vt:lpstr>searching for SUID and SGID files</vt:lpstr>
      <vt:lpstr>Lab 10</vt:lpstr>
      <vt:lpstr>searching for SUID and SGID files</vt:lpstr>
      <vt:lpstr>searching for SUID and SGID files</vt:lpstr>
      <vt:lpstr>searching for SUID and SGID files</vt:lpstr>
      <vt:lpstr>Lab 11</vt:lpstr>
      <vt:lpstr>creating a shared group directory</vt:lpstr>
      <vt:lpstr>creating a shared group directory</vt:lpstr>
      <vt:lpstr>creating a shared group directory</vt:lpstr>
      <vt:lpstr>creating a shared group directory</vt:lpstr>
      <vt:lpstr>Lab 12</vt:lpstr>
      <vt:lpstr>SELinux type enforcement</vt:lpstr>
      <vt:lpstr>SELinux type enforcement</vt:lpstr>
      <vt:lpstr>SELinux type enforcement</vt:lpstr>
      <vt:lpstr>Lab 13</vt:lpstr>
      <vt:lpstr>SELinux Booleans and ports</vt:lpstr>
      <vt:lpstr>Lab 14</vt:lpstr>
      <vt:lpstr>Hands-on lab for basic iptables usage</vt:lpstr>
      <vt:lpstr>Hands-on lab for basic iptables usage</vt:lpstr>
      <vt:lpstr>Hands-on lab for basic iptables usage</vt:lpstr>
      <vt:lpstr>Lab 15</vt:lpstr>
      <vt:lpstr>Blocking invalid IPv4 packets</vt:lpstr>
      <vt:lpstr>Blocking invalid IPv4 packets</vt:lpstr>
      <vt:lpstr>Blocking invalid IPv4 packets</vt:lpstr>
      <vt:lpstr>Lab 16</vt:lpstr>
      <vt:lpstr>Lab for ip6tables</vt:lpstr>
      <vt:lpstr>Lab for ip6tables</vt:lpstr>
      <vt:lpstr>Lab 17</vt:lpstr>
      <vt:lpstr>ACL SQUID</vt:lpstr>
      <vt:lpstr>Lab 18</vt:lpstr>
      <vt:lpstr>Firewall and DMZ rules</vt:lpstr>
      <vt:lpstr>Lab 19</vt:lpstr>
      <vt:lpstr>nftables on Ubuntu</vt:lpstr>
      <vt:lpstr>nftables on Ubuntu</vt:lpstr>
      <vt:lpstr>nftables on Ubuntu</vt:lpstr>
      <vt:lpstr>nftables on Ubuntu</vt:lpstr>
      <vt:lpstr>nftables on Ubuntu</vt:lpstr>
      <vt:lpstr>Lab 20</vt:lpstr>
      <vt:lpstr>Hands-on lab for basic ufw usage</vt:lpstr>
      <vt:lpstr>Hands-on lab for basic ufw usage</vt:lpstr>
      <vt:lpstr>Hands-on lab for basic ufw usage</vt:lpstr>
      <vt:lpstr>Hands-on lab for basic ufw usage</vt:lpstr>
      <vt:lpstr>Lab 21</vt:lpstr>
      <vt:lpstr>Hands-on lab – setting up a Dogtag CA</vt:lpstr>
      <vt:lpstr>Hands-on lab – setting up a Dogtag CA</vt:lpstr>
      <vt:lpstr>Hands-on lab – setting up a Dogtag CA</vt:lpstr>
      <vt:lpstr>Hands-on lab – setting up a Dogtag CA</vt:lpstr>
      <vt:lpstr>Hands-on lab – setting up a Dogtag CA</vt:lpstr>
      <vt:lpstr>Hands-on lab – setting up a Dogtag CA</vt:lpstr>
      <vt:lpstr>Hands-on lab – setting up a Dogtag CA</vt:lpstr>
      <vt:lpstr>Hands-on lab – setting up a Dogtag CA</vt:lpstr>
      <vt:lpstr>Hands-on lab – setting up a Dogtag CA</vt:lpstr>
      <vt:lpstr>Lab 22</vt:lpstr>
      <vt:lpstr>Hands-on lab – creating and transferring SSH keys</vt:lpstr>
      <vt:lpstr>Hands-on lab – creating and transferring SSH keys</vt:lpstr>
      <vt:lpstr>Hands-on lab – creating and transferring SSH keys</vt:lpstr>
      <vt:lpstr>Lab 22</vt:lpstr>
      <vt:lpstr>Hands-on lab — Setting up two-factor authentication on AlmaLinux 8</vt:lpstr>
      <vt:lpstr>Hands-on lab — Setting up two-factor authentication on AlmaLinux 8</vt:lpstr>
      <vt:lpstr>Hands-on lab — Setting up two-factor authentication on AlmaLinux 8</vt:lpstr>
      <vt:lpstr>Hands-on lab — Setting up two-factor authentication on AlmaLinux 8</vt:lpstr>
      <vt:lpstr>Hand-on lab — Using Google Authenticator with key exchange on AlmaLinux 8</vt:lpstr>
      <vt:lpstr>Hand-on lab — Using Google Authenticator with key exchange on AlmaLinux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Hands on Labs</dc:title>
  <dc:creator>Tchakounte</dc:creator>
  <cp:lastModifiedBy>Tchakounte</cp:lastModifiedBy>
  <cp:revision>82</cp:revision>
  <dcterms:created xsi:type="dcterms:W3CDTF">2024-04-21T23:47:41Z</dcterms:created>
  <dcterms:modified xsi:type="dcterms:W3CDTF">2026-03-16T14:32:16Z</dcterms:modified>
</cp:coreProperties>
</file>