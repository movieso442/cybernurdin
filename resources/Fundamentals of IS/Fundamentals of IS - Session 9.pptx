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22"/>
  </p:notesMasterIdLst>
  <p:sldIdLst>
    <p:sldId id="260" r:id="rId2"/>
    <p:sldId id="313" r:id="rId3"/>
    <p:sldId id="322" r:id="rId4"/>
    <p:sldId id="350" r:id="rId5"/>
    <p:sldId id="351" r:id="rId6"/>
    <p:sldId id="352" r:id="rId7"/>
    <p:sldId id="353" r:id="rId8"/>
    <p:sldId id="354" r:id="rId9"/>
    <p:sldId id="364" r:id="rId10"/>
    <p:sldId id="355" r:id="rId11"/>
    <p:sldId id="356" r:id="rId12"/>
    <p:sldId id="357" r:id="rId13"/>
    <p:sldId id="358" r:id="rId14"/>
    <p:sldId id="359" r:id="rId15"/>
    <p:sldId id="366" r:id="rId16"/>
    <p:sldId id="363" r:id="rId17"/>
    <p:sldId id="360" r:id="rId18"/>
    <p:sldId id="361" r:id="rId19"/>
    <p:sldId id="349" r:id="rId20"/>
    <p:sldId id="26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p:restoredTop sz="96316"/>
  </p:normalViewPr>
  <p:slideViewPr>
    <p:cSldViewPr snapToGrid="0">
      <p:cViewPr varScale="1">
        <p:scale>
          <a:sx n="157" d="100"/>
          <a:sy n="157" d="100"/>
        </p:scale>
        <p:origin x="7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8C29F-EDEF-BE47-972A-B2CE6906D107}" type="datetimeFigureOut">
              <a:rPr lang="en-CM" smtClean="0"/>
              <a:t>11/12/2024</a:t>
            </a:fld>
            <a:endParaRPr lang="en-C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D7E4DE-7B70-2D4C-8728-1FA01397F4B3}" type="slidenum">
              <a:rPr lang="en-CM" smtClean="0"/>
              <a:t>‹#›</a:t>
            </a:fld>
            <a:endParaRPr lang="en-CM"/>
          </a:p>
        </p:txBody>
      </p:sp>
    </p:spTree>
    <p:extLst>
      <p:ext uri="{BB962C8B-B14F-4D97-AF65-F5344CB8AC3E}">
        <p14:creationId xmlns:p14="http://schemas.microsoft.com/office/powerpoint/2010/main" val="281271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endParaRPr lang="en-US" dirty="0"/>
          </a:p>
        </p:txBody>
      </p:sp>
      <p:sp>
        <p:nvSpPr>
          <p:cNvPr id="6" name="Slide Number Placeholder 5"/>
          <p:cNvSpPr>
            <a:spLocks noGrp="1"/>
          </p:cNvSpPr>
          <p:nvPr>
            <p:ph type="sldNum" sz="quarter" idx="12"/>
          </p:nvPr>
        </p:nvSpPr>
        <p:spPr>
          <a:xfrm>
            <a:off x="9924392" y="134930"/>
            <a:ext cx="811019" cy="503578"/>
          </a:xfrm>
        </p:spPr>
        <p:txBody>
          <a:bodyPr/>
          <a:lstStyle/>
          <a:p>
            <a:fld id="{6D22F896-40B5-4ADD-8801-0D06FADFA095}" type="slidenum">
              <a:rPr lang="en-US" smtClean="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95794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48A87A34-81AB-432B-8DAE-1953F412C126}" type="datetimeFigureOut">
              <a:rPr lang="en-US" smtClean="0"/>
              <a:t>12/11/24</a:t>
            </a:fld>
            <a:endParaRPr lang="en-US" dirty="0"/>
          </a:p>
        </p:txBody>
      </p:sp>
      <p:sp>
        <p:nvSpPr>
          <p:cNvPr id="5" name="Footer Placeholder 4"/>
          <p:cNvSpPr>
            <a:spLocks noGrp="1"/>
          </p:cNvSpPr>
          <p:nvPr>
            <p:ph type="ftr" sz="quarter" idx="11"/>
          </p:nvPr>
        </p:nvSpPr>
        <p:spPr/>
        <p:txBody>
          <a:bodyPr/>
          <a:lstStyle>
            <a:lvl1pPr>
              <a:defRPr sz="1200"/>
            </a:lvl1p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84454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2095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55989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744948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059660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5610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169984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48A87A34-81AB-432B-8DAE-1953F412C126}" type="datetimeFigureOut">
              <a:rPr lang="en-US" smtClean="0"/>
              <a:pPr/>
              <a:t>12/11/24</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6D22F896-40B5-4ADD-8801-0D06FADFA095}" type="slidenum">
              <a:rPr lang="en-US" smtClean="0"/>
              <a:t>‹#›</a:t>
            </a:fld>
            <a:endParaRPr lang="en-US" dirty="0"/>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445490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505012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12/11/24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3874518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12/11/24</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73102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9AB6439-7135-528B-08CA-1EE630406394}"/>
              </a:ext>
            </a:extLst>
          </p:cNvPr>
          <p:cNvSpPr txBox="1">
            <a:spLocks/>
          </p:cNvSpPr>
          <p:nvPr/>
        </p:nvSpPr>
        <p:spPr>
          <a:xfrm>
            <a:off x="735495" y="1398205"/>
            <a:ext cx="10721009" cy="1878496"/>
          </a:xfrm>
          <a:prstGeom prst="rect">
            <a:avLst/>
          </a:prstGeom>
        </p:spPr>
        <p:txBody>
          <a:bodyPr vert="horz" lIns="91440" tIns="91440" rIns="91440" bIns="91440" rtlCol="0">
            <a:normAutofit fontScale="77500" lnSpcReduction="20000"/>
          </a:bodyPr>
          <a:lstStyle>
            <a:lvl1pPr marL="0" indent="0" algn="l" defTabSz="914400" rtl="0" eaLnBrk="1" latinLnBrk="0" hangingPunct="1">
              <a:lnSpc>
                <a:spcPct val="120000"/>
              </a:lnSpc>
              <a:spcBef>
                <a:spcPts val="1000"/>
              </a:spcBef>
              <a:buClr>
                <a:schemeClr val="accent1"/>
              </a:buClr>
              <a:buSzPct val="100000"/>
              <a:buFont typeface="Arial" panose="020B0604020202020204" pitchFamily="34" charset="0"/>
              <a:buNone/>
              <a:defRPr sz="1800" b="0" kern="1200" cap="all" baseline="0">
                <a:solidFill>
                  <a:schemeClr val="tx1"/>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cap="none"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cap="none"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9pPr>
          </a:lstStyle>
          <a:p>
            <a:pPr algn="ctr">
              <a:lnSpc>
                <a:spcPct val="200000"/>
              </a:lnSpc>
            </a:pPr>
            <a:r>
              <a:rPr lang="en-US" sz="3600" b="1" dirty="0"/>
              <a:t>FUNDAMENTALS OF INFORMATION SECURITY</a:t>
            </a:r>
          </a:p>
          <a:p>
            <a:pPr algn="ctr">
              <a:lnSpc>
                <a:spcPct val="200000"/>
              </a:lnSpc>
            </a:pPr>
            <a:r>
              <a:rPr lang="en-US" sz="3600" b="1" dirty="0"/>
              <a:t>Session 9</a:t>
            </a:r>
            <a:endParaRPr lang="en-US" sz="2000" dirty="0"/>
          </a:p>
        </p:txBody>
      </p:sp>
      <p:sp>
        <p:nvSpPr>
          <p:cNvPr id="2" name="Content Placeholder 2">
            <a:extLst>
              <a:ext uri="{FF2B5EF4-FFF2-40B4-BE49-F238E27FC236}">
                <a16:creationId xmlns:a16="http://schemas.microsoft.com/office/drawing/2014/main" id="{874497E9-C8FD-A6BB-4DA1-3457FF407DD2}"/>
              </a:ext>
            </a:extLst>
          </p:cNvPr>
          <p:cNvSpPr txBox="1">
            <a:spLocks/>
          </p:cNvSpPr>
          <p:nvPr/>
        </p:nvSpPr>
        <p:spPr>
          <a:xfrm>
            <a:off x="3876260" y="3581300"/>
            <a:ext cx="4439478" cy="1878496"/>
          </a:xfrm>
          <a:prstGeom prst="rect">
            <a:avLst/>
          </a:prstGeom>
        </p:spPr>
        <p:txBody>
          <a:bodyPr vert="horz" lIns="91440" tIns="91440" rIns="91440" bIns="91440" rtlCol="0">
            <a:normAutofit/>
          </a:bodyPr>
          <a:lstStyle>
            <a:lvl1pPr marL="0" indent="0" algn="l" defTabSz="914400" rtl="0" eaLnBrk="1" latinLnBrk="0" hangingPunct="1">
              <a:lnSpc>
                <a:spcPct val="120000"/>
              </a:lnSpc>
              <a:spcBef>
                <a:spcPts val="1000"/>
              </a:spcBef>
              <a:buClr>
                <a:schemeClr val="accent1"/>
              </a:buClr>
              <a:buSzPct val="100000"/>
              <a:buFont typeface="Arial" panose="020B0604020202020204" pitchFamily="34" charset="0"/>
              <a:buNone/>
              <a:defRPr sz="1800" b="0" kern="1200" cap="all" baseline="0">
                <a:solidFill>
                  <a:schemeClr val="tx1"/>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cap="none"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cap="none"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9pPr>
          </a:lstStyle>
          <a:p>
            <a:pPr algn="ctr">
              <a:lnSpc>
                <a:spcPct val="200000"/>
              </a:lnSpc>
            </a:pPr>
            <a:r>
              <a:rPr lang="en-US" sz="2000" b="1" dirty="0"/>
              <a:t>COURSE CODE: </a:t>
            </a:r>
          </a:p>
          <a:p>
            <a:pPr algn="ctr">
              <a:lnSpc>
                <a:spcPct val="200000"/>
              </a:lnSpc>
            </a:pPr>
            <a:r>
              <a:rPr lang="en-US" sz="2800" b="1" dirty="0">
                <a:solidFill>
                  <a:srgbClr val="FF0000"/>
                </a:solidFill>
              </a:rPr>
              <a:t>CYBE 6123 </a:t>
            </a:r>
            <a:endParaRPr lang="en-US" sz="1600" dirty="0">
              <a:solidFill>
                <a:srgbClr val="FF0000"/>
              </a:solidFill>
            </a:endParaRPr>
          </a:p>
        </p:txBody>
      </p:sp>
      <p:sp>
        <p:nvSpPr>
          <p:cNvPr id="6" name="TextBox 5">
            <a:extLst>
              <a:ext uri="{FF2B5EF4-FFF2-40B4-BE49-F238E27FC236}">
                <a16:creationId xmlns:a16="http://schemas.microsoft.com/office/drawing/2014/main" id="{ED636969-8563-A890-6E00-D143B9026FF3}"/>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8" name="Content Placeholder 2">
            <a:extLst>
              <a:ext uri="{FF2B5EF4-FFF2-40B4-BE49-F238E27FC236}">
                <a16:creationId xmlns:a16="http://schemas.microsoft.com/office/drawing/2014/main" id="{ABB60A7F-F170-D1E5-DB29-61C8D74D8F74}"/>
              </a:ext>
            </a:extLst>
          </p:cNvPr>
          <p:cNvSpPr txBox="1">
            <a:spLocks/>
          </p:cNvSpPr>
          <p:nvPr/>
        </p:nvSpPr>
        <p:spPr>
          <a:xfrm>
            <a:off x="0" y="5654912"/>
            <a:ext cx="3380509" cy="523612"/>
          </a:xfrm>
          <a:prstGeom prst="rect">
            <a:avLst/>
          </a:prstGeom>
        </p:spPr>
        <p:txBody>
          <a:bodyPr vert="horz" lIns="91440" tIns="91440" rIns="91440" bIns="91440" rtlCol="0">
            <a:normAutofit fontScale="70000" lnSpcReduction="20000"/>
          </a:bodyPr>
          <a:lstStyle>
            <a:lvl1pPr marL="0" indent="0" algn="l" defTabSz="914400" rtl="0" eaLnBrk="1" latinLnBrk="0" hangingPunct="1">
              <a:lnSpc>
                <a:spcPct val="120000"/>
              </a:lnSpc>
              <a:spcBef>
                <a:spcPts val="1000"/>
              </a:spcBef>
              <a:buClr>
                <a:schemeClr val="accent1"/>
              </a:buClr>
              <a:buSzPct val="100000"/>
              <a:buFont typeface="Arial" panose="020B0604020202020204" pitchFamily="34" charset="0"/>
              <a:buNone/>
              <a:defRPr sz="1800" b="0" kern="1200" cap="all" baseline="0">
                <a:solidFill>
                  <a:schemeClr val="tx1"/>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cap="none"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cap="none"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600" kern="1200" baseline="0">
                <a:solidFill>
                  <a:schemeClr val="tx1"/>
                </a:solidFill>
                <a:effectLst/>
                <a:latin typeface="+mn-lt"/>
                <a:ea typeface="+mn-ea"/>
                <a:cs typeface="+mn-cs"/>
              </a:defRPr>
            </a:lvl9pPr>
          </a:lstStyle>
          <a:p>
            <a:pPr algn="ctr">
              <a:lnSpc>
                <a:spcPct val="200000"/>
              </a:lnSpc>
            </a:pPr>
            <a:r>
              <a:rPr lang="en-US" sz="2000" dirty="0"/>
              <a:t>LECTURER: </a:t>
            </a:r>
            <a:r>
              <a:rPr lang="en-US" sz="2000" b="1" i="1" dirty="0"/>
              <a:t>NGUEMETA NATHANIEL</a:t>
            </a:r>
            <a:endParaRPr lang="en-US" sz="1600" i="1" dirty="0">
              <a:solidFill>
                <a:srgbClr val="FF0000"/>
              </a:solidFill>
            </a:endParaRPr>
          </a:p>
        </p:txBody>
      </p:sp>
    </p:spTree>
    <p:extLst>
      <p:ext uri="{BB962C8B-B14F-4D97-AF65-F5344CB8AC3E}">
        <p14:creationId xmlns:p14="http://schemas.microsoft.com/office/powerpoint/2010/main" val="4143905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D43EE5-0539-1C9E-3C44-36310D57A156}"/>
              </a:ext>
            </a:extLst>
          </p:cNvPr>
          <p:cNvSpPr>
            <a:spLocks noGrp="1"/>
          </p:cNvSpPr>
          <p:nvPr>
            <p:ph idx="1"/>
          </p:nvPr>
        </p:nvSpPr>
        <p:spPr>
          <a:xfrm>
            <a:off x="1487054" y="2934854"/>
            <a:ext cx="8968509" cy="695037"/>
          </a:xfrm>
        </p:spPr>
        <p:txBody>
          <a:bodyPr>
            <a:normAutofit fontScale="85000" lnSpcReduction="10000"/>
          </a:bodyPr>
          <a:lstStyle/>
          <a:p>
            <a:pPr marL="0" indent="0" algn="ctr">
              <a:buNone/>
            </a:pPr>
            <a:r>
              <a:rPr lang="en-US" sz="4000" b="1" dirty="0">
                <a:solidFill>
                  <a:srgbClr val="3A3A47"/>
                </a:solidFill>
                <a:effectLst/>
                <a:latin typeface="+mj-lt"/>
              </a:rPr>
              <a:t>Security Operations and Administration</a:t>
            </a:r>
          </a:p>
        </p:txBody>
      </p:sp>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Tree>
    <p:extLst>
      <p:ext uri="{BB962C8B-B14F-4D97-AF65-F5344CB8AC3E}">
        <p14:creationId xmlns:p14="http://schemas.microsoft.com/office/powerpoint/2010/main" val="418891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8" y="212035"/>
            <a:ext cx="7005850" cy="523220"/>
          </a:xfrm>
          <a:prstGeom prst="rect">
            <a:avLst/>
          </a:prstGeom>
          <a:noFill/>
        </p:spPr>
        <p:txBody>
          <a:bodyPr wrap="square" rtlCol="0">
            <a:spAutoFit/>
          </a:bodyPr>
          <a:lstStyle/>
          <a:p>
            <a:r>
              <a:rPr lang="en-US" sz="2800" b="1" i="1" dirty="0">
                <a:solidFill>
                  <a:srgbClr val="3A3A47"/>
                </a:solidFill>
                <a:effectLst/>
              </a:rPr>
              <a:t>Objective of the session</a:t>
            </a: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966915" y="695648"/>
            <a:ext cx="10855629" cy="5466704"/>
          </a:xfrm>
        </p:spPr>
        <p:txBody>
          <a:bodyPr>
            <a:normAutofit fontScale="85000" lnSpcReduction="10000"/>
          </a:bodyPr>
          <a:lstStyle/>
          <a:p>
            <a:pPr>
              <a:lnSpc>
                <a:spcPct val="200000"/>
              </a:lnSpc>
            </a:pPr>
            <a:r>
              <a:rPr lang="en-US" dirty="0">
                <a:solidFill>
                  <a:srgbClr val="3A3A47"/>
                </a:solidFill>
                <a:effectLst/>
              </a:rPr>
              <a:t>What security administration is</a:t>
            </a:r>
          </a:p>
          <a:p>
            <a:pPr>
              <a:lnSpc>
                <a:spcPct val="200000"/>
              </a:lnSpc>
            </a:pPr>
            <a:r>
              <a:rPr lang="en-US" dirty="0">
                <a:solidFill>
                  <a:srgbClr val="3A3A47"/>
                </a:solidFill>
                <a:effectLst/>
              </a:rPr>
              <a:t>What compliance is</a:t>
            </a:r>
          </a:p>
          <a:p>
            <a:pPr>
              <a:lnSpc>
                <a:spcPct val="200000"/>
              </a:lnSpc>
            </a:pPr>
            <a:r>
              <a:rPr lang="en-US" dirty="0">
                <a:solidFill>
                  <a:srgbClr val="3A3A47"/>
                </a:solidFill>
                <a:effectLst/>
              </a:rPr>
              <a:t>What professional ethics are</a:t>
            </a:r>
          </a:p>
          <a:p>
            <a:pPr>
              <a:lnSpc>
                <a:spcPct val="200000"/>
              </a:lnSpc>
            </a:pPr>
            <a:r>
              <a:rPr lang="en-US" dirty="0">
                <a:solidFill>
                  <a:srgbClr val="3A3A47"/>
                </a:solidFill>
                <a:effectLst/>
              </a:rPr>
              <a:t>What the infrastructure for an information technology (IT) security policy is</a:t>
            </a:r>
          </a:p>
          <a:p>
            <a:pPr>
              <a:lnSpc>
                <a:spcPct val="200000"/>
              </a:lnSpc>
            </a:pPr>
            <a:r>
              <a:rPr lang="en-US" dirty="0">
                <a:solidFill>
                  <a:srgbClr val="3A3A47"/>
                </a:solidFill>
                <a:effectLst/>
              </a:rPr>
              <a:t>What data classification standards are</a:t>
            </a:r>
          </a:p>
          <a:p>
            <a:pPr>
              <a:lnSpc>
                <a:spcPct val="200000"/>
              </a:lnSpc>
            </a:pPr>
            <a:r>
              <a:rPr lang="en-US" dirty="0">
                <a:solidFill>
                  <a:srgbClr val="3A3A47"/>
                </a:solidFill>
                <a:effectLst/>
              </a:rPr>
              <a:t>What configuration management is</a:t>
            </a:r>
          </a:p>
          <a:p>
            <a:pPr>
              <a:lnSpc>
                <a:spcPct val="200000"/>
              </a:lnSpc>
            </a:pPr>
            <a:r>
              <a:rPr lang="en-US" dirty="0">
                <a:solidFill>
                  <a:srgbClr val="3A3A47"/>
                </a:solidFill>
                <a:effectLst/>
              </a:rPr>
              <a:t>What the change management process is</a:t>
            </a:r>
          </a:p>
          <a:p>
            <a:pPr>
              <a:lnSpc>
                <a:spcPct val="200000"/>
              </a:lnSpc>
            </a:pPr>
            <a:r>
              <a:rPr lang="en-US" dirty="0">
                <a:solidFill>
                  <a:srgbClr val="3A3A47"/>
                </a:solidFill>
                <a:effectLst/>
              </a:rPr>
              <a:t>What the system life cycle (SLC) and system development life cycle (SDLC) are</a:t>
            </a:r>
          </a:p>
          <a:p>
            <a:pPr>
              <a:lnSpc>
                <a:spcPct val="200000"/>
              </a:lnSpc>
            </a:pPr>
            <a:r>
              <a:rPr lang="en-US" dirty="0">
                <a:solidFill>
                  <a:srgbClr val="3A3A47"/>
                </a:solidFill>
                <a:effectLst/>
              </a:rPr>
              <a:t>How software development relates to security</a:t>
            </a:r>
            <a:endParaRPr lang="en-CM" dirty="0"/>
          </a:p>
        </p:txBody>
      </p:sp>
    </p:spTree>
    <p:extLst>
      <p:ext uri="{BB962C8B-B14F-4D97-AF65-F5344CB8AC3E}">
        <p14:creationId xmlns:p14="http://schemas.microsoft.com/office/powerpoint/2010/main" val="2814775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Security Administration</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957679" y="832496"/>
            <a:ext cx="10855629" cy="5355867"/>
          </a:xfrm>
        </p:spPr>
        <p:txBody>
          <a:bodyPr>
            <a:normAutofit/>
          </a:bodyPr>
          <a:lstStyle/>
          <a:p>
            <a:pPr>
              <a:lnSpc>
                <a:spcPct val="200000"/>
              </a:lnSpc>
            </a:pPr>
            <a:r>
              <a:rPr lang="en-US" b="1" dirty="0">
                <a:solidFill>
                  <a:srgbClr val="3A3A47"/>
                </a:solidFill>
                <a:effectLst/>
              </a:rPr>
              <a:t>Sensitive assets list</a:t>
            </a:r>
            <a:r>
              <a:rPr lang="en-US" dirty="0">
                <a:solidFill>
                  <a:srgbClr val="3A3A47"/>
                </a:solidFill>
                <a:effectLst/>
              </a:rPr>
              <a:t>—What assets must the organization take measures to secure? </a:t>
            </a:r>
          </a:p>
          <a:p>
            <a:pPr>
              <a:lnSpc>
                <a:spcPct val="200000"/>
              </a:lnSpc>
            </a:pPr>
            <a:r>
              <a:rPr lang="en-US" b="1" dirty="0">
                <a:solidFill>
                  <a:srgbClr val="3A3A47"/>
                </a:solidFill>
                <a:effectLst/>
              </a:rPr>
              <a:t>The organization’s security process</a:t>
            </a:r>
            <a:r>
              <a:rPr lang="en-US" dirty="0">
                <a:solidFill>
                  <a:srgbClr val="3A3A47"/>
                </a:solidFill>
                <a:effectLst/>
              </a:rPr>
              <a:t>—How does it all work?</a:t>
            </a:r>
          </a:p>
          <a:p>
            <a:pPr>
              <a:lnSpc>
                <a:spcPct val="200000"/>
              </a:lnSpc>
            </a:pPr>
            <a:r>
              <a:rPr lang="en-US" b="1" dirty="0">
                <a:solidFill>
                  <a:srgbClr val="3A3A47"/>
                </a:solidFill>
                <a:effectLst/>
              </a:rPr>
              <a:t>The authority of the persons responsible for security</a:t>
            </a:r>
            <a:r>
              <a:rPr lang="en-US" dirty="0">
                <a:solidFill>
                  <a:srgbClr val="3A3A47"/>
                </a:solidFill>
                <a:effectLst/>
              </a:rPr>
              <a:t>—Which administrator is responsible or authorized for what assets and actions? </a:t>
            </a:r>
          </a:p>
          <a:p>
            <a:pPr>
              <a:lnSpc>
                <a:spcPct val="200000"/>
              </a:lnSpc>
            </a:pPr>
            <a:r>
              <a:rPr lang="en-US" b="1" dirty="0">
                <a:solidFill>
                  <a:srgbClr val="3A3A47"/>
                </a:solidFill>
                <a:effectLst/>
              </a:rPr>
              <a:t>The policies, procedures, and guidelines </a:t>
            </a:r>
            <a:r>
              <a:rPr lang="en-US" dirty="0">
                <a:solidFill>
                  <a:srgbClr val="3A3A47"/>
                </a:solidFill>
                <a:effectLst/>
              </a:rPr>
              <a:t>adopted by the organization—What information needs to be communicated, how is it communicated, and when is it communicated?</a:t>
            </a:r>
            <a:endParaRPr lang="en-CM" dirty="0"/>
          </a:p>
        </p:txBody>
      </p:sp>
    </p:spTree>
    <p:extLst>
      <p:ext uri="{BB962C8B-B14F-4D97-AF65-F5344CB8AC3E}">
        <p14:creationId xmlns:p14="http://schemas.microsoft.com/office/powerpoint/2010/main" val="50314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Security Outsourcing</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957679" y="832496"/>
            <a:ext cx="10855629" cy="5355867"/>
          </a:xfrm>
        </p:spPr>
        <p:txBody>
          <a:bodyPr>
            <a:normAutofit/>
          </a:bodyPr>
          <a:lstStyle/>
          <a:p>
            <a:pPr>
              <a:lnSpc>
                <a:spcPct val="200000"/>
              </a:lnSpc>
            </a:pPr>
            <a:r>
              <a:rPr lang="en-US" b="1" dirty="0">
                <a:solidFill>
                  <a:srgbClr val="3A3A47"/>
                </a:solidFill>
                <a:effectLst/>
              </a:rPr>
              <a:t>Advantages</a:t>
            </a:r>
          </a:p>
          <a:p>
            <a:pPr lvl="1">
              <a:lnSpc>
                <a:spcPct val="200000"/>
              </a:lnSpc>
            </a:pPr>
            <a:r>
              <a:rPr lang="en-US" dirty="0">
                <a:solidFill>
                  <a:srgbClr val="3A3A47"/>
                </a:solidFill>
              </a:rPr>
              <a:t>An external security management firm has a high level of expertise because it focuses on security</a:t>
            </a:r>
            <a:endParaRPr lang="en-US" b="1" dirty="0">
              <a:solidFill>
                <a:srgbClr val="3A3A47"/>
              </a:solidFill>
            </a:endParaRPr>
          </a:p>
          <a:p>
            <a:pPr>
              <a:lnSpc>
                <a:spcPct val="200000"/>
              </a:lnSpc>
            </a:pPr>
            <a:r>
              <a:rPr lang="en-US" b="1" dirty="0">
                <a:solidFill>
                  <a:srgbClr val="3A3A47"/>
                </a:solidFill>
                <a:effectLst/>
              </a:rPr>
              <a:t>Disadvantages</a:t>
            </a:r>
          </a:p>
          <a:p>
            <a:pPr lvl="1">
              <a:lnSpc>
                <a:spcPct val="200000"/>
              </a:lnSpc>
            </a:pPr>
            <a:r>
              <a:rPr lang="en-US" dirty="0">
                <a:solidFill>
                  <a:srgbClr val="3A3A47"/>
                </a:solidFill>
              </a:rPr>
              <a:t>T</a:t>
            </a:r>
            <a:r>
              <a:rPr lang="en-US" dirty="0">
                <a:solidFill>
                  <a:srgbClr val="3A3A47"/>
                </a:solidFill>
                <a:effectLst/>
              </a:rPr>
              <a:t>he outsourcing firm might not know the organization well nor possess enough internal knowledge necessary to protect its assets. </a:t>
            </a:r>
          </a:p>
          <a:p>
            <a:pPr lvl="1">
              <a:lnSpc>
                <a:spcPct val="200000"/>
              </a:lnSpc>
            </a:pPr>
            <a:r>
              <a:rPr lang="en-US" dirty="0">
                <a:solidFill>
                  <a:srgbClr val="3A3A47"/>
                </a:solidFill>
              </a:rPr>
              <a:t>T</a:t>
            </a:r>
            <a:r>
              <a:rPr lang="en-US" dirty="0">
                <a:solidFill>
                  <a:srgbClr val="3A3A47"/>
                </a:solidFill>
                <a:effectLst/>
              </a:rPr>
              <a:t>he organization will not be developing its own in-house capability for security management, hence they remain dependent</a:t>
            </a:r>
          </a:p>
        </p:txBody>
      </p:sp>
    </p:spTree>
    <p:extLst>
      <p:ext uri="{BB962C8B-B14F-4D97-AF65-F5344CB8AC3E}">
        <p14:creationId xmlns:p14="http://schemas.microsoft.com/office/powerpoint/2010/main" val="1828467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Security Outsourcing - Considerations</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314037" y="736940"/>
            <a:ext cx="11877963" cy="5743796"/>
          </a:xfrm>
        </p:spPr>
        <p:txBody>
          <a:bodyPr>
            <a:normAutofit/>
          </a:bodyPr>
          <a:lstStyle/>
          <a:p>
            <a:pPr>
              <a:lnSpc>
                <a:spcPct val="200000"/>
              </a:lnSpc>
            </a:pPr>
            <a:r>
              <a:rPr lang="en-US" sz="1600" b="1" dirty="0">
                <a:solidFill>
                  <a:srgbClr val="3A3A47"/>
                </a:solidFill>
                <a:effectLst/>
              </a:rPr>
              <a:t>Privacy—</a:t>
            </a:r>
            <a:r>
              <a:rPr lang="en-US" sz="1600" dirty="0">
                <a:solidFill>
                  <a:srgbClr val="3A3A47"/>
                </a:solidFill>
                <a:effectLst/>
              </a:rPr>
              <a:t>Does the third party agree to uphold the organization’s privacy policy? How does it plan to control how data is collected, stored, handled, and destroyed?</a:t>
            </a:r>
          </a:p>
          <a:p>
            <a:pPr>
              <a:lnSpc>
                <a:spcPct val="200000"/>
              </a:lnSpc>
            </a:pPr>
            <a:r>
              <a:rPr lang="en-US" sz="1600" b="1" dirty="0">
                <a:solidFill>
                  <a:srgbClr val="3A3A47"/>
                </a:solidFill>
                <a:effectLst/>
              </a:rPr>
              <a:t>Risk—</a:t>
            </a:r>
            <a:r>
              <a:rPr lang="en-US" sz="1600" dirty="0">
                <a:solidFill>
                  <a:srgbClr val="3A3A47"/>
                </a:solidFill>
                <a:effectLst/>
              </a:rPr>
              <a:t>What additional risks exist by transferring data over a trust boundary? How are any new risks addressed? Who is responsible for managing new outsourcing risks?</a:t>
            </a:r>
          </a:p>
          <a:p>
            <a:pPr>
              <a:lnSpc>
                <a:spcPct val="200000"/>
              </a:lnSpc>
            </a:pPr>
            <a:r>
              <a:rPr lang="en-US" sz="1600" b="1" dirty="0">
                <a:solidFill>
                  <a:srgbClr val="3A3A47"/>
                </a:solidFill>
                <a:effectLst/>
              </a:rPr>
              <a:t>Data security—</a:t>
            </a:r>
            <a:r>
              <a:rPr lang="en-US" sz="1600" dirty="0">
                <a:solidFill>
                  <a:srgbClr val="3A3A47"/>
                </a:solidFill>
                <a:effectLst/>
              </a:rPr>
              <a:t>What controls protect data confidentiality and integrity from unauthorized access? Are access controls consistent with internal controls? How is data availability protected? Are backups and redundancy measures in place to minimize downtime? How are back-ups and redundant data copies protected?</a:t>
            </a:r>
          </a:p>
          <a:p>
            <a:pPr>
              <a:lnSpc>
                <a:spcPct val="200000"/>
              </a:lnSpc>
            </a:pPr>
            <a:r>
              <a:rPr lang="en-US" sz="1600" b="1" dirty="0">
                <a:solidFill>
                  <a:srgbClr val="3A3A47"/>
                </a:solidFill>
                <a:effectLst/>
              </a:rPr>
              <a:t>Ownership—</a:t>
            </a:r>
            <a:r>
              <a:rPr lang="en-US" sz="1600" dirty="0">
                <a:solidFill>
                  <a:srgbClr val="3A3A47"/>
                </a:solidFill>
                <a:effectLst/>
              </a:rPr>
              <a:t>Who owns the data, the infrastructure, and the media? Who is responsible for each component?</a:t>
            </a:r>
          </a:p>
          <a:p>
            <a:pPr>
              <a:lnSpc>
                <a:spcPct val="200000"/>
              </a:lnSpc>
            </a:pPr>
            <a:r>
              <a:rPr lang="en-US" sz="1600" b="1" dirty="0">
                <a:solidFill>
                  <a:srgbClr val="3A3A47"/>
                </a:solidFill>
                <a:effectLst/>
              </a:rPr>
              <a:t>Adherence to policy—</a:t>
            </a:r>
            <a:r>
              <a:rPr lang="en-US" sz="1600" dirty="0">
                <a:solidFill>
                  <a:srgbClr val="3A3A47"/>
                </a:solidFill>
                <a:effectLst/>
              </a:rPr>
              <a:t>Does the third party commit to upholding the organization’s security policies and procedures?</a:t>
            </a:r>
          </a:p>
        </p:txBody>
      </p:sp>
    </p:spTree>
    <p:extLst>
      <p:ext uri="{BB962C8B-B14F-4D97-AF65-F5344CB8AC3E}">
        <p14:creationId xmlns:p14="http://schemas.microsoft.com/office/powerpoint/2010/main" val="1692428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Security Outsourcing - Considerations</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1062182" y="942108"/>
            <a:ext cx="11129818" cy="5538627"/>
          </a:xfrm>
        </p:spPr>
        <p:txBody>
          <a:bodyPr>
            <a:normAutofit/>
          </a:bodyPr>
          <a:lstStyle/>
          <a:p>
            <a:pPr>
              <a:lnSpc>
                <a:spcPct val="200000"/>
              </a:lnSpc>
            </a:pPr>
            <a:r>
              <a:rPr lang="en-US" dirty="0">
                <a:solidFill>
                  <a:srgbClr val="3A3A47"/>
                </a:solidFill>
                <a:effectLst/>
              </a:rPr>
              <a:t>Service level agreement (SLA)</a:t>
            </a:r>
            <a:endParaRPr lang="en-US" dirty="0">
              <a:solidFill>
                <a:srgbClr val="3A3A47"/>
              </a:solidFill>
            </a:endParaRPr>
          </a:p>
          <a:p>
            <a:pPr>
              <a:lnSpc>
                <a:spcPct val="200000"/>
              </a:lnSpc>
            </a:pPr>
            <a:r>
              <a:rPr lang="en-US" dirty="0">
                <a:solidFill>
                  <a:srgbClr val="3A3A47"/>
                </a:solidFill>
              </a:rPr>
              <a:t>Blanket purchase agreement (BPA)</a:t>
            </a:r>
          </a:p>
          <a:p>
            <a:pPr>
              <a:lnSpc>
                <a:spcPct val="200000"/>
              </a:lnSpc>
            </a:pPr>
            <a:r>
              <a:rPr lang="en-US" dirty="0">
                <a:solidFill>
                  <a:srgbClr val="3A3A47"/>
                </a:solidFill>
              </a:rPr>
              <a:t>Memorandum of understanding (MOU)</a:t>
            </a:r>
          </a:p>
          <a:p>
            <a:pPr>
              <a:lnSpc>
                <a:spcPct val="200000"/>
              </a:lnSpc>
            </a:pPr>
            <a:r>
              <a:rPr lang="en-US" dirty="0">
                <a:solidFill>
                  <a:srgbClr val="3A3A47"/>
                </a:solidFill>
              </a:rPr>
              <a:t>Interconnection security agreement (ISA)</a:t>
            </a:r>
          </a:p>
        </p:txBody>
      </p:sp>
    </p:spTree>
    <p:extLst>
      <p:ext uri="{BB962C8B-B14F-4D97-AF65-F5344CB8AC3E}">
        <p14:creationId xmlns:p14="http://schemas.microsoft.com/office/powerpoint/2010/main" val="3447538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Compliance</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314037" y="849664"/>
            <a:ext cx="11877963" cy="5451234"/>
          </a:xfrm>
        </p:spPr>
        <p:txBody>
          <a:bodyPr>
            <a:normAutofit/>
          </a:bodyPr>
          <a:lstStyle/>
          <a:p>
            <a:pPr>
              <a:lnSpc>
                <a:spcPct val="200000"/>
              </a:lnSpc>
            </a:pPr>
            <a:r>
              <a:rPr lang="en-US" b="1" dirty="0">
                <a:solidFill>
                  <a:srgbClr val="3A3A47"/>
                </a:solidFill>
                <a:effectLst/>
              </a:rPr>
              <a:t>Definition</a:t>
            </a:r>
          </a:p>
          <a:p>
            <a:pPr lvl="1">
              <a:lnSpc>
                <a:spcPct val="200000"/>
              </a:lnSpc>
            </a:pPr>
            <a:r>
              <a:rPr lang="en-US" dirty="0">
                <a:solidFill>
                  <a:srgbClr val="3A3A47"/>
                </a:solidFill>
              </a:rPr>
              <a:t>The state or fact of according with or meeting rules or standards.</a:t>
            </a:r>
          </a:p>
          <a:p>
            <a:pPr lvl="1">
              <a:lnSpc>
                <a:spcPct val="200000"/>
              </a:lnSpc>
            </a:pPr>
            <a:r>
              <a:rPr lang="en-US" dirty="0">
                <a:solidFill>
                  <a:srgbClr val="3A3A47"/>
                </a:solidFill>
              </a:rPr>
              <a:t>Requires clear statements and unambiguous criteria</a:t>
            </a:r>
          </a:p>
          <a:p>
            <a:pPr>
              <a:lnSpc>
                <a:spcPct val="200000"/>
              </a:lnSpc>
            </a:pPr>
            <a:r>
              <a:rPr lang="en-US" b="1" dirty="0">
                <a:solidFill>
                  <a:srgbClr val="3A3A47"/>
                </a:solidFill>
                <a:effectLst/>
              </a:rPr>
              <a:t>Principles</a:t>
            </a:r>
          </a:p>
          <a:p>
            <a:pPr lvl="1">
              <a:lnSpc>
                <a:spcPct val="200000"/>
              </a:lnSpc>
            </a:pPr>
            <a:r>
              <a:rPr lang="en-US" dirty="0">
                <a:solidFill>
                  <a:srgbClr val="3A3A47"/>
                </a:solidFill>
                <a:effectLst/>
              </a:rPr>
              <a:t>Adherence to criteria of operations</a:t>
            </a:r>
          </a:p>
          <a:p>
            <a:pPr lvl="1">
              <a:lnSpc>
                <a:spcPct val="200000"/>
              </a:lnSpc>
            </a:pPr>
            <a:r>
              <a:rPr lang="en-US" dirty="0">
                <a:solidFill>
                  <a:srgbClr val="3A3A47"/>
                </a:solidFill>
                <a:effectLst/>
              </a:rPr>
              <a:t>Requires details pertaining to different aspects of governance and operations</a:t>
            </a:r>
          </a:p>
          <a:p>
            <a:pPr lvl="1">
              <a:lnSpc>
                <a:spcPct val="200000"/>
              </a:lnSpc>
            </a:pPr>
            <a:r>
              <a:rPr lang="en-US" dirty="0">
                <a:solidFill>
                  <a:srgbClr val="3A3A47"/>
                </a:solidFill>
              </a:rPr>
              <a:t>Can be regulatory, legal, contractual, or policy-based</a:t>
            </a:r>
          </a:p>
          <a:p>
            <a:pPr lvl="1">
              <a:lnSpc>
                <a:spcPct val="200000"/>
              </a:lnSpc>
            </a:pPr>
            <a:r>
              <a:rPr lang="en-US" dirty="0">
                <a:solidFill>
                  <a:srgbClr val="3A3A47"/>
                </a:solidFill>
                <a:effectLst/>
              </a:rPr>
              <a:t>Bottom-line is to provide common perspective and baseline practices</a:t>
            </a:r>
          </a:p>
        </p:txBody>
      </p:sp>
    </p:spTree>
    <p:extLst>
      <p:ext uri="{BB962C8B-B14F-4D97-AF65-F5344CB8AC3E}">
        <p14:creationId xmlns:p14="http://schemas.microsoft.com/office/powerpoint/2010/main" val="122108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Ensuring Compliance</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314037" y="557102"/>
            <a:ext cx="11877963" cy="5743796"/>
          </a:xfrm>
        </p:spPr>
        <p:txBody>
          <a:bodyPr>
            <a:normAutofit fontScale="92500" lnSpcReduction="20000"/>
          </a:bodyPr>
          <a:lstStyle/>
          <a:p>
            <a:pPr>
              <a:lnSpc>
                <a:spcPct val="200000"/>
              </a:lnSpc>
            </a:pPr>
            <a:r>
              <a:rPr lang="en-US" b="1" dirty="0">
                <a:solidFill>
                  <a:srgbClr val="3A3A47"/>
                </a:solidFill>
                <a:effectLst/>
              </a:rPr>
              <a:t>Event logs </a:t>
            </a:r>
          </a:p>
          <a:p>
            <a:pPr lvl="1">
              <a:lnSpc>
                <a:spcPct val="200000"/>
              </a:lnSpc>
            </a:pPr>
            <a:r>
              <a:rPr lang="en-US" dirty="0">
                <a:solidFill>
                  <a:srgbClr val="3A3A47"/>
                </a:solidFill>
                <a:effectLst/>
              </a:rPr>
              <a:t>Record of actions taken on systems</a:t>
            </a:r>
          </a:p>
          <a:p>
            <a:pPr lvl="1">
              <a:lnSpc>
                <a:spcPct val="200000"/>
              </a:lnSpc>
            </a:pPr>
            <a:r>
              <a:rPr lang="en-US" dirty="0">
                <a:solidFill>
                  <a:srgbClr val="3A3A47"/>
                </a:solidFill>
                <a:effectLst/>
              </a:rPr>
              <a:t>Very useful to detect incidents and intrusion in the early stages</a:t>
            </a:r>
          </a:p>
          <a:p>
            <a:pPr lvl="1">
              <a:lnSpc>
                <a:spcPct val="200000"/>
              </a:lnSpc>
            </a:pPr>
            <a:r>
              <a:rPr lang="en-US" dirty="0">
                <a:solidFill>
                  <a:srgbClr val="3A3A47"/>
                </a:solidFill>
              </a:rPr>
              <a:t>Requires proper fine-tuning</a:t>
            </a:r>
            <a:endParaRPr lang="en-US" dirty="0">
              <a:solidFill>
                <a:srgbClr val="3A3A47"/>
              </a:solidFill>
              <a:effectLst/>
            </a:endParaRPr>
          </a:p>
          <a:p>
            <a:pPr>
              <a:lnSpc>
                <a:spcPct val="200000"/>
              </a:lnSpc>
            </a:pPr>
            <a:r>
              <a:rPr lang="en-US" b="1" dirty="0">
                <a:solidFill>
                  <a:srgbClr val="3A3A47"/>
                </a:solidFill>
                <a:effectLst/>
              </a:rPr>
              <a:t>Compliance liaison </a:t>
            </a:r>
          </a:p>
          <a:p>
            <a:pPr lvl="1">
              <a:lnSpc>
                <a:spcPct val="200000"/>
              </a:lnSpc>
            </a:pPr>
            <a:r>
              <a:rPr lang="en-US" dirty="0">
                <a:solidFill>
                  <a:srgbClr val="3A3A47"/>
                </a:solidFill>
              </a:rPr>
              <a:t>Monitors and reports on adherence to company policies</a:t>
            </a:r>
          </a:p>
          <a:p>
            <a:pPr lvl="1">
              <a:lnSpc>
                <a:spcPct val="200000"/>
              </a:lnSpc>
            </a:pPr>
            <a:r>
              <a:rPr lang="en-US" dirty="0">
                <a:solidFill>
                  <a:srgbClr val="3A3A47"/>
                </a:solidFill>
                <a:effectLst/>
              </a:rPr>
              <a:t>Assists in understanding of compliance requirements, and provides necessary training </a:t>
            </a:r>
          </a:p>
          <a:p>
            <a:pPr>
              <a:lnSpc>
                <a:spcPct val="200000"/>
              </a:lnSpc>
            </a:pPr>
            <a:r>
              <a:rPr lang="en-US" b="1" dirty="0">
                <a:solidFill>
                  <a:srgbClr val="3A3A47"/>
                </a:solidFill>
                <a:effectLst/>
              </a:rPr>
              <a:t>Remediation</a:t>
            </a:r>
          </a:p>
          <a:p>
            <a:pPr lvl="1">
              <a:lnSpc>
                <a:spcPct val="200000"/>
              </a:lnSpc>
            </a:pPr>
            <a:r>
              <a:rPr lang="en-US" dirty="0">
                <a:solidFill>
                  <a:srgbClr val="3A3A47"/>
                </a:solidFill>
                <a:effectLst/>
              </a:rPr>
              <a:t>Helps in mitigating risks and responding to incidents should they occur</a:t>
            </a:r>
          </a:p>
          <a:p>
            <a:pPr lvl="1">
              <a:lnSpc>
                <a:spcPct val="200000"/>
              </a:lnSpc>
            </a:pPr>
            <a:r>
              <a:rPr lang="en-US" dirty="0">
                <a:solidFill>
                  <a:srgbClr val="3A3A47"/>
                </a:solidFill>
              </a:rPr>
              <a:t>Monitors and responds to vulnerabilities which could affect the environment</a:t>
            </a:r>
            <a:endParaRPr lang="en-US" dirty="0">
              <a:solidFill>
                <a:srgbClr val="3A3A47"/>
              </a:solidFill>
              <a:effectLst/>
            </a:endParaRPr>
          </a:p>
        </p:txBody>
      </p:sp>
    </p:spTree>
    <p:extLst>
      <p:ext uri="{BB962C8B-B14F-4D97-AF65-F5344CB8AC3E}">
        <p14:creationId xmlns:p14="http://schemas.microsoft.com/office/powerpoint/2010/main" val="2128364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Professional Ethics</a:t>
            </a:r>
            <a:endParaRPr lang="en-US" sz="2800" i="1" dirty="0">
              <a:effectLst/>
              <a:latin typeface="+mj-lt"/>
            </a:endParaRP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314037" y="736940"/>
            <a:ext cx="11877963" cy="5743796"/>
          </a:xfrm>
        </p:spPr>
        <p:txBody>
          <a:bodyPr>
            <a:normAutofit/>
          </a:bodyPr>
          <a:lstStyle/>
          <a:p>
            <a:pPr>
              <a:lnSpc>
                <a:spcPct val="200000"/>
              </a:lnSpc>
            </a:pPr>
            <a:r>
              <a:rPr lang="en-US" b="1" dirty="0">
                <a:solidFill>
                  <a:srgbClr val="3A3A47"/>
                </a:solidFill>
                <a:effectLst/>
              </a:rPr>
              <a:t>Set the example— </a:t>
            </a:r>
            <a:r>
              <a:rPr lang="en-US" dirty="0">
                <a:solidFill>
                  <a:srgbClr val="3A3A47"/>
                </a:solidFill>
                <a:effectLst/>
              </a:rPr>
              <a:t>Security professionals must demonstrate strong ethical principles in their daily activities so that users will follow their lead. </a:t>
            </a:r>
          </a:p>
          <a:p>
            <a:pPr>
              <a:lnSpc>
                <a:spcPct val="200000"/>
              </a:lnSpc>
            </a:pPr>
            <a:r>
              <a:rPr lang="en-US" b="1" dirty="0">
                <a:solidFill>
                  <a:srgbClr val="3A3A47"/>
                </a:solidFill>
                <a:effectLst/>
              </a:rPr>
              <a:t>Encourage adopting ethical guidelines and standards—</a:t>
            </a:r>
            <a:r>
              <a:rPr lang="en-US" dirty="0">
                <a:solidFill>
                  <a:srgbClr val="3A3A47"/>
                </a:solidFill>
                <a:effectLst/>
              </a:rPr>
              <a:t>Security professionals must know their ethical boundaries and set an example by adhering to them, </a:t>
            </a:r>
          </a:p>
          <a:p>
            <a:pPr>
              <a:lnSpc>
                <a:spcPct val="200000"/>
              </a:lnSpc>
            </a:pPr>
            <a:r>
              <a:rPr lang="en-US" b="1" dirty="0">
                <a:solidFill>
                  <a:srgbClr val="3A3A47"/>
                </a:solidFill>
                <a:effectLst/>
              </a:rPr>
              <a:t>Inform users through security awareness training—</a:t>
            </a:r>
            <a:r>
              <a:rPr lang="en-US" dirty="0">
                <a:solidFill>
                  <a:srgbClr val="3A3A47"/>
                </a:solidFill>
                <a:effectLst/>
              </a:rPr>
              <a:t>Security professionals must ensure that users are aware of and understand their ethical responsibilities.</a:t>
            </a:r>
          </a:p>
          <a:p>
            <a:pPr>
              <a:lnSpc>
                <a:spcPct val="200000"/>
              </a:lnSpc>
            </a:pPr>
            <a:endParaRPr lang="en-US" dirty="0">
              <a:solidFill>
                <a:srgbClr val="3A3A47"/>
              </a:solidFill>
              <a:effectLst/>
            </a:endParaRPr>
          </a:p>
        </p:txBody>
      </p:sp>
    </p:spTree>
    <p:extLst>
      <p:ext uri="{BB962C8B-B14F-4D97-AF65-F5344CB8AC3E}">
        <p14:creationId xmlns:p14="http://schemas.microsoft.com/office/powerpoint/2010/main" val="1773929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Personnel Security Principles</a:t>
            </a: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1043709" y="736940"/>
            <a:ext cx="11148291" cy="5743796"/>
          </a:xfrm>
        </p:spPr>
        <p:txBody>
          <a:bodyPr numCol="2">
            <a:normAutofit/>
          </a:bodyPr>
          <a:lstStyle/>
          <a:p>
            <a:pPr>
              <a:lnSpc>
                <a:spcPct val="200000"/>
              </a:lnSpc>
            </a:pPr>
            <a:r>
              <a:rPr lang="en-US" b="1" dirty="0">
                <a:solidFill>
                  <a:srgbClr val="3A3A47"/>
                </a:solidFill>
                <a:effectLst/>
              </a:rPr>
              <a:t>Limiting Access </a:t>
            </a:r>
            <a:endParaRPr lang="en-US" dirty="0">
              <a:solidFill>
                <a:srgbClr val="3A3A47"/>
              </a:solidFill>
              <a:effectLst/>
            </a:endParaRPr>
          </a:p>
          <a:p>
            <a:pPr>
              <a:lnSpc>
                <a:spcPct val="200000"/>
              </a:lnSpc>
            </a:pPr>
            <a:r>
              <a:rPr lang="en-US" dirty="0">
                <a:solidFill>
                  <a:srgbClr val="3A3A47"/>
                </a:solidFill>
                <a:effectLst/>
              </a:rPr>
              <a:t>Separation of Duties</a:t>
            </a:r>
          </a:p>
          <a:p>
            <a:pPr>
              <a:lnSpc>
                <a:spcPct val="200000"/>
              </a:lnSpc>
            </a:pPr>
            <a:r>
              <a:rPr lang="en-US" dirty="0">
                <a:solidFill>
                  <a:srgbClr val="3A3A47"/>
                </a:solidFill>
                <a:effectLst/>
              </a:rPr>
              <a:t>Job Rotation</a:t>
            </a:r>
          </a:p>
          <a:p>
            <a:pPr>
              <a:lnSpc>
                <a:spcPct val="200000"/>
              </a:lnSpc>
            </a:pPr>
            <a:r>
              <a:rPr lang="en-US" dirty="0">
                <a:solidFill>
                  <a:srgbClr val="3A3A47"/>
                </a:solidFill>
                <a:effectLst/>
              </a:rPr>
              <a:t>Mandatory Vacations</a:t>
            </a:r>
          </a:p>
          <a:p>
            <a:pPr>
              <a:lnSpc>
                <a:spcPct val="200000"/>
              </a:lnSpc>
            </a:pPr>
            <a:r>
              <a:rPr lang="en-US" dirty="0">
                <a:solidFill>
                  <a:srgbClr val="3A3A47"/>
                </a:solidFill>
                <a:effectLst/>
              </a:rPr>
              <a:t>Security Training</a:t>
            </a:r>
          </a:p>
          <a:p>
            <a:pPr>
              <a:lnSpc>
                <a:spcPct val="200000"/>
              </a:lnSpc>
            </a:pPr>
            <a:r>
              <a:rPr lang="en-US" dirty="0">
                <a:solidFill>
                  <a:srgbClr val="3A3A47"/>
                </a:solidFill>
                <a:effectLst/>
              </a:rPr>
              <a:t>Security Awareness</a:t>
            </a:r>
          </a:p>
          <a:p>
            <a:pPr>
              <a:lnSpc>
                <a:spcPct val="200000"/>
              </a:lnSpc>
            </a:pPr>
            <a:endParaRPr lang="en-US" dirty="0">
              <a:solidFill>
                <a:srgbClr val="3A3A47"/>
              </a:solidFill>
              <a:effectLst/>
            </a:endParaRPr>
          </a:p>
          <a:p>
            <a:pPr>
              <a:lnSpc>
                <a:spcPct val="200000"/>
              </a:lnSpc>
            </a:pPr>
            <a:r>
              <a:rPr lang="en-US" dirty="0">
                <a:solidFill>
                  <a:srgbClr val="3A3A47"/>
                </a:solidFill>
                <a:effectLst/>
              </a:rPr>
              <a:t>Social Engineering</a:t>
            </a:r>
            <a:endParaRPr lang="en-US" dirty="0">
              <a:solidFill>
                <a:srgbClr val="3A3A47"/>
              </a:solidFill>
            </a:endParaRPr>
          </a:p>
          <a:p>
            <a:pPr lvl="1">
              <a:lnSpc>
                <a:spcPct val="200000"/>
              </a:lnSpc>
            </a:pPr>
            <a:r>
              <a:rPr lang="en-US" dirty="0">
                <a:solidFill>
                  <a:srgbClr val="3A3A47"/>
                </a:solidFill>
                <a:effectLst/>
              </a:rPr>
              <a:t>Intimidation</a:t>
            </a:r>
          </a:p>
          <a:p>
            <a:pPr lvl="1">
              <a:lnSpc>
                <a:spcPct val="200000"/>
              </a:lnSpc>
            </a:pPr>
            <a:r>
              <a:rPr lang="en-US" dirty="0">
                <a:solidFill>
                  <a:srgbClr val="3A3A47"/>
                </a:solidFill>
                <a:effectLst/>
              </a:rPr>
              <a:t>Name-dropping</a:t>
            </a:r>
            <a:endParaRPr lang="en-US" dirty="0">
              <a:solidFill>
                <a:srgbClr val="3A3A47"/>
              </a:solidFill>
            </a:endParaRPr>
          </a:p>
          <a:p>
            <a:pPr lvl="1">
              <a:lnSpc>
                <a:spcPct val="200000"/>
              </a:lnSpc>
            </a:pPr>
            <a:r>
              <a:rPr lang="en-US" dirty="0">
                <a:solidFill>
                  <a:srgbClr val="3A3A47"/>
                </a:solidFill>
                <a:effectLst/>
              </a:rPr>
              <a:t>Appeals for help</a:t>
            </a:r>
          </a:p>
          <a:p>
            <a:pPr lvl="1">
              <a:lnSpc>
                <a:spcPct val="200000"/>
              </a:lnSpc>
            </a:pPr>
            <a:r>
              <a:rPr lang="en-US" dirty="0">
                <a:solidFill>
                  <a:srgbClr val="3A3A47"/>
                </a:solidFill>
                <a:effectLst/>
              </a:rPr>
              <a:t>Phishing</a:t>
            </a:r>
          </a:p>
        </p:txBody>
      </p:sp>
    </p:spTree>
    <p:extLst>
      <p:ext uri="{BB962C8B-B14F-4D97-AF65-F5344CB8AC3E}">
        <p14:creationId xmlns:p14="http://schemas.microsoft.com/office/powerpoint/2010/main" val="283015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Organizational Security Policy</a:t>
            </a:r>
          </a:p>
        </p:txBody>
      </p:sp>
      <p:pic>
        <p:nvPicPr>
          <p:cNvPr id="8" name="Picture 7" descr="A close-up of a diagram&#10;&#10;Description automatically generated">
            <a:extLst>
              <a:ext uri="{FF2B5EF4-FFF2-40B4-BE49-F238E27FC236}">
                <a16:creationId xmlns:a16="http://schemas.microsoft.com/office/drawing/2014/main" id="{D6F6B786-CD3A-D127-3EE8-0505A44AF2F8}"/>
              </a:ext>
            </a:extLst>
          </p:cNvPr>
          <p:cNvPicPr>
            <a:picLocks noChangeAspect="1"/>
          </p:cNvPicPr>
          <p:nvPr/>
        </p:nvPicPr>
        <p:blipFill>
          <a:blip r:embed="rId2"/>
          <a:stretch>
            <a:fillRect/>
          </a:stretch>
        </p:blipFill>
        <p:spPr>
          <a:xfrm>
            <a:off x="1134297" y="1368136"/>
            <a:ext cx="9841616" cy="3698716"/>
          </a:xfrm>
          <a:prstGeom prst="rect">
            <a:avLst/>
          </a:prstGeom>
        </p:spPr>
      </p:pic>
    </p:spTree>
    <p:extLst>
      <p:ext uri="{BB962C8B-B14F-4D97-AF65-F5344CB8AC3E}">
        <p14:creationId xmlns:p14="http://schemas.microsoft.com/office/powerpoint/2010/main" val="98807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Organizational Security Policy</a:t>
            </a:r>
          </a:p>
        </p:txBody>
      </p:sp>
      <p:pic>
        <p:nvPicPr>
          <p:cNvPr id="3" name="Picture 2" descr="A close-up of a security message&#10;&#10;Description automatically generated">
            <a:extLst>
              <a:ext uri="{FF2B5EF4-FFF2-40B4-BE49-F238E27FC236}">
                <a16:creationId xmlns:a16="http://schemas.microsoft.com/office/drawing/2014/main" id="{3C927623-18E1-E7CD-D3D6-620673219695}"/>
              </a:ext>
            </a:extLst>
          </p:cNvPr>
          <p:cNvPicPr>
            <a:picLocks noChangeAspect="1"/>
          </p:cNvPicPr>
          <p:nvPr/>
        </p:nvPicPr>
        <p:blipFill>
          <a:blip r:embed="rId2"/>
          <a:stretch>
            <a:fillRect/>
          </a:stretch>
        </p:blipFill>
        <p:spPr>
          <a:xfrm>
            <a:off x="628072" y="908627"/>
            <a:ext cx="6064383" cy="1215737"/>
          </a:xfrm>
          <a:prstGeom prst="rect">
            <a:avLst/>
          </a:prstGeom>
        </p:spPr>
      </p:pic>
      <p:pic>
        <p:nvPicPr>
          <p:cNvPr id="7" name="Picture 6" descr="A screen shot of a computer&#10;&#10;Description automatically generated">
            <a:extLst>
              <a:ext uri="{FF2B5EF4-FFF2-40B4-BE49-F238E27FC236}">
                <a16:creationId xmlns:a16="http://schemas.microsoft.com/office/drawing/2014/main" id="{154F3503-DF6F-7FA1-D265-ED340EF406D9}"/>
              </a:ext>
            </a:extLst>
          </p:cNvPr>
          <p:cNvPicPr>
            <a:picLocks noChangeAspect="1"/>
          </p:cNvPicPr>
          <p:nvPr/>
        </p:nvPicPr>
        <p:blipFill>
          <a:blip r:embed="rId3"/>
          <a:stretch>
            <a:fillRect/>
          </a:stretch>
        </p:blipFill>
        <p:spPr>
          <a:xfrm>
            <a:off x="3377045" y="1967345"/>
            <a:ext cx="5437909" cy="2661512"/>
          </a:xfrm>
          <a:prstGeom prst="rect">
            <a:avLst/>
          </a:prstGeom>
        </p:spPr>
      </p:pic>
      <p:pic>
        <p:nvPicPr>
          <p:cNvPr id="10" name="Picture 9" descr="A diagram of a support mechanism&#10;&#10;Description automatically generated with medium confidence">
            <a:extLst>
              <a:ext uri="{FF2B5EF4-FFF2-40B4-BE49-F238E27FC236}">
                <a16:creationId xmlns:a16="http://schemas.microsoft.com/office/drawing/2014/main" id="{42FEA935-8120-7DC5-C3D4-B31D6D8D1F9E}"/>
              </a:ext>
            </a:extLst>
          </p:cNvPr>
          <p:cNvPicPr>
            <a:picLocks noChangeAspect="1"/>
          </p:cNvPicPr>
          <p:nvPr/>
        </p:nvPicPr>
        <p:blipFill>
          <a:blip r:embed="rId4"/>
          <a:stretch>
            <a:fillRect/>
          </a:stretch>
        </p:blipFill>
        <p:spPr>
          <a:xfrm>
            <a:off x="6841042" y="4535055"/>
            <a:ext cx="5350958" cy="2322945"/>
          </a:xfrm>
          <a:prstGeom prst="rect">
            <a:avLst/>
          </a:prstGeom>
        </p:spPr>
      </p:pic>
      <p:sp>
        <p:nvSpPr>
          <p:cNvPr id="13" name="Left-Up Arrow 12">
            <a:extLst>
              <a:ext uri="{FF2B5EF4-FFF2-40B4-BE49-F238E27FC236}">
                <a16:creationId xmlns:a16="http://schemas.microsoft.com/office/drawing/2014/main" id="{9B8A345D-2279-D843-434C-D66D7756514B}"/>
              </a:ext>
            </a:extLst>
          </p:cNvPr>
          <p:cNvSpPr/>
          <p:nvPr/>
        </p:nvSpPr>
        <p:spPr>
          <a:xfrm rot="5400000">
            <a:off x="1791854" y="2596668"/>
            <a:ext cx="775854" cy="888811"/>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M"/>
          </a:p>
        </p:txBody>
      </p:sp>
      <p:sp>
        <p:nvSpPr>
          <p:cNvPr id="14" name="Left-Up Arrow 13">
            <a:extLst>
              <a:ext uri="{FF2B5EF4-FFF2-40B4-BE49-F238E27FC236}">
                <a16:creationId xmlns:a16="http://schemas.microsoft.com/office/drawing/2014/main" id="{59729E97-ADDC-C363-14FD-DC07ADB81352}"/>
              </a:ext>
            </a:extLst>
          </p:cNvPr>
          <p:cNvSpPr/>
          <p:nvPr/>
        </p:nvSpPr>
        <p:spPr>
          <a:xfrm rot="5400000">
            <a:off x="5541820" y="5117760"/>
            <a:ext cx="775854" cy="888811"/>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M"/>
          </a:p>
        </p:txBody>
      </p:sp>
    </p:spTree>
    <p:extLst>
      <p:ext uri="{BB962C8B-B14F-4D97-AF65-F5344CB8AC3E}">
        <p14:creationId xmlns:p14="http://schemas.microsoft.com/office/powerpoint/2010/main" val="3436365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Data Classification</a:t>
            </a:r>
          </a:p>
        </p:txBody>
      </p:sp>
      <p:sp>
        <p:nvSpPr>
          <p:cNvPr id="8" name="Content Placeholder 6">
            <a:extLst>
              <a:ext uri="{FF2B5EF4-FFF2-40B4-BE49-F238E27FC236}">
                <a16:creationId xmlns:a16="http://schemas.microsoft.com/office/drawing/2014/main" id="{25E0AB0A-3BCB-47F2-03C2-64414004A0C4}"/>
              </a:ext>
            </a:extLst>
          </p:cNvPr>
          <p:cNvSpPr>
            <a:spLocks noGrp="1"/>
          </p:cNvSpPr>
          <p:nvPr>
            <p:ph idx="1"/>
          </p:nvPr>
        </p:nvSpPr>
        <p:spPr>
          <a:xfrm>
            <a:off x="683491" y="942108"/>
            <a:ext cx="10954327" cy="5538627"/>
          </a:xfrm>
        </p:spPr>
        <p:txBody>
          <a:bodyPr numCol="2">
            <a:normAutofit/>
          </a:bodyPr>
          <a:lstStyle/>
          <a:p>
            <a:pPr>
              <a:lnSpc>
                <a:spcPct val="200000"/>
              </a:lnSpc>
            </a:pPr>
            <a:r>
              <a:rPr lang="en-US" b="1" dirty="0">
                <a:solidFill>
                  <a:srgbClr val="3A3A47"/>
                </a:solidFill>
                <a:effectLst/>
              </a:rPr>
              <a:t>Value</a:t>
            </a:r>
          </a:p>
          <a:p>
            <a:pPr lvl="1">
              <a:lnSpc>
                <a:spcPct val="200000"/>
              </a:lnSpc>
            </a:pPr>
            <a:r>
              <a:rPr lang="en-US" dirty="0">
                <a:solidFill>
                  <a:srgbClr val="3A3A47"/>
                </a:solidFill>
              </a:rPr>
              <a:t>Value to the organization;</a:t>
            </a:r>
          </a:p>
          <a:p>
            <a:pPr lvl="1">
              <a:lnSpc>
                <a:spcPct val="200000"/>
              </a:lnSpc>
            </a:pPr>
            <a:r>
              <a:rPr lang="en-US" dirty="0">
                <a:solidFill>
                  <a:srgbClr val="3A3A47"/>
                </a:solidFill>
              </a:rPr>
              <a:t>Value to competitors;</a:t>
            </a:r>
          </a:p>
          <a:p>
            <a:pPr lvl="1">
              <a:lnSpc>
                <a:spcPct val="200000"/>
              </a:lnSpc>
            </a:pPr>
            <a:r>
              <a:rPr lang="en-US" dirty="0">
                <a:solidFill>
                  <a:srgbClr val="3A3A47"/>
                </a:solidFill>
              </a:rPr>
              <a:t>Cost of replacement or loss; </a:t>
            </a:r>
          </a:p>
          <a:p>
            <a:pPr lvl="1">
              <a:lnSpc>
                <a:spcPct val="200000"/>
              </a:lnSpc>
            </a:pPr>
            <a:r>
              <a:rPr lang="en-US" dirty="0">
                <a:solidFill>
                  <a:srgbClr val="3A3A47"/>
                </a:solidFill>
              </a:rPr>
              <a:t>Value to the organization’s reputation.</a:t>
            </a:r>
          </a:p>
          <a:p>
            <a:pPr>
              <a:lnSpc>
                <a:spcPct val="200000"/>
              </a:lnSpc>
            </a:pPr>
            <a:r>
              <a:rPr lang="en-US" b="1" dirty="0">
                <a:solidFill>
                  <a:srgbClr val="3A3A47"/>
                </a:solidFill>
              </a:rPr>
              <a:t>Sensitivity</a:t>
            </a:r>
          </a:p>
          <a:p>
            <a:pPr lvl="1">
              <a:lnSpc>
                <a:spcPct val="200000"/>
              </a:lnSpc>
            </a:pPr>
            <a:r>
              <a:rPr lang="en-US" dirty="0">
                <a:solidFill>
                  <a:srgbClr val="3A3A47"/>
                </a:solidFill>
              </a:rPr>
              <a:t> Liability or fines, reputation, credibility, or loss of market share.</a:t>
            </a:r>
          </a:p>
          <a:p>
            <a:pPr>
              <a:lnSpc>
                <a:spcPct val="200000"/>
              </a:lnSpc>
            </a:pPr>
            <a:r>
              <a:rPr lang="en-US" b="1" dirty="0">
                <a:solidFill>
                  <a:srgbClr val="3A3A47"/>
                </a:solidFill>
              </a:rPr>
              <a:t>Criticality</a:t>
            </a:r>
          </a:p>
          <a:p>
            <a:pPr lvl="1">
              <a:lnSpc>
                <a:spcPct val="200000"/>
              </a:lnSpc>
            </a:pPr>
            <a:r>
              <a:rPr lang="en-US" dirty="0">
                <a:solidFill>
                  <a:srgbClr val="3A3A47"/>
                </a:solidFill>
              </a:rPr>
              <a:t>Importance of the information to the mission of the organization</a:t>
            </a:r>
          </a:p>
        </p:txBody>
      </p:sp>
    </p:spTree>
    <p:extLst>
      <p:ext uri="{BB962C8B-B14F-4D97-AF65-F5344CB8AC3E}">
        <p14:creationId xmlns:p14="http://schemas.microsoft.com/office/powerpoint/2010/main" val="3200594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Data Classification Levels</a:t>
            </a:r>
          </a:p>
        </p:txBody>
      </p:sp>
      <p:sp>
        <p:nvSpPr>
          <p:cNvPr id="3" name="Content Placeholder 2">
            <a:extLst>
              <a:ext uri="{FF2B5EF4-FFF2-40B4-BE49-F238E27FC236}">
                <a16:creationId xmlns:a16="http://schemas.microsoft.com/office/drawing/2014/main" id="{5649097B-7133-621A-FABC-0A7305D1341E}"/>
              </a:ext>
            </a:extLst>
          </p:cNvPr>
          <p:cNvSpPr>
            <a:spLocks noGrp="1"/>
          </p:cNvSpPr>
          <p:nvPr>
            <p:ph idx="1"/>
          </p:nvPr>
        </p:nvSpPr>
        <p:spPr/>
        <p:txBody>
          <a:bodyPr/>
          <a:lstStyle/>
          <a:p>
            <a:endParaRPr lang="en-CM"/>
          </a:p>
        </p:txBody>
      </p:sp>
      <p:pic>
        <p:nvPicPr>
          <p:cNvPr id="1026" name="Picture 2" descr="Data Classification Levels">
            <a:extLst>
              <a:ext uri="{FF2B5EF4-FFF2-40B4-BE49-F238E27FC236}">
                <a16:creationId xmlns:a16="http://schemas.microsoft.com/office/drawing/2014/main" id="{9579D4C5-AD29-82F8-7AF4-73DC45517B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753" y="881696"/>
            <a:ext cx="10050308" cy="5628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661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Configuration Management</a:t>
            </a:r>
          </a:p>
        </p:txBody>
      </p:sp>
      <p:sp>
        <p:nvSpPr>
          <p:cNvPr id="8" name="Content Placeholder 6">
            <a:extLst>
              <a:ext uri="{FF2B5EF4-FFF2-40B4-BE49-F238E27FC236}">
                <a16:creationId xmlns:a16="http://schemas.microsoft.com/office/drawing/2014/main" id="{25E0AB0A-3BCB-47F2-03C2-64414004A0C4}"/>
              </a:ext>
            </a:extLst>
          </p:cNvPr>
          <p:cNvSpPr>
            <a:spLocks noGrp="1"/>
          </p:cNvSpPr>
          <p:nvPr>
            <p:ph idx="1"/>
          </p:nvPr>
        </p:nvSpPr>
        <p:spPr>
          <a:xfrm>
            <a:off x="683491" y="942108"/>
            <a:ext cx="10954327" cy="5538627"/>
          </a:xfrm>
        </p:spPr>
        <p:txBody>
          <a:bodyPr numCol="1">
            <a:normAutofit/>
          </a:bodyPr>
          <a:lstStyle/>
          <a:p>
            <a:pPr>
              <a:lnSpc>
                <a:spcPct val="200000"/>
              </a:lnSpc>
            </a:pPr>
            <a:r>
              <a:rPr lang="en-US" dirty="0">
                <a:solidFill>
                  <a:srgbClr val="3A3A47"/>
                </a:solidFill>
                <a:effectLst/>
              </a:rPr>
              <a:t>Implement a standard naming convention consists of well-defined labels that indicate a component’s function and perhaps even location</a:t>
            </a:r>
          </a:p>
          <a:p>
            <a:pPr>
              <a:lnSpc>
                <a:spcPct val="200000"/>
              </a:lnSpc>
            </a:pPr>
            <a:r>
              <a:rPr lang="en-US" dirty="0">
                <a:solidFill>
                  <a:srgbClr val="3A3A47"/>
                </a:solidFill>
              </a:rPr>
              <a:t>Maintain an up-to-date layout of the configuration of all hardware components </a:t>
            </a:r>
          </a:p>
          <a:p>
            <a:pPr>
              <a:lnSpc>
                <a:spcPct val="200000"/>
              </a:lnSpc>
            </a:pPr>
            <a:r>
              <a:rPr lang="en-US">
                <a:solidFill>
                  <a:srgbClr val="3A3A47"/>
                </a:solidFill>
                <a:effectLst/>
              </a:rPr>
              <a:t>Keep copies </a:t>
            </a:r>
            <a:r>
              <a:rPr lang="en-US" dirty="0">
                <a:solidFill>
                  <a:srgbClr val="3A3A47"/>
                </a:solidFill>
                <a:effectLst/>
              </a:rPr>
              <a:t>of all software configurations so that you can examine changes </a:t>
            </a:r>
            <a:r>
              <a:rPr lang="en-US" dirty="0">
                <a:solidFill>
                  <a:srgbClr val="3A3A47"/>
                </a:solidFill>
              </a:rPr>
              <a:t>and planned updates</a:t>
            </a:r>
            <a:endParaRPr lang="en-US" dirty="0">
              <a:solidFill>
                <a:srgbClr val="3A3A47"/>
              </a:solidFill>
              <a:effectLst/>
            </a:endParaRPr>
          </a:p>
          <a:p>
            <a:pPr>
              <a:lnSpc>
                <a:spcPct val="200000"/>
              </a:lnSpc>
            </a:pPr>
            <a:endParaRPr lang="en-US" dirty="0">
              <a:solidFill>
                <a:srgbClr val="3A3A47"/>
              </a:solidFill>
            </a:endParaRPr>
          </a:p>
        </p:txBody>
      </p:sp>
    </p:spTree>
    <p:extLst>
      <p:ext uri="{BB962C8B-B14F-4D97-AF65-F5344CB8AC3E}">
        <p14:creationId xmlns:p14="http://schemas.microsoft.com/office/powerpoint/2010/main" val="3846404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The Change Management Process</a:t>
            </a:r>
          </a:p>
        </p:txBody>
      </p:sp>
      <p:pic>
        <p:nvPicPr>
          <p:cNvPr id="7" name="Picture 6" descr="A diagram of a process&#10;&#10;Description automatically generated">
            <a:extLst>
              <a:ext uri="{FF2B5EF4-FFF2-40B4-BE49-F238E27FC236}">
                <a16:creationId xmlns:a16="http://schemas.microsoft.com/office/drawing/2014/main" id="{4F8CE902-D418-DE3B-9E75-7106259EDBC7}"/>
              </a:ext>
            </a:extLst>
          </p:cNvPr>
          <p:cNvPicPr>
            <a:picLocks noChangeAspect="1"/>
          </p:cNvPicPr>
          <p:nvPr/>
        </p:nvPicPr>
        <p:blipFill>
          <a:blip r:embed="rId2"/>
          <a:stretch>
            <a:fillRect/>
          </a:stretch>
        </p:blipFill>
        <p:spPr>
          <a:xfrm>
            <a:off x="406400" y="2057400"/>
            <a:ext cx="11591170" cy="2794299"/>
          </a:xfrm>
          <a:prstGeom prst="rect">
            <a:avLst/>
          </a:prstGeom>
        </p:spPr>
      </p:pic>
    </p:spTree>
    <p:extLst>
      <p:ext uri="{BB962C8B-B14F-4D97-AF65-F5344CB8AC3E}">
        <p14:creationId xmlns:p14="http://schemas.microsoft.com/office/powerpoint/2010/main" val="2828320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7" y="184327"/>
            <a:ext cx="8277557" cy="523220"/>
          </a:xfrm>
          <a:prstGeom prst="rect">
            <a:avLst/>
          </a:prstGeom>
          <a:noFill/>
        </p:spPr>
        <p:txBody>
          <a:bodyPr wrap="square" rtlCol="0">
            <a:spAutoFit/>
          </a:bodyPr>
          <a:lstStyle/>
          <a:p>
            <a:r>
              <a:rPr lang="en-US" sz="2800" b="1" i="1" dirty="0">
                <a:solidFill>
                  <a:srgbClr val="3A3A47"/>
                </a:solidFill>
                <a:effectLst/>
                <a:latin typeface="+mj-lt"/>
              </a:rPr>
              <a:t>Application Software Security</a:t>
            </a:r>
            <a:endParaRPr lang="en-US" sz="2800" i="1" dirty="0">
              <a:effectLst/>
              <a:latin typeface="+mj-lt"/>
            </a:endParaRPr>
          </a:p>
        </p:txBody>
      </p:sp>
      <p:pic>
        <p:nvPicPr>
          <p:cNvPr id="3" name="Picture 2" descr="Diagram of a diagram of a system development&#10;&#10;Description automatically generated">
            <a:extLst>
              <a:ext uri="{FF2B5EF4-FFF2-40B4-BE49-F238E27FC236}">
                <a16:creationId xmlns:a16="http://schemas.microsoft.com/office/drawing/2014/main" id="{42D5FF2C-0340-B8E3-853B-190CFFD8D75B}"/>
              </a:ext>
            </a:extLst>
          </p:cNvPr>
          <p:cNvPicPr>
            <a:picLocks noChangeAspect="1"/>
          </p:cNvPicPr>
          <p:nvPr/>
        </p:nvPicPr>
        <p:blipFill>
          <a:blip r:embed="rId2"/>
          <a:stretch>
            <a:fillRect/>
          </a:stretch>
        </p:blipFill>
        <p:spPr>
          <a:xfrm>
            <a:off x="1134297" y="1022705"/>
            <a:ext cx="9625179" cy="4812590"/>
          </a:xfrm>
          <a:prstGeom prst="rect">
            <a:avLst/>
          </a:prstGeom>
        </p:spPr>
      </p:pic>
    </p:spTree>
    <p:extLst>
      <p:ext uri="{BB962C8B-B14F-4D97-AF65-F5344CB8AC3E}">
        <p14:creationId xmlns:p14="http://schemas.microsoft.com/office/powerpoint/2010/main" val="2880058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5" name="TextBox 4">
            <a:extLst>
              <a:ext uri="{FF2B5EF4-FFF2-40B4-BE49-F238E27FC236}">
                <a16:creationId xmlns:a16="http://schemas.microsoft.com/office/drawing/2014/main" id="{B8B85561-D3B5-6217-547E-92ADE9A3F8CB}"/>
              </a:ext>
            </a:extLst>
          </p:cNvPr>
          <p:cNvSpPr txBox="1"/>
          <p:nvPr/>
        </p:nvSpPr>
        <p:spPr>
          <a:xfrm>
            <a:off x="1134298" y="212035"/>
            <a:ext cx="7005850" cy="523220"/>
          </a:xfrm>
          <a:prstGeom prst="rect">
            <a:avLst/>
          </a:prstGeom>
          <a:noFill/>
        </p:spPr>
        <p:txBody>
          <a:bodyPr wrap="square" rtlCol="0">
            <a:spAutoFit/>
          </a:bodyPr>
          <a:lstStyle/>
          <a:p>
            <a:r>
              <a:rPr lang="en-US" sz="2800" b="1" i="1" dirty="0">
                <a:solidFill>
                  <a:srgbClr val="3A3A47"/>
                </a:solidFill>
                <a:effectLst/>
              </a:rPr>
              <a:t>Assignment</a:t>
            </a:r>
          </a:p>
        </p:txBody>
      </p:sp>
      <p:sp>
        <p:nvSpPr>
          <p:cNvPr id="7" name="Content Placeholder 6">
            <a:extLst>
              <a:ext uri="{FF2B5EF4-FFF2-40B4-BE49-F238E27FC236}">
                <a16:creationId xmlns:a16="http://schemas.microsoft.com/office/drawing/2014/main" id="{FB13C452-E550-79DE-30AC-A7FAFBF25D3F}"/>
              </a:ext>
            </a:extLst>
          </p:cNvPr>
          <p:cNvSpPr>
            <a:spLocks noGrp="1"/>
          </p:cNvSpPr>
          <p:nvPr>
            <p:ph idx="1"/>
          </p:nvPr>
        </p:nvSpPr>
        <p:spPr>
          <a:xfrm>
            <a:off x="957680" y="961806"/>
            <a:ext cx="10276640" cy="2658850"/>
          </a:xfrm>
        </p:spPr>
        <p:txBody>
          <a:bodyPr>
            <a:normAutofit/>
          </a:bodyPr>
          <a:lstStyle/>
          <a:p>
            <a:pPr>
              <a:lnSpc>
                <a:spcPct val="200000"/>
              </a:lnSpc>
            </a:pPr>
            <a:r>
              <a:rPr lang="en-US" dirty="0"/>
              <a:t>List and describe 5 defense mechanisms against malware.</a:t>
            </a:r>
          </a:p>
          <a:p>
            <a:pPr>
              <a:lnSpc>
                <a:spcPct val="200000"/>
              </a:lnSpc>
            </a:pPr>
            <a:r>
              <a:rPr lang="en-US" dirty="0"/>
              <a:t>Complete and submit assessment.</a:t>
            </a:r>
          </a:p>
          <a:p>
            <a:pPr>
              <a:lnSpc>
                <a:spcPct val="200000"/>
              </a:lnSpc>
            </a:pPr>
            <a:endParaRPr lang="en-CM" dirty="0"/>
          </a:p>
        </p:txBody>
      </p:sp>
    </p:spTree>
    <p:extLst>
      <p:ext uri="{BB962C8B-B14F-4D97-AF65-F5344CB8AC3E}">
        <p14:creationId xmlns:p14="http://schemas.microsoft.com/office/powerpoint/2010/main" val="1816243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5993F-58C6-6FEC-78A2-7B8844A3F597}"/>
              </a:ext>
            </a:extLst>
          </p:cNvPr>
          <p:cNvSpPr txBox="1"/>
          <p:nvPr/>
        </p:nvSpPr>
        <p:spPr>
          <a:xfrm>
            <a:off x="9283147" y="6510130"/>
            <a:ext cx="2908853" cy="338554"/>
          </a:xfrm>
          <a:prstGeom prst="rect">
            <a:avLst/>
          </a:prstGeom>
          <a:noFill/>
        </p:spPr>
        <p:txBody>
          <a:bodyPr wrap="square" rtlCol="0">
            <a:spAutoFit/>
          </a:bodyPr>
          <a:lstStyle/>
          <a:p>
            <a:r>
              <a:rPr lang="en-CM" sz="1600" b="1" i="1" dirty="0">
                <a:solidFill>
                  <a:schemeClr val="bg1"/>
                </a:solidFill>
              </a:rPr>
              <a:t>The University Of Bamenda </a:t>
            </a:r>
          </a:p>
        </p:txBody>
      </p:sp>
      <p:sp>
        <p:nvSpPr>
          <p:cNvPr id="2" name="Rectangle 1">
            <a:extLst>
              <a:ext uri="{FF2B5EF4-FFF2-40B4-BE49-F238E27FC236}">
                <a16:creationId xmlns:a16="http://schemas.microsoft.com/office/drawing/2014/main" id="{8B8A1048-BEE0-D22B-8AE4-DF0D0020A7C6}"/>
              </a:ext>
            </a:extLst>
          </p:cNvPr>
          <p:cNvSpPr/>
          <p:nvPr/>
        </p:nvSpPr>
        <p:spPr>
          <a:xfrm>
            <a:off x="4285251" y="2967335"/>
            <a:ext cx="362150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356141745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{B6B823CE-0BB7-8D43-9F28-A7B521E7BEFD}tf10001119</Template>
  <TotalTime>146372</TotalTime>
  <Words>829</Words>
  <Application>Microsoft Macintosh PowerPoint</Application>
  <PresentationFormat>Widescreen</PresentationFormat>
  <Paragraphs>118</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Century Gothic</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user9671</dc:creator>
  <cp:lastModifiedBy>PRO-SECURE LLC</cp:lastModifiedBy>
  <cp:revision>15</cp:revision>
  <dcterms:created xsi:type="dcterms:W3CDTF">2023-10-11T18:13:37Z</dcterms:created>
  <dcterms:modified xsi:type="dcterms:W3CDTF">2025-01-10T07:43:45Z</dcterms:modified>
</cp:coreProperties>
</file>